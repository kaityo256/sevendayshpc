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60" r:id="rId11"/>
    <p:sldId id="257" r:id="rId3"/>
    <p:sldId id="261" r:id="rId12"/>
    <p:sldId id="258" r:id="rId4"/>
    <p:sldId id="262" r:id="rId13"/>
    <p:sldId id="259" r:id="rId5"/>
    <p:sldId id="263" r:id="rId14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Grid="0" snapToObjects="1">
      <p:cViewPr varScale="1">
        <p:scale>
          <a:sx n="69" d="100"/>
          <a:sy n="69" d="100"/>
        </p:scale>
        <p:origin x="103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slide" Target="slides/slide7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4.xml"/><Relationship Id="rId13" Type="http://schemas.openxmlformats.org/officeDocument/2006/relationships/slide" Target="slides/slide6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2019/9/5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f"/><Relationship Id="rId3" Type="http://schemas.openxmlformats.org/officeDocument/2006/relationships/image" Target="../media/image4.tif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f"/><Relationship Id="rId3" Type="http://schemas.openxmlformats.org/officeDocument/2006/relationships/image" Target="../media/image4.tif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f"/><Relationship Id="rId3" Type="http://schemas.openxmlformats.org/officeDocument/2006/relationships/image" Target="../media/image4.tif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f"/><Relationship Id="rId3" Type="http://schemas.openxmlformats.org/officeDocument/2006/relationships/image" Target="../media/image4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19B024A-361D-7A48-B45A-C686F18B3373}"/>
              </a:ext>
            </a:extLst>
          </p:cNvPr>
          <p:cNvSpPr/>
          <p:nvPr/>
        </p:nvSpPr>
        <p:spPr>
          <a:xfrm>
            <a:off x="172720" y="325120"/>
            <a:ext cx="8879840" cy="457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22872C-5000-8F4D-ACEB-B34853919A56}"/>
              </a:ext>
            </a:extLst>
          </p:cNvPr>
          <p:cNvGrpSpPr/>
          <p:nvPr/>
        </p:nvGrpSpPr>
        <p:grpSpPr>
          <a:xfrm>
            <a:off x="609600" y="1127760"/>
            <a:ext cx="3738880" cy="3281680"/>
            <a:chOff x="802640" y="538480"/>
            <a:chExt cx="3738880" cy="32816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BDD1ABDC-C21D-7D46-994A-1AADC722A4B6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4EEFDB-0A07-8A40-82F2-8B551E44D5E6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1224024-A681-4140-8AB1-DEFB806C77E8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/>
                <a:t>プロセス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5B05438C-CD2D-1C46-A718-B9A09B716168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2E4E2F0-C26C-5A4D-B3C9-989634459DA6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F02A1299-E947-5C40-AD48-DE6F214428CD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7462198-F07D-B54E-B107-6F742409A5CE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メモリ</a:t>
              </a:r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A4F226BF-5C02-2F48-85DB-4D55D3BC2EFC}"/>
                </a:ext>
              </a:extLst>
            </p:cNvPr>
            <p:cNvCxnSpPr>
              <a:stCxn id="4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3D4046DB-3352-F84D-AF42-ABCBB51F11EC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5D3A5D73-F00B-9648-A6B9-BE10B823E95D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55973968-38A2-4447-9F52-0E7304E751D1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88BCE67-2FB4-7846-9899-8B5F0BE946B6}"/>
              </a:ext>
            </a:extLst>
          </p:cNvPr>
          <p:cNvGrpSpPr/>
          <p:nvPr/>
        </p:nvGrpSpPr>
        <p:grpSpPr>
          <a:xfrm>
            <a:off x="4795520" y="1127760"/>
            <a:ext cx="3738880" cy="3281680"/>
            <a:chOff x="802640" y="538480"/>
            <a:chExt cx="3738880" cy="3281680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DBA80B25-73FD-1649-B42A-1A40945944AC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4835A501-1A22-0344-A9A9-28FF2B8F0BBD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C95FFB1D-036D-0F41-9EA3-400E2283972F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/>
                <a:t>プロセス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48727B67-063F-9243-ADB6-CD8DB7003367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0E677A89-CC83-1F4B-9F3B-221931D4013A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D9048C0A-F44F-B64A-AC34-F94FAD139451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330FA818-5C9C-114B-A680-E9EC7CEDF796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メモリ</a:t>
              </a:r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A00E4D0-82DB-4643-91C1-5D572B862321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FA4F4795-0A53-124A-98A4-2DFA4D2F3A0A}"/>
                </a:ext>
              </a:extLst>
            </p:cNvPr>
            <p:cNvCxnSpPr>
              <a:stCxn id="23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6BAA0578-D656-394E-AD8C-D23C0F114548}"/>
                </a:ext>
              </a:extLst>
            </p:cNvPr>
            <p:cNvCxnSpPr>
              <a:stCxn id="24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64F325-A9E2-9049-9921-239E07261BB6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5E00358-5100-2241-9388-54364F76C123}"/>
              </a:ext>
            </a:extLst>
          </p:cNvPr>
          <p:cNvSpPr txBox="1"/>
          <p:nvPr/>
        </p:nvSpPr>
        <p:spPr>
          <a:xfrm>
            <a:off x="152400" y="375920"/>
            <a:ext cx="8879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/>
              <a:t>オペレーティング・システム</a:t>
            </a:r>
            <a:r>
              <a:rPr kumimoji="1" lang="en-US" altLang="ja-JP" sz="2400"/>
              <a:t> (OS)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19B024A-361D-7A48-B45A-C686F18B3373}"/>
              </a:ext>
            </a:extLst>
          </p:cNvPr>
          <p:cNvSpPr/>
          <p:nvPr/>
        </p:nvSpPr>
        <p:spPr>
          <a:xfrm>
            <a:off x="172720" y="325120"/>
            <a:ext cx="8879840" cy="457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22872C-5000-8F4D-ACEB-B34853919A56}"/>
              </a:ext>
            </a:extLst>
          </p:cNvPr>
          <p:cNvGrpSpPr/>
          <p:nvPr/>
        </p:nvGrpSpPr>
        <p:grpSpPr>
          <a:xfrm>
            <a:off x="609600" y="1127760"/>
            <a:ext cx="3738880" cy="3281680"/>
            <a:chOff x="802640" y="538480"/>
            <a:chExt cx="3738880" cy="32816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BDD1ABDC-C21D-7D46-994A-1AADC722A4B6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4EEFDB-0A07-8A40-82F2-8B551E44D5E6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1224024-A681-4140-8AB1-DEFB806C77E8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2600"/>
              </a:pPr>
              <a:r>
                <a:rPr kumimoji="1" lang="ja-JP" altLang="en-US" sz="2600"/>
                <a:t>Process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5B05438C-CD2D-1C46-A718-B9A09B716168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2E4E2F0-C26C-5A4D-B3C9-989634459DA6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F02A1299-E947-5C40-AD48-DE6F214428CD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7462198-F07D-B54E-B107-6F742409A5CE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Memory</a:t>
              </a:r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A4F226BF-5C02-2F48-85DB-4D55D3BC2EFC}"/>
                </a:ext>
              </a:extLst>
            </p:cNvPr>
            <p:cNvCxnSpPr>
              <a:stCxn id="4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3D4046DB-3352-F84D-AF42-ABCBB51F11EC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5D3A5D73-F00B-9648-A6B9-BE10B823E95D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55973968-38A2-4447-9F52-0E7304E751D1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88BCE67-2FB4-7846-9899-8B5F0BE946B6}"/>
              </a:ext>
            </a:extLst>
          </p:cNvPr>
          <p:cNvGrpSpPr/>
          <p:nvPr/>
        </p:nvGrpSpPr>
        <p:grpSpPr>
          <a:xfrm>
            <a:off x="4795520" y="1127760"/>
            <a:ext cx="3738880" cy="3281680"/>
            <a:chOff x="802640" y="538480"/>
            <a:chExt cx="3738880" cy="3281680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DBA80B25-73FD-1649-B42A-1A40945944AC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4835A501-1A22-0344-A9A9-28FF2B8F0BBD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C95FFB1D-036D-0F41-9EA3-400E2283972F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2600"/>
              </a:pPr>
              <a:r>
                <a:rPr kumimoji="1" lang="ja-JP" altLang="en-US" sz="2600"/>
                <a:t>Process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48727B67-063F-9243-ADB6-CD8DB7003367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0E677A89-CC83-1F4B-9F3B-221931D4013A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D9048C0A-F44F-B64A-AC34-F94FAD139451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330FA818-5C9C-114B-A680-E9EC7CEDF796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Memory</a:t>
              </a:r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A00E4D0-82DB-4643-91C1-5D572B862321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FA4F4795-0A53-124A-98A4-2DFA4D2F3A0A}"/>
                </a:ext>
              </a:extLst>
            </p:cNvPr>
            <p:cNvCxnSpPr>
              <a:stCxn id="23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6BAA0578-D656-394E-AD8C-D23C0F114548}"/>
                </a:ext>
              </a:extLst>
            </p:cNvPr>
            <p:cNvCxnSpPr>
              <a:stCxn id="24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64F325-A9E2-9049-9921-239E07261BB6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5E00358-5100-2241-9388-54364F76C123}"/>
              </a:ext>
            </a:extLst>
          </p:cNvPr>
          <p:cNvSpPr txBox="1"/>
          <p:nvPr/>
        </p:nvSpPr>
        <p:spPr>
          <a:xfrm>
            <a:off x="152400" y="375920"/>
            <a:ext cx="8879840" cy="461665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>
              <a:defRPr sz="2300"/>
            </a:pPr>
            <a:r>
              <a:rPr kumimoji="1" lang="ja-JP" altLang="en-US" sz="2300"/>
              <a:t>Operating system (OS)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EE8C4B8-9868-054A-9A8A-207681878AC6}"/>
              </a:ext>
            </a:extLst>
          </p:cNvPr>
          <p:cNvGrpSpPr/>
          <p:nvPr/>
        </p:nvGrpSpPr>
        <p:grpSpPr>
          <a:xfrm>
            <a:off x="497840" y="629920"/>
            <a:ext cx="3627842" cy="3535680"/>
            <a:chOff x="152400" y="325120"/>
            <a:chExt cx="4399280" cy="4287520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F28E56B-46F7-894F-8C58-467006BB23CB}"/>
                </a:ext>
              </a:extLst>
            </p:cNvPr>
            <p:cNvSpPr/>
            <p:nvPr/>
          </p:nvSpPr>
          <p:spPr>
            <a:xfrm>
              <a:off x="172720" y="325120"/>
              <a:ext cx="4378960" cy="42875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9E00260-194B-5242-A410-A730F5BB1C27}"/>
                </a:ext>
              </a:extLst>
            </p:cNvPr>
            <p:cNvGrpSpPr/>
            <p:nvPr/>
          </p:nvGrpSpPr>
          <p:grpSpPr>
            <a:xfrm>
              <a:off x="609600" y="1127760"/>
              <a:ext cx="3738880" cy="3281680"/>
              <a:chOff x="802640" y="538480"/>
              <a:chExt cx="3738880" cy="3281680"/>
            </a:xfrm>
          </p:grpSpPr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E068502C-7BB1-874B-97CC-6832231A681E}"/>
                  </a:ext>
                </a:extLst>
              </p:cNvPr>
              <p:cNvSpPr/>
              <p:nvPr/>
            </p:nvSpPr>
            <p:spPr>
              <a:xfrm>
                <a:off x="802640" y="548640"/>
                <a:ext cx="3738880" cy="32715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320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角丸四角形 3">
                <a:extLst>
                  <a:ext uri="{FF2B5EF4-FFF2-40B4-BE49-F238E27FC236}">
                    <a16:creationId xmlns:a16="http://schemas.microsoft.com/office/drawing/2014/main" id="{3F355A3C-F8D1-2947-89D3-EB88CF82A7F3}"/>
                  </a:ext>
                </a:extLst>
              </p:cNvPr>
              <p:cNvSpPr/>
              <p:nvPr/>
            </p:nvSpPr>
            <p:spPr>
              <a:xfrm>
                <a:off x="2611120" y="11480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FC74CAE7-82B7-E749-A2C4-25FB75978E62}"/>
                  </a:ext>
                </a:extLst>
              </p:cNvPr>
              <p:cNvSpPr txBox="1"/>
              <p:nvPr/>
            </p:nvSpPr>
            <p:spPr>
              <a:xfrm>
                <a:off x="812800" y="538480"/>
                <a:ext cx="3718560" cy="559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/>
                  <a:t>プロセス</a:t>
                </a:r>
              </a:p>
            </p:txBody>
          </p:sp>
          <p:sp>
            <p:nvSpPr>
              <p:cNvPr id="6" name="角丸四角形 5">
                <a:extLst>
                  <a:ext uri="{FF2B5EF4-FFF2-40B4-BE49-F238E27FC236}">
                    <a16:creationId xmlns:a16="http://schemas.microsoft.com/office/drawing/2014/main" id="{FB1D3261-FE03-A045-9428-5B752DA3BFE2}"/>
                  </a:ext>
                </a:extLst>
              </p:cNvPr>
              <p:cNvSpPr/>
              <p:nvPr/>
            </p:nvSpPr>
            <p:spPr>
              <a:xfrm>
                <a:off x="2611120" y="17576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7" name="角丸四角形 6">
                <a:extLst>
                  <a:ext uri="{FF2B5EF4-FFF2-40B4-BE49-F238E27FC236}">
                    <a16:creationId xmlns:a16="http://schemas.microsoft.com/office/drawing/2014/main" id="{CBC1103E-EF20-4B46-AA6C-B5C5176E2165}"/>
                  </a:ext>
                </a:extLst>
              </p:cNvPr>
              <p:cNvSpPr/>
              <p:nvPr/>
            </p:nvSpPr>
            <p:spPr>
              <a:xfrm>
                <a:off x="2600960" y="24079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0FB6D8BD-BC47-6341-BB2D-E1F1DBE342A7}"/>
                  </a:ext>
                </a:extLst>
              </p:cNvPr>
              <p:cNvSpPr/>
              <p:nvPr/>
            </p:nvSpPr>
            <p:spPr>
              <a:xfrm>
                <a:off x="2600960" y="30175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8221E3-C623-6847-BC0D-9D33B06EA2EA}"/>
                  </a:ext>
                </a:extLst>
              </p:cNvPr>
              <p:cNvSpPr/>
              <p:nvPr/>
            </p:nvSpPr>
            <p:spPr>
              <a:xfrm>
                <a:off x="914400" y="1422400"/>
                <a:ext cx="1209040" cy="171704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メモリ</a:t>
                </a:r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B5612549-49EF-1546-B145-697FEEE343CD}"/>
                  </a:ext>
                </a:extLst>
              </p:cNvPr>
              <p:cNvCxnSpPr>
                <a:stCxn id="4" idx="1"/>
              </p:cNvCxnSpPr>
              <p:nvPr/>
            </p:nvCxnSpPr>
            <p:spPr>
              <a:xfrm flipH="1">
                <a:off x="2123440" y="1412240"/>
                <a:ext cx="487680" cy="3454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矢印コネクタ 10">
                <a:extLst>
                  <a:ext uri="{FF2B5EF4-FFF2-40B4-BE49-F238E27FC236}">
                    <a16:creationId xmlns:a16="http://schemas.microsoft.com/office/drawing/2014/main" id="{71A96666-5166-2D43-90CD-53C7711EB536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>
                <a:off x="2123440" y="2021840"/>
                <a:ext cx="487680" cy="1016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a16:creationId xmlns:a16="http://schemas.microsoft.com/office/drawing/2014/main" id="{6C931A63-9819-4444-BDE1-7CEA60A45EFE}"/>
                  </a:ext>
                </a:extLst>
              </p:cNvPr>
              <p:cNvCxnSpPr>
                <a:stCxn id="7" idx="1"/>
              </p:cNvCxnSpPr>
              <p:nvPr/>
            </p:nvCxnSpPr>
            <p:spPr>
              <a:xfrm flipH="1" flipV="1">
                <a:off x="2113280" y="2560320"/>
                <a:ext cx="487680" cy="111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1682C217-9496-9048-ACFE-33B938197C91}"/>
                  </a:ext>
                </a:extLst>
              </p:cNvPr>
              <p:cNvCxnSpPr/>
              <p:nvPr/>
            </p:nvCxnSpPr>
            <p:spPr>
              <a:xfrm flipH="1" flipV="1">
                <a:off x="2153920" y="2936240"/>
                <a:ext cx="436880" cy="3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ABDFB2A-FFE3-C34F-8842-9E86A76AB72A}"/>
                </a:ext>
              </a:extLst>
            </p:cNvPr>
            <p:cNvSpPr txBox="1"/>
            <p:nvPr/>
          </p:nvSpPr>
          <p:spPr>
            <a:xfrm>
              <a:off x="152400" y="375920"/>
              <a:ext cx="4358639" cy="4851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839114-3F9D-2F41-A69D-B17642279861}"/>
              </a:ext>
            </a:extLst>
          </p:cNvPr>
          <p:cNvSpPr txBox="1"/>
          <p:nvPr/>
        </p:nvSpPr>
        <p:spPr>
          <a:xfrm>
            <a:off x="1300480" y="101600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スレッド並列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D7C7935E-7383-B445-95C0-511C2C88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4360544"/>
            <a:ext cx="584200" cy="569595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BF743EA6-FF9E-9B4E-A62A-10480E6AD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60" y="5384800"/>
            <a:ext cx="554892" cy="541020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88D5FBC-5E86-8049-875A-5DDA0F579E44}"/>
              </a:ext>
            </a:extLst>
          </p:cNvPr>
          <p:cNvSpPr txBox="1"/>
          <p:nvPr/>
        </p:nvSpPr>
        <p:spPr>
          <a:xfrm>
            <a:off x="1198880" y="4378960"/>
            <a:ext cx="27238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気軽に試すことができる</a:t>
            </a:r>
            <a:endParaRPr kumimoji="1" lang="en-US" altLang="ja-JP"/>
          </a:p>
          <a:p>
            <a:r>
              <a:rPr lang="ja-JP" altLang="en-US"/>
              <a:t>簡単にできる時は簡単</a:t>
            </a:r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80AD358-B4FF-8C41-A97A-A4C243CD6EAB}"/>
              </a:ext>
            </a:extLst>
          </p:cNvPr>
          <p:cNvSpPr txBox="1"/>
          <p:nvPr/>
        </p:nvSpPr>
        <p:spPr>
          <a:xfrm>
            <a:off x="1097280" y="5354320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solidFill>
                  <a:srgbClr val="FF0000"/>
                </a:solidFill>
              </a:rPr>
              <a:t>ノードをまたぐことができない</a:t>
            </a:r>
            <a:endParaRPr kumimoji="1" lang="en-US" altLang="ja-JP" b="1">
              <a:solidFill>
                <a:srgbClr val="FF0000"/>
              </a:solidFill>
            </a:endParaRPr>
          </a:p>
          <a:p>
            <a:r>
              <a:rPr kumimoji="1" lang="ja-JP" altLang="en-US"/>
              <a:t>性能を出すのは意外に大変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14389323-333F-4249-9372-E6355BC30F3F}"/>
              </a:ext>
            </a:extLst>
          </p:cNvPr>
          <p:cNvSpPr txBox="1"/>
          <p:nvPr/>
        </p:nvSpPr>
        <p:spPr>
          <a:xfrm>
            <a:off x="6136640" y="81280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プロセス並列</a:t>
            </a:r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422E7C5D-4C23-014E-AD9D-AF26F105F2E5}"/>
              </a:ext>
            </a:extLst>
          </p:cNvPr>
          <p:cNvGrpSpPr/>
          <p:nvPr/>
        </p:nvGrpSpPr>
        <p:grpSpPr>
          <a:xfrm>
            <a:off x="4822437" y="619760"/>
            <a:ext cx="1984763" cy="3556000"/>
            <a:chOff x="4822437" y="619760"/>
            <a:chExt cx="1984763" cy="3556000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80C1AF87-D94B-3741-86E7-7670B0E6F18C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9391D23-6F20-5442-BFE5-65EE69623A80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93F86033-95B5-BE41-A09F-EF9007A8B5EF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EF2359AD-C93F-C64E-8996-8189D6D9D908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52" name="上下矢印 51">
              <a:extLst>
                <a:ext uri="{FF2B5EF4-FFF2-40B4-BE49-F238E27FC236}">
                  <a16:creationId xmlns:a16="http://schemas.microsoft.com/office/drawing/2014/main" id="{8FF997E0-65F8-B447-AB4B-C661572BC61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5468A919-4BC9-5E4F-8E54-FED383B3028B}"/>
              </a:ext>
            </a:extLst>
          </p:cNvPr>
          <p:cNvGrpSpPr/>
          <p:nvPr/>
        </p:nvGrpSpPr>
        <p:grpSpPr>
          <a:xfrm>
            <a:off x="7606277" y="640080"/>
            <a:ext cx="1984763" cy="3556000"/>
            <a:chOff x="4822437" y="619760"/>
            <a:chExt cx="1984763" cy="3556000"/>
          </a:xfrm>
        </p:grpSpPr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DB52FB18-8F7C-7E43-8086-B7F331643495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424E1CC-DFB6-984C-B527-EF157F38292F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184777AF-D532-3F42-B2D0-7FE42771BF0C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20B97EE5-C136-3745-820E-049A4448BE0A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60" name="上下矢印 59">
              <a:extLst>
                <a:ext uri="{FF2B5EF4-FFF2-40B4-BE49-F238E27FC236}">
                  <a16:creationId xmlns:a16="http://schemas.microsoft.com/office/drawing/2014/main" id="{FD59A557-FDE1-7F4A-AA4C-2DBBB79E47E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1" name="上下矢印 60">
            <a:extLst>
              <a:ext uri="{FF2B5EF4-FFF2-40B4-BE49-F238E27FC236}">
                <a16:creationId xmlns:a16="http://schemas.microsoft.com/office/drawing/2014/main" id="{43CAB16A-EFCD-C547-9E63-C813969FB8E4}"/>
              </a:ext>
            </a:extLst>
          </p:cNvPr>
          <p:cNvSpPr/>
          <p:nvPr/>
        </p:nvSpPr>
        <p:spPr>
          <a:xfrm rot="5400000">
            <a:off x="7040880" y="159512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上下矢印 61">
            <a:extLst>
              <a:ext uri="{FF2B5EF4-FFF2-40B4-BE49-F238E27FC236}">
                <a16:creationId xmlns:a16="http://schemas.microsoft.com/office/drawing/2014/main" id="{5EB2BD24-C5A1-0C4C-B7EE-760F5A1F05FB}"/>
              </a:ext>
            </a:extLst>
          </p:cNvPr>
          <p:cNvSpPr/>
          <p:nvPr/>
        </p:nvSpPr>
        <p:spPr>
          <a:xfrm rot="5400000">
            <a:off x="7030720" y="285496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3198895-B055-F64D-AFA4-D017CFE1DDA9}"/>
              </a:ext>
            </a:extLst>
          </p:cNvPr>
          <p:cNvSpPr txBox="1"/>
          <p:nvPr/>
        </p:nvSpPr>
        <p:spPr>
          <a:xfrm>
            <a:off x="5913120" y="237744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CFDC4B11-35AC-504B-A3AE-6357F65589A8}"/>
              </a:ext>
            </a:extLst>
          </p:cNvPr>
          <p:cNvSpPr txBox="1"/>
          <p:nvPr/>
        </p:nvSpPr>
        <p:spPr>
          <a:xfrm>
            <a:off x="8788400" y="240792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5F484C2D-C7E6-124E-9CDE-F865081091BC}"/>
              </a:ext>
            </a:extLst>
          </p:cNvPr>
          <p:cNvSpPr txBox="1"/>
          <p:nvPr/>
        </p:nvSpPr>
        <p:spPr>
          <a:xfrm>
            <a:off x="6878320" y="136144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AA592A2A-A288-9045-BDCA-0B08A956B73C}"/>
              </a:ext>
            </a:extLst>
          </p:cNvPr>
          <p:cNvSpPr txBox="1"/>
          <p:nvPr/>
        </p:nvSpPr>
        <p:spPr>
          <a:xfrm>
            <a:off x="6898640" y="261112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558E4129-C645-7D4D-B39B-EABB813B1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760" y="4319904"/>
            <a:ext cx="584200" cy="569595"/>
          </a:xfrm>
          <a:prstGeom prst="rect">
            <a:avLst/>
          </a:prstGeom>
        </p:spPr>
      </p:pic>
      <p:pic>
        <p:nvPicPr>
          <p:cNvPr id="68" name="図 67">
            <a:extLst>
              <a:ext uri="{FF2B5EF4-FFF2-40B4-BE49-F238E27FC236}">
                <a16:creationId xmlns:a16="http://schemas.microsoft.com/office/drawing/2014/main" id="{4D5E76E2-7424-C749-8D98-1DA59BDC2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5344160"/>
            <a:ext cx="554892" cy="541020"/>
          </a:xfrm>
          <a:prstGeom prst="rect">
            <a:avLst/>
          </a:prstGeom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279DDBE8-16CE-1C46-A37A-197F87F96329}"/>
              </a:ext>
            </a:extLst>
          </p:cNvPr>
          <p:cNvSpPr txBox="1"/>
          <p:nvPr/>
        </p:nvSpPr>
        <p:spPr>
          <a:xfrm>
            <a:off x="5628640" y="430784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solidFill>
                  <a:srgbClr val="FF0000"/>
                </a:solidFill>
              </a:rPr>
              <a:t>ノードをまたぐことができる</a:t>
            </a:r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35EDFEB0-9D0E-1C4D-B66E-ED72450A8F28}"/>
              </a:ext>
            </a:extLst>
          </p:cNvPr>
          <p:cNvSpPr/>
          <p:nvPr/>
        </p:nvSpPr>
        <p:spPr>
          <a:xfrm>
            <a:off x="5660072" y="4636254"/>
            <a:ext cx="29546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/>
              <a:t>書いた通りに並列化される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D7B1A7AD-79FB-EA43-8B54-5EAE186E8885}"/>
              </a:ext>
            </a:extLst>
          </p:cNvPr>
          <p:cNvSpPr/>
          <p:nvPr/>
        </p:nvSpPr>
        <p:spPr>
          <a:xfrm>
            <a:off x="5609272" y="5438894"/>
            <a:ext cx="41088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/>
              <a:t>明示的に通信を書かなければならない</a:t>
            </a:r>
          </a:p>
        </p:txBody>
      </p:sp>
    </p:spTree>
    <p:extLst>
      <p:ext uri="{BB962C8B-B14F-4D97-AF65-F5344CB8AC3E}">
        <p14:creationId xmlns:p14="http://schemas.microsoft.com/office/powerpoint/2010/main" val="2823907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EE8C4B8-9868-054A-9A8A-207681878AC6}"/>
              </a:ext>
            </a:extLst>
          </p:cNvPr>
          <p:cNvGrpSpPr/>
          <p:nvPr/>
        </p:nvGrpSpPr>
        <p:grpSpPr>
          <a:xfrm>
            <a:off x="497840" y="629920"/>
            <a:ext cx="3627842" cy="3535680"/>
            <a:chOff x="152400" y="325120"/>
            <a:chExt cx="4399280" cy="4287520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F28E56B-46F7-894F-8C58-467006BB23CB}"/>
                </a:ext>
              </a:extLst>
            </p:cNvPr>
            <p:cNvSpPr/>
            <p:nvPr/>
          </p:nvSpPr>
          <p:spPr>
            <a:xfrm>
              <a:off x="172720" y="325120"/>
              <a:ext cx="4378960" cy="42875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9E00260-194B-5242-A410-A730F5BB1C27}"/>
                </a:ext>
              </a:extLst>
            </p:cNvPr>
            <p:cNvGrpSpPr/>
            <p:nvPr/>
          </p:nvGrpSpPr>
          <p:grpSpPr>
            <a:xfrm>
              <a:off x="609600" y="1127760"/>
              <a:ext cx="3738880" cy="3281680"/>
              <a:chOff x="802640" y="538480"/>
              <a:chExt cx="3738880" cy="3281680"/>
            </a:xfrm>
          </p:grpSpPr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E068502C-7BB1-874B-97CC-6832231A681E}"/>
                  </a:ext>
                </a:extLst>
              </p:cNvPr>
              <p:cNvSpPr/>
              <p:nvPr/>
            </p:nvSpPr>
            <p:spPr>
              <a:xfrm>
                <a:off x="802640" y="548640"/>
                <a:ext cx="3738880" cy="32715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320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角丸四角形 3">
                <a:extLst>
                  <a:ext uri="{FF2B5EF4-FFF2-40B4-BE49-F238E27FC236}">
                    <a16:creationId xmlns:a16="http://schemas.microsoft.com/office/drawing/2014/main" id="{3F355A3C-F8D1-2947-89D3-EB88CF82A7F3}"/>
                  </a:ext>
                </a:extLst>
              </p:cNvPr>
              <p:cNvSpPr/>
              <p:nvPr/>
            </p:nvSpPr>
            <p:spPr>
              <a:xfrm>
                <a:off x="2611120" y="11480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FC74CAE7-82B7-E749-A2C4-25FB75978E62}"/>
                  </a:ext>
                </a:extLst>
              </p:cNvPr>
              <p:cNvSpPr txBox="1"/>
              <p:nvPr/>
            </p:nvSpPr>
            <p:spPr>
              <a:xfrm>
                <a:off x="812800" y="538480"/>
                <a:ext cx="3718560" cy="559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kumimoji="1" lang="ja-JP" altLang="en-US" sz="2400"/>
                  <a:t>Process</a:t>
                </a:r>
              </a:p>
            </p:txBody>
          </p:sp>
          <p:sp>
            <p:nvSpPr>
              <p:cNvPr id="6" name="角丸四角形 5">
                <a:extLst>
                  <a:ext uri="{FF2B5EF4-FFF2-40B4-BE49-F238E27FC236}">
                    <a16:creationId xmlns:a16="http://schemas.microsoft.com/office/drawing/2014/main" id="{FB1D3261-FE03-A045-9428-5B752DA3BFE2}"/>
                  </a:ext>
                </a:extLst>
              </p:cNvPr>
              <p:cNvSpPr/>
              <p:nvPr/>
            </p:nvSpPr>
            <p:spPr>
              <a:xfrm>
                <a:off x="2611120" y="17576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7" name="角丸四角形 6">
                <a:extLst>
                  <a:ext uri="{FF2B5EF4-FFF2-40B4-BE49-F238E27FC236}">
                    <a16:creationId xmlns:a16="http://schemas.microsoft.com/office/drawing/2014/main" id="{CBC1103E-EF20-4B46-AA6C-B5C5176E2165}"/>
                  </a:ext>
                </a:extLst>
              </p:cNvPr>
              <p:cNvSpPr/>
              <p:nvPr/>
            </p:nvSpPr>
            <p:spPr>
              <a:xfrm>
                <a:off x="2600960" y="24079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0FB6D8BD-BC47-6341-BB2D-E1F1DBE342A7}"/>
                  </a:ext>
                </a:extLst>
              </p:cNvPr>
              <p:cNvSpPr/>
              <p:nvPr/>
            </p:nvSpPr>
            <p:spPr>
              <a:xfrm>
                <a:off x="2600960" y="30175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8221E3-C623-6847-BC0D-9D33B06EA2EA}"/>
                  </a:ext>
                </a:extLst>
              </p:cNvPr>
              <p:cNvSpPr/>
              <p:nvPr/>
            </p:nvSpPr>
            <p:spPr>
              <a:xfrm>
                <a:off x="914400" y="1422400"/>
                <a:ext cx="1209040" cy="171704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Memory</a:t>
                </a:r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B5612549-49EF-1546-B145-697FEEE343CD}"/>
                  </a:ext>
                </a:extLst>
              </p:cNvPr>
              <p:cNvCxnSpPr>
                <a:stCxn id="4" idx="1"/>
              </p:cNvCxnSpPr>
              <p:nvPr/>
            </p:nvCxnSpPr>
            <p:spPr>
              <a:xfrm flipH="1">
                <a:off x="2123440" y="1412240"/>
                <a:ext cx="487680" cy="3454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矢印コネクタ 10">
                <a:extLst>
                  <a:ext uri="{FF2B5EF4-FFF2-40B4-BE49-F238E27FC236}">
                    <a16:creationId xmlns:a16="http://schemas.microsoft.com/office/drawing/2014/main" id="{71A96666-5166-2D43-90CD-53C7711EB536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>
                <a:off x="2123440" y="2021840"/>
                <a:ext cx="487680" cy="1016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a16:creationId xmlns:a16="http://schemas.microsoft.com/office/drawing/2014/main" id="{6C931A63-9819-4444-BDE1-7CEA60A45EFE}"/>
                  </a:ext>
                </a:extLst>
              </p:cNvPr>
              <p:cNvCxnSpPr>
                <a:stCxn id="7" idx="1"/>
              </p:cNvCxnSpPr>
              <p:nvPr/>
            </p:nvCxnSpPr>
            <p:spPr>
              <a:xfrm flipH="1" flipV="1">
                <a:off x="2113280" y="2560320"/>
                <a:ext cx="487680" cy="111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1682C217-9496-9048-ACFE-33B938197C91}"/>
                  </a:ext>
                </a:extLst>
              </p:cNvPr>
              <p:cNvCxnSpPr/>
              <p:nvPr/>
            </p:nvCxnSpPr>
            <p:spPr>
              <a:xfrm flipH="1" flipV="1">
                <a:off x="2153920" y="2936240"/>
                <a:ext cx="436880" cy="3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ABDFB2A-FFE3-C34F-8842-9E86A76AB72A}"/>
                </a:ext>
              </a:extLst>
            </p:cNvPr>
            <p:cNvSpPr txBox="1"/>
            <p:nvPr/>
          </p:nvSpPr>
          <p:spPr>
            <a:xfrm>
              <a:off x="152400" y="375920"/>
              <a:ext cx="4358639" cy="4851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839114-3F9D-2F41-A69D-B17642279861}"/>
              </a:ext>
            </a:extLst>
          </p:cNvPr>
          <p:cNvSpPr txBox="1"/>
          <p:nvPr/>
        </p:nvSpPr>
        <p:spPr>
          <a:xfrm>
            <a:off x="1300480" y="101600"/>
            <a:ext cx="2031325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400"/>
              <a:t>Thread parallelism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D7C7935E-7383-B445-95C0-511C2C88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4360544"/>
            <a:ext cx="584200" cy="569595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BF743EA6-FF9E-9B4E-A62A-10480E6AD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60" y="5384800"/>
            <a:ext cx="554892" cy="541020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88D5FBC-5E86-8049-875A-5DDA0F579E44}"/>
              </a:ext>
            </a:extLst>
          </p:cNvPr>
          <p:cNvSpPr txBox="1"/>
          <p:nvPr/>
        </p:nvSpPr>
        <p:spPr>
          <a:xfrm>
            <a:off x="1198880" y="4378960"/>
            <a:ext cx="2723823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ja-JP" altLang="en-US" sz="1600"/>
              <a:t>Easy to try casually</a:t>
            </a:r>
            <a:endParaRPr kumimoji="1" lang="en-US" altLang="ja-JP"/>
          </a:p>
          <a:p>
            <a:pPr>
              <a:defRPr sz="1600"/>
            </a:pPr>
            <a:r>
              <a:rPr kumimoji="1" lang="ja-JP" altLang="en-US" sz="1600"/>
              <a:t>Simple when it is simple</a:t>
            </a:r>
            <a:endParaRPr kumimoji="1" lang="en-US" altLang="ja-JP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80AD358-B4FF-8C41-A97A-A4C243CD6EAB}"/>
              </a:ext>
            </a:extLst>
          </p:cNvPr>
          <p:cNvSpPr txBox="1"/>
          <p:nvPr/>
        </p:nvSpPr>
        <p:spPr>
          <a:xfrm>
            <a:off x="1097280" y="5354320"/>
            <a:ext cx="3416320" cy="646331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b="1">
                <a:solidFill>
                  <a:srgbClr val="FF0000"/>
                </a:solidFill>
              </a:rPr>
              <a:t>Cannot span multiple nodes</a:t>
            </a:r>
            <a:endParaRPr kumimoji="1" lang="en-US" altLang="ja-JP" b="1">
              <a:solidFill>
                <a:srgbClr val="FF0000"/>
              </a:solidFill>
            </a:endParaRPr>
          </a:p>
          <a:p>
            <a:pPr>
              <a:defRPr/>
            </a:pPr>
            <a:r>
              <a:rPr kumimoji="1" lang="ja-JP" altLang="en-US" b="1">
                <a:solidFill>
                  <a:srgbClr val="FF0000"/>
                </a:solidFill>
              </a:rPr>
              <a:t>Getting performance is surprisingly hard</a:t>
            </a:r>
            <a:endParaRPr kumimoji="1" lang="en-US" altLang="ja-JP" b="1">
              <a:solidFill>
                <a:srgbClr val="FF0000"/>
              </a:solidFill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14389323-333F-4249-9372-E6355BC30F3F}"/>
              </a:ext>
            </a:extLst>
          </p:cNvPr>
          <p:cNvSpPr txBox="1"/>
          <p:nvPr/>
        </p:nvSpPr>
        <p:spPr>
          <a:xfrm>
            <a:off x="6136640" y="81280"/>
            <a:ext cx="2031325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400"/>
              <a:t>Process parallelism</a:t>
            </a:r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422E7C5D-4C23-014E-AD9D-AF26F105F2E5}"/>
              </a:ext>
            </a:extLst>
          </p:cNvPr>
          <p:cNvGrpSpPr/>
          <p:nvPr/>
        </p:nvGrpSpPr>
        <p:grpSpPr>
          <a:xfrm>
            <a:off x="4822437" y="619760"/>
            <a:ext cx="1984763" cy="3556000"/>
            <a:chOff x="4822437" y="619760"/>
            <a:chExt cx="1984763" cy="3556000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80C1AF87-D94B-3741-86E7-7670B0E6F18C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9391D23-6F20-5442-BFE5-65EE69623A80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1950"/>
              </a:pPr>
              <a:r>
                <a:rPr kumimoji="1" lang="en-US" altLang="ja-JP" sz="1950"/>
                <a:t>OS</a:t>
              </a:r>
              <a:endParaRPr kumimoji="1" lang="ja-JP" altLang="en-US" sz="20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93F86033-95B5-BE41-A09F-EF9007A8B5EF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EF2359AD-C93F-C64E-8996-8189D6D9D908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52" name="上下矢印 51">
              <a:extLst>
                <a:ext uri="{FF2B5EF4-FFF2-40B4-BE49-F238E27FC236}">
                  <a16:creationId xmlns:a16="http://schemas.microsoft.com/office/drawing/2014/main" id="{8FF997E0-65F8-B447-AB4B-C661572BC61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5468A919-4BC9-5E4F-8E54-FED383B3028B}"/>
              </a:ext>
            </a:extLst>
          </p:cNvPr>
          <p:cNvGrpSpPr/>
          <p:nvPr/>
        </p:nvGrpSpPr>
        <p:grpSpPr>
          <a:xfrm>
            <a:off x="7606277" y="640080"/>
            <a:ext cx="1984763" cy="3556000"/>
            <a:chOff x="4822437" y="619760"/>
            <a:chExt cx="1984763" cy="3556000"/>
          </a:xfrm>
        </p:grpSpPr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DB52FB18-8F7C-7E43-8086-B7F331643495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424E1CC-DFB6-984C-B527-EF157F38292F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1950"/>
              </a:pPr>
              <a:r>
                <a:rPr kumimoji="1" lang="en-US" altLang="ja-JP" sz="1950"/>
                <a:t>OS</a:t>
              </a:r>
              <a:endParaRPr kumimoji="1" lang="ja-JP" altLang="en-US" sz="2000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184777AF-D532-3F42-B2D0-7FE42771BF0C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20B97EE5-C136-3745-820E-049A4448BE0A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60" name="上下矢印 59">
              <a:extLst>
                <a:ext uri="{FF2B5EF4-FFF2-40B4-BE49-F238E27FC236}">
                  <a16:creationId xmlns:a16="http://schemas.microsoft.com/office/drawing/2014/main" id="{FD59A557-FDE1-7F4A-AA4C-2DBBB79E47E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1" name="上下矢印 60">
            <a:extLst>
              <a:ext uri="{FF2B5EF4-FFF2-40B4-BE49-F238E27FC236}">
                <a16:creationId xmlns:a16="http://schemas.microsoft.com/office/drawing/2014/main" id="{43CAB16A-EFCD-C547-9E63-C813969FB8E4}"/>
              </a:ext>
            </a:extLst>
          </p:cNvPr>
          <p:cNvSpPr/>
          <p:nvPr/>
        </p:nvSpPr>
        <p:spPr>
          <a:xfrm rot="5400000">
            <a:off x="7040880" y="159512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上下矢印 61">
            <a:extLst>
              <a:ext uri="{FF2B5EF4-FFF2-40B4-BE49-F238E27FC236}">
                <a16:creationId xmlns:a16="http://schemas.microsoft.com/office/drawing/2014/main" id="{5EB2BD24-C5A1-0C4C-B7EE-760F5A1F05FB}"/>
              </a:ext>
            </a:extLst>
          </p:cNvPr>
          <p:cNvSpPr/>
          <p:nvPr/>
        </p:nvSpPr>
        <p:spPr>
          <a:xfrm rot="5400000">
            <a:off x="7030720" y="285496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3198895-B055-F64D-AFA4-D017CFE1DDA9}"/>
              </a:ext>
            </a:extLst>
          </p:cNvPr>
          <p:cNvSpPr txBox="1"/>
          <p:nvPr/>
        </p:nvSpPr>
        <p:spPr>
          <a:xfrm>
            <a:off x="5913120" y="2377440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Communication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CFDC4B11-35AC-504B-A3AE-6357F65589A8}"/>
              </a:ext>
            </a:extLst>
          </p:cNvPr>
          <p:cNvSpPr txBox="1"/>
          <p:nvPr/>
        </p:nvSpPr>
        <p:spPr>
          <a:xfrm>
            <a:off x="8788400" y="2407920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Communication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5F484C2D-C7E6-124E-9CDE-F865081091BC}"/>
              </a:ext>
            </a:extLst>
          </p:cNvPr>
          <p:cNvSpPr txBox="1"/>
          <p:nvPr/>
        </p:nvSpPr>
        <p:spPr>
          <a:xfrm>
            <a:off x="6878320" y="1361440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Communication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AA592A2A-A288-9045-BDCA-0B08A956B73C}"/>
              </a:ext>
            </a:extLst>
          </p:cNvPr>
          <p:cNvSpPr txBox="1"/>
          <p:nvPr/>
        </p:nvSpPr>
        <p:spPr>
          <a:xfrm>
            <a:off x="6898640" y="2611120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Communication</a:t>
            </a:r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558E4129-C645-7D4D-B39B-EABB813B1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760" y="4319904"/>
            <a:ext cx="584200" cy="569595"/>
          </a:xfrm>
          <a:prstGeom prst="rect">
            <a:avLst/>
          </a:prstGeom>
        </p:spPr>
      </p:pic>
      <p:pic>
        <p:nvPicPr>
          <p:cNvPr id="68" name="図 67">
            <a:extLst>
              <a:ext uri="{FF2B5EF4-FFF2-40B4-BE49-F238E27FC236}">
                <a16:creationId xmlns:a16="http://schemas.microsoft.com/office/drawing/2014/main" id="{4D5E76E2-7424-C749-8D98-1DA59BDC2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5344160"/>
            <a:ext cx="554892" cy="541020"/>
          </a:xfrm>
          <a:prstGeom prst="rect">
            <a:avLst/>
          </a:prstGeom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279DDBE8-16CE-1C46-A37A-197F87F96329}"/>
              </a:ext>
            </a:extLst>
          </p:cNvPr>
          <p:cNvSpPr txBox="1"/>
          <p:nvPr/>
        </p:nvSpPr>
        <p:spPr>
          <a:xfrm>
            <a:off x="5628640" y="430784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b="1">
                <a:solidFill>
                  <a:srgbClr val="FF0000"/>
                </a:solidFill>
              </a:rPr>
              <a:t>Can span multiple nodes</a:t>
            </a:r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35EDFEB0-9D0E-1C4D-B66E-ED72450A8F28}"/>
              </a:ext>
            </a:extLst>
          </p:cNvPr>
          <p:cNvSpPr/>
          <p:nvPr/>
        </p:nvSpPr>
        <p:spPr>
          <a:xfrm>
            <a:off x="5660072" y="4636254"/>
            <a:ext cx="2954655" cy="369332"/>
          </a:xfrm>
          <a:prstGeom prst="rect">
            <a:avLst/>
          </a:prstGeom>
        </p:spPr>
        <p:txBody>
          <a:bodyPr wrap="square"/>
          <a:lstStyle/>
          <a:p>
            <a:pPr>
              <a:defRPr sz="1350"/>
            </a:pPr>
            <a:r>
              <a:rPr lang="ja-JP" altLang="en-US" sz="1350"/>
              <a:t>Parallelized exactly as written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D7B1A7AD-79FB-EA43-8B54-5EAE186E8885}"/>
              </a:ext>
            </a:extLst>
          </p:cNvPr>
          <p:cNvSpPr/>
          <p:nvPr/>
        </p:nvSpPr>
        <p:spPr>
          <a:xfrm>
            <a:off x="5609272" y="5438894"/>
            <a:ext cx="4108817" cy="369332"/>
          </a:xfrm>
          <a:prstGeom prst="rect">
            <a:avLst/>
          </a:prstGeom>
        </p:spPr>
        <p:txBody>
          <a:bodyPr wrap="square"/>
          <a:lstStyle/>
          <a:p>
            <a:pPr>
              <a:defRPr sz="1450"/>
            </a:pPr>
            <a:r>
              <a:rPr lang="ja-JP" altLang="en-US" sz="1450"/>
              <a:t>Communication must be written explicitly</a:t>
            </a:r>
          </a:p>
        </p:txBody>
      </p:sp>
    </p:spTree>
    <p:extLst>
      <p:ext uri="{BB962C8B-B14F-4D97-AF65-F5344CB8AC3E}">
        <p14:creationId xmlns:p14="http://schemas.microsoft.com/office/powerpoint/2010/main" val="2823907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40" y="2255520"/>
            <a:ext cx="1557223" cy="199644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20" y="1798320"/>
            <a:ext cx="2656840" cy="2656840"/>
          </a:xfrm>
          <a:prstGeom prst="rect">
            <a:avLst/>
          </a:prstGeom>
        </p:spPr>
      </p:pic>
      <p:sp>
        <p:nvSpPr>
          <p:cNvPr id="4" name="角丸四角形吹き出し 3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143760" y="1148080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346960" y="1239520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あそこで流れてるジョブ、</a:t>
            </a:r>
            <a:endParaRPr kumimoji="1" lang="en-US" altLang="ja-JP"/>
          </a:p>
          <a:p>
            <a:r>
              <a:rPr lang="ja-JP" altLang="en-US"/>
              <a:t>俺のなんすよ</a:t>
            </a:r>
            <a:r>
              <a:rPr lang="en-US" altLang="ja-JP"/>
              <a:t>www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612310-C3E5-9145-B279-69B89F96B852}"/>
              </a:ext>
            </a:extLst>
          </p:cNvPr>
          <p:cNvSpPr txBox="1"/>
          <p:nvPr/>
        </p:nvSpPr>
        <p:spPr>
          <a:xfrm>
            <a:off x="1981200" y="452120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スパコンが使えると楽しい</a:t>
            </a:r>
          </a:p>
        </p:txBody>
      </p:sp>
    </p:spTree>
    <p:extLst>
      <p:ext uri="{BB962C8B-B14F-4D97-AF65-F5344CB8AC3E}">
        <p14:creationId xmlns:p14="http://schemas.microsoft.com/office/powerpoint/2010/main" val="3383041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40" y="2255520"/>
            <a:ext cx="1557223" cy="199644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20" y="1798320"/>
            <a:ext cx="2656840" cy="2656840"/>
          </a:xfrm>
          <a:prstGeom prst="rect">
            <a:avLst/>
          </a:prstGeom>
        </p:spPr>
      </p:pic>
      <p:sp>
        <p:nvSpPr>
          <p:cNvPr id="4" name="角丸四角形吹き出し 3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143760" y="1148080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346960" y="1239520"/>
            <a:ext cx="2954655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ja-JP" altLang="en-US" sz="1500"/>
              <a:t>That job running over there?</a:t>
            </a:r>
            <a:endParaRPr kumimoji="1" lang="en-US" altLang="ja-JP"/>
          </a:p>
          <a:p>
            <a:pPr>
              <a:defRPr sz="1500"/>
            </a:pPr>
            <a:r>
              <a:rPr kumimoji="1" lang="ja-JP" altLang="en-US" sz="1500"/>
              <a:t>It's mine, haha.</a:t>
            </a:r>
            <a:endParaRPr kumimoji="1" lang="en-US" altLang="ja-JP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612310-C3E5-9145-B279-69B89F96B852}"/>
              </a:ext>
            </a:extLst>
          </p:cNvPr>
          <p:cNvSpPr txBox="1"/>
          <p:nvPr/>
        </p:nvSpPr>
        <p:spPr>
          <a:xfrm>
            <a:off x="1981200" y="4521200"/>
            <a:ext cx="3877985" cy="46166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950"/>
            </a:pPr>
            <a:r>
              <a:rPr kumimoji="1" lang="ja-JP" altLang="en-US" sz="1950"/>
              <a:t>Using a supercomputer is fun</a:t>
            </a:r>
          </a:p>
        </p:txBody>
      </p:sp>
    </p:spTree>
    <p:extLst>
      <p:ext uri="{BB962C8B-B14F-4D97-AF65-F5344CB8AC3E}">
        <p14:creationId xmlns:p14="http://schemas.microsoft.com/office/powerpoint/2010/main" val="3383041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952500"/>
            <a:ext cx="9906000" cy="495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142" y="3580015"/>
            <a:ext cx="1227623" cy="157387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514" y="2998124"/>
            <a:ext cx="2349159" cy="2349159"/>
          </a:xfrm>
          <a:prstGeom prst="rect">
            <a:avLst/>
          </a:prstGeom>
        </p:spPr>
      </p:pic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341067" y="2726575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544267" y="2818015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あそこで流れてるジョブ、</a:t>
            </a:r>
            <a:endParaRPr kumimoji="1" lang="en-US" altLang="ja-JP" dirty="0"/>
          </a:p>
          <a:p>
            <a:r>
              <a:rPr lang="ja-JP" altLang="en-US" dirty="0"/>
              <a:t>俺のなん</a:t>
            </a:r>
            <a:r>
              <a:rPr lang="ja-JP" altLang="en-US" dirty="0"/>
              <a:t>すよ</a:t>
            </a:r>
            <a:r>
              <a:rPr lang="en-US" altLang="ja-JP" dirty="0"/>
              <a:t>www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/>
        </p:nvSpPr>
        <p:spPr>
          <a:xfrm>
            <a:off x="1011899" y="1600184"/>
            <a:ext cx="80329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36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一週間でなれる！スパコンプログラマ</a:t>
            </a:r>
          </a:p>
        </p:txBody>
      </p:sp>
      <p:sp>
        <p:nvSpPr>
          <p:cNvPr id="10" name="正方形/長方形 9"/>
          <p:cNvSpPr/>
          <p:nvPr/>
        </p:nvSpPr>
        <p:spPr>
          <a:xfrm>
            <a:off x="2341067" y="2229351"/>
            <a:ext cx="552638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/>
              <a:t>https://kaityo256.github.io/sevendayshpc/</a:t>
            </a:r>
          </a:p>
        </p:txBody>
      </p:sp>
    </p:spTree>
    <p:extLst>
      <p:ext uri="{BB962C8B-B14F-4D97-AF65-F5344CB8AC3E}">
        <p14:creationId xmlns:p14="http://schemas.microsoft.com/office/powerpoint/2010/main" val="1028453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952500"/>
            <a:ext cx="9906000" cy="495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142" y="3580015"/>
            <a:ext cx="1227623" cy="157387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514" y="2998124"/>
            <a:ext cx="2349159" cy="2349159"/>
          </a:xfrm>
          <a:prstGeom prst="rect">
            <a:avLst/>
          </a:prstGeom>
        </p:spPr>
      </p:pic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341067" y="2726575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544267" y="2818015"/>
            <a:ext cx="2954655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ja-JP" altLang="en-US" dirty="0" sz="1500"/>
              <a:t>That job running over there?</a:t>
            </a:r>
            <a:endParaRPr kumimoji="1" lang="en-US" altLang="ja-JP" dirty="0"/>
          </a:p>
          <a:p>
            <a:pPr>
              <a:defRPr sz="1500"/>
            </a:pPr>
            <a:r>
              <a:rPr kumimoji="1" lang="ja-JP" altLang="en-US" dirty="0" sz="1500"/>
              <a:t>It's mine, haha.</a:t>
            </a:r>
            <a:endParaRPr kumimoji="1" lang="en-US" altLang="ja-JP" dirty="0"/>
          </a:p>
        </p:txBody>
      </p:sp>
      <p:sp>
        <p:nvSpPr>
          <p:cNvPr id="8" name="正方形/長方形 7"/>
          <p:cNvSpPr/>
          <p:nvPr/>
        </p:nvSpPr>
        <p:spPr>
          <a:xfrm>
            <a:off x="1011899" y="1600184"/>
            <a:ext cx="8032968" cy="646331"/>
          </a:xfrm>
          <a:prstGeom prst="rect">
            <a:avLst/>
          </a:prstGeom>
        </p:spPr>
        <p:txBody>
          <a:bodyPr wrap="square"/>
          <a:lstStyle/>
          <a:p>
            <a:pPr>
              <a:defRPr sz="3000"/>
            </a:pPr>
            <a:r>
              <a:rPr lang="ja-JP" altLang="en-US" sz="30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Become an HPC Programmer in Seven Days!</a:t>
            </a:r>
          </a:p>
        </p:txBody>
      </p:sp>
      <p:sp>
        <p:nvSpPr>
          <p:cNvPr id="10" name="正方形/長方形 9"/>
          <p:cNvSpPr/>
          <p:nvPr/>
        </p:nvSpPr>
        <p:spPr>
          <a:xfrm>
            <a:off x="2341067" y="2229351"/>
            <a:ext cx="5526385" cy="461665"/>
          </a:xfrm>
          <a:prstGeom prst="rect">
            <a:avLst/>
          </a:prstGeom>
        </p:spPr>
        <p:txBody>
          <a:bodyPr wrap="square"/>
          <a:lstStyle/>
          <a:p>
            <a:pPr>
              <a:defRPr sz="1950"/>
            </a:pPr>
            <a:r>
              <a:rPr lang="ja-JP" altLang="en-US" sz="1950" dirty="0"/>
              <a:t>https://kaityo256.github.io/sevendayshpc/</a:t>
            </a:r>
          </a:p>
        </p:txBody>
      </p:sp>
    </p:spTree>
    <p:extLst>
      <p:ext uri="{BB962C8B-B14F-4D97-AF65-F5344CB8AC3E}">
        <p14:creationId xmlns:p14="http://schemas.microsoft.com/office/powerpoint/2010/main" val="1028453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</TotalTime>
  <Words>124</Words>
  <Application>Microsoft Office PowerPoint</Application>
  <PresentationFormat>A4 210 x 297 mm</PresentationFormat>
  <Paragraphs>46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UD デジタル 教科書体 N-B</vt:lpstr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watanabe</cp:lastModifiedBy>
  <cp:revision>27</cp:revision>
  <dcterms:created xsi:type="dcterms:W3CDTF">2018-10-07T01:32:06Z</dcterms:created>
  <dcterms:modified xsi:type="dcterms:W3CDTF">2019-09-05T11:24:47Z</dcterms:modified>
</cp:coreProperties>
</file>