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9" r:id="rId3"/>
    <p:sldId id="257" r:id="rId4"/>
    <p:sldId id="260" r:id="rId5"/>
    <p:sldId id="263" r:id="rId6"/>
    <p:sldId id="262" r:id="rId7"/>
    <p:sldId id="265" r:id="rId8"/>
    <p:sldId id="264" r:id="rId9"/>
    <p:sldId id="258" r:id="rId10"/>
    <p:sldId id="261" r:id="rId11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81"/>
    <p:restoredTop sz="94668"/>
  </p:normalViewPr>
  <p:slideViewPr>
    <p:cSldViewPr snapToObjects="1">
      <p:cViewPr>
        <p:scale>
          <a:sx n="150" d="100"/>
          <a:sy n="150" d="100"/>
        </p:scale>
        <p:origin x="56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Objects="1"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4B1B89-6D29-7849-8E65-921CEBC6CA4C}" type="datetimeFigureOut"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84BB1-ECD9-1F46-AC5B-E21A5EADE98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503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226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1458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/>
                <a:t>CPU</a:t>
              </a:r>
            </a:p>
            <a:p>
              <a:pPr algn="ctr"/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/>
          <p:cNvGrpSpPr/>
          <p:nvPr/>
        </p:nvGrpSpPr>
        <p:grpSpPr>
          <a:xfrm>
            <a:off x="2792760" y="2708920"/>
            <a:ext cx="1437775" cy="1444550"/>
            <a:chOff x="2075065" y="548680"/>
            <a:chExt cx="1437775" cy="1444550"/>
          </a:xfrm>
        </p:grpSpPr>
        <p:sp>
          <p:nvSpPr>
            <p:cNvPr id="3" name="正方形/長方形 2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4" name="正方形/長方形 3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5" name="正方形/長方形 4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6" name="正方形/長方形 5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8" name="グループ化 7"/>
          <p:cNvGrpSpPr/>
          <p:nvPr/>
        </p:nvGrpSpPr>
        <p:grpSpPr>
          <a:xfrm>
            <a:off x="4953000" y="553792"/>
            <a:ext cx="1437775" cy="1444550"/>
            <a:chOff x="2075065" y="548680"/>
            <a:chExt cx="1437775" cy="1444550"/>
          </a:xfrm>
        </p:grpSpPr>
        <p:sp>
          <p:nvSpPr>
            <p:cNvPr id="9" name="正方形/長方形 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2" name="正方形/長方形 1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3" name="グループ化 12"/>
          <p:cNvGrpSpPr/>
          <p:nvPr/>
        </p:nvGrpSpPr>
        <p:grpSpPr>
          <a:xfrm>
            <a:off x="2795145" y="548680"/>
            <a:ext cx="1437775" cy="1444550"/>
            <a:chOff x="2075065" y="548680"/>
            <a:chExt cx="1437775" cy="1444550"/>
          </a:xfrm>
        </p:grpSpPr>
        <p:sp>
          <p:nvSpPr>
            <p:cNvPr id="14" name="正方形/長方形 13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5" name="正方形/長方形 14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6" name="正方形/長方形 15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17" name="正方形/長方形 16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grpSp>
        <p:nvGrpSpPr>
          <p:cNvPr id="18" name="グループ化 17"/>
          <p:cNvGrpSpPr/>
          <p:nvPr/>
        </p:nvGrpSpPr>
        <p:grpSpPr>
          <a:xfrm>
            <a:off x="4953000" y="2708920"/>
            <a:ext cx="1437775" cy="1444550"/>
            <a:chOff x="2075065" y="548680"/>
            <a:chExt cx="1437775" cy="1444550"/>
          </a:xfrm>
        </p:grpSpPr>
        <p:sp>
          <p:nvSpPr>
            <p:cNvPr id="19" name="正方形/長方形 18"/>
            <p:cNvSpPr/>
            <p:nvPr/>
          </p:nvSpPr>
          <p:spPr>
            <a:xfrm>
              <a:off x="2075065" y="54868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0" name="正方形/長方形 19"/>
            <p:cNvSpPr/>
            <p:nvPr/>
          </p:nvSpPr>
          <p:spPr>
            <a:xfrm>
              <a:off x="2792760" y="55307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kumimoji="1"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1" name="正方形/長方形 20"/>
            <p:cNvSpPr/>
            <p:nvPr/>
          </p:nvSpPr>
          <p:spPr>
            <a:xfrm>
              <a:off x="2075065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US" altLang="ja-JP" dirty="0"/>
                <a:t>CPU</a:t>
              </a:r>
              <a:br>
                <a:rPr lang="en-US" altLang="ja-JP" dirty="0"/>
              </a:b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  <p:sp>
          <p:nvSpPr>
            <p:cNvPr id="22" name="正方形/長方形 21"/>
            <p:cNvSpPr/>
            <p:nvPr/>
          </p:nvSpPr>
          <p:spPr>
            <a:xfrm>
              <a:off x="2792760" y="1273150"/>
              <a:ext cx="720080" cy="72008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dirty="0"/>
                <a:t>CPU</a:t>
              </a:r>
            </a:p>
            <a:p>
              <a:pPr algn="ctr">
                <a:defRPr/>
              </a:pPr>
              <a:r>
                <a:rPr lang="en-US" altLang="ja-JP" dirty="0"/>
                <a:t>CORE</a:t>
              </a:r>
              <a:endParaRPr kumimoji="1" lang="ja-JP" altLang="en-US" dirty="0"/>
            </a:p>
          </p:txBody>
        </p:sp>
      </p:grpSp>
      <p:sp>
        <p:nvSpPr>
          <p:cNvPr id="23" name="正方形/長方形 22"/>
          <p:cNvSpPr/>
          <p:nvPr/>
        </p:nvSpPr>
        <p:spPr>
          <a:xfrm>
            <a:off x="4232920" y="112474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/>
          <p:cNvSpPr/>
          <p:nvPr/>
        </p:nvSpPr>
        <p:spPr>
          <a:xfrm>
            <a:off x="4232920" y="328937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 rot="5400000">
            <a:off x="5313040" y="2214366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 rot="5400000">
            <a:off x="3152800" y="2204864"/>
            <a:ext cx="72008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/>
          <p:cNvGrpSpPr/>
          <p:nvPr/>
        </p:nvGrpSpPr>
        <p:grpSpPr>
          <a:xfrm>
            <a:off x="632520" y="548680"/>
            <a:ext cx="1440160" cy="1450622"/>
            <a:chOff x="632520" y="548680"/>
            <a:chExt cx="1440160" cy="1450622"/>
          </a:xfrm>
        </p:grpSpPr>
        <p:sp>
          <p:nvSpPr>
            <p:cNvPr id="28" name="正方形/長方形 2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29" name="正方形/長方形 2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632520" y="2693720"/>
            <a:ext cx="1440160" cy="1450622"/>
            <a:chOff x="632520" y="548680"/>
            <a:chExt cx="1440160" cy="1450622"/>
          </a:xfrm>
        </p:grpSpPr>
        <p:sp>
          <p:nvSpPr>
            <p:cNvPr id="32" name="正方形/長方形 31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3" name="正方形/長方形 32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7113240" y="558182"/>
            <a:ext cx="1440160" cy="1450622"/>
            <a:chOff x="632520" y="548680"/>
            <a:chExt cx="1440160" cy="1450622"/>
          </a:xfrm>
        </p:grpSpPr>
        <p:sp>
          <p:nvSpPr>
            <p:cNvPr id="35" name="正方形/長方形 34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6" name="正方形/長方形 35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grpSp>
        <p:nvGrpSpPr>
          <p:cNvPr id="37" name="グループ化 36"/>
          <p:cNvGrpSpPr/>
          <p:nvPr/>
        </p:nvGrpSpPr>
        <p:grpSpPr>
          <a:xfrm>
            <a:off x="7113240" y="2703222"/>
            <a:ext cx="1440160" cy="1450622"/>
            <a:chOff x="632520" y="548680"/>
            <a:chExt cx="1440160" cy="1450622"/>
          </a:xfrm>
        </p:grpSpPr>
        <p:sp>
          <p:nvSpPr>
            <p:cNvPr id="38" name="正方形/長方形 37"/>
            <p:cNvSpPr/>
            <p:nvPr/>
          </p:nvSpPr>
          <p:spPr>
            <a:xfrm>
              <a:off x="632520" y="548680"/>
              <a:ext cx="1440160" cy="729582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  <p:sp>
          <p:nvSpPr>
            <p:cNvPr id="39" name="正方形/長方形 38"/>
            <p:cNvSpPr/>
            <p:nvPr/>
          </p:nvSpPr>
          <p:spPr>
            <a:xfrm>
              <a:off x="632520" y="1278261"/>
              <a:ext cx="1440160" cy="721041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kumimoji="1" lang="en-US" altLang="ja-JP" sz="2400" dirty="0"/>
                <a:t>Memory</a:t>
              </a:r>
              <a:endParaRPr kumimoji="1" lang="ja-JP" altLang="en-US" sz="2400" dirty="0"/>
            </a:p>
          </p:txBody>
        </p:sp>
      </p:grpSp>
      <p:sp>
        <p:nvSpPr>
          <p:cNvPr id="40" name="正方形/長方形 39"/>
          <p:cNvSpPr/>
          <p:nvPr/>
        </p:nvSpPr>
        <p:spPr>
          <a:xfrm>
            <a:off x="2072680" y="1052736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/>
          <p:cNvSpPr/>
          <p:nvPr/>
        </p:nvSpPr>
        <p:spPr>
          <a:xfrm>
            <a:off x="2072681" y="3217366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/>
          <p:cNvSpPr/>
          <p:nvPr/>
        </p:nvSpPr>
        <p:spPr>
          <a:xfrm>
            <a:off x="6390774" y="1042647"/>
            <a:ext cx="722465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/>
          <p:cNvSpPr/>
          <p:nvPr/>
        </p:nvSpPr>
        <p:spPr>
          <a:xfrm>
            <a:off x="6390775" y="3207277"/>
            <a:ext cx="720080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18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335742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最初に「楽そうだから」と思って</a:t>
            </a:r>
            <a:endParaRPr lang="en-US" altLang="ja-JP" sz="2000" dirty="0"/>
          </a:p>
          <a:p>
            <a:r>
              <a:rPr kumimoji="1" lang="ja-JP" altLang="en-US" sz="2000" dirty="0"/>
              <a:t>仕事を引き受けすぎると・・・</a:t>
            </a:r>
          </a:p>
        </p:txBody>
      </p:sp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これも</a:t>
            </a:r>
            <a:r>
              <a:rPr kumimoji="1" lang="ja-JP" altLang="en-US" sz="2000" dirty="0">
                <a:solidFill>
                  <a:schemeClr val="tx1"/>
                </a:solidFill>
              </a:rPr>
              <a:t>お願いね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これ頼むよ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dirty="0" err="1">
                <a:solidFill>
                  <a:schemeClr val="tx1"/>
                </a:solidFill>
              </a:rPr>
              <a:t>いいっすよ</a:t>
            </a:r>
            <a:r>
              <a:rPr lang="ja-JP" altLang="en-US" sz="2000" dirty="0">
                <a:solidFill>
                  <a:schemeClr val="tx1"/>
                </a:solidFill>
              </a:rPr>
              <a:t>～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5745088" y="6089406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いつの間にか「担当者」になって</a:t>
            </a:r>
            <a:endParaRPr kumimoji="1" lang="en-US" altLang="ja-JP" sz="2000" dirty="0"/>
          </a:p>
          <a:p>
            <a:r>
              <a:rPr lang="ja-JP" altLang="en-US" sz="2000" dirty="0"/>
              <a:t>大変なことに・・・</a:t>
            </a:r>
            <a:endParaRPr kumimoji="1" lang="ja-JP" altLang="en-US" sz="2000" dirty="0"/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この件、君が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/>
            <a:r>
              <a:rPr lang="ja-JP" altLang="en-US" sz="2000" dirty="0">
                <a:solidFill>
                  <a:schemeClr val="tx1"/>
                </a:solidFill>
              </a:rPr>
              <a:t>担当って聞いたんで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727106" y="127008"/>
            <a:ext cx="46987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ファーストタッチの原則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367" y="4009281"/>
            <a:ext cx="2193032" cy="2006624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224" y="3971081"/>
            <a:ext cx="1944216" cy="1944216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5168" y="2057329"/>
            <a:ext cx="2448272" cy="1947735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64" y="1850348"/>
            <a:ext cx="1674045" cy="1963689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728" y="1770689"/>
            <a:ext cx="1728192" cy="2113277"/>
          </a:xfrm>
          <a:prstGeom prst="rect">
            <a:avLst/>
          </a:prstGeom>
        </p:spPr>
      </p:pic>
      <p:sp>
        <p:nvSpPr>
          <p:cNvPr id="12" name="角丸四角形吹き出し 11"/>
          <p:cNvSpPr/>
          <p:nvPr/>
        </p:nvSpPr>
        <p:spPr>
          <a:xfrm>
            <a:off x="3038834" y="908720"/>
            <a:ext cx="2160240" cy="592997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Please handle this too.</a:t>
            </a:r>
          </a:p>
        </p:txBody>
      </p:sp>
      <p:sp>
        <p:nvSpPr>
          <p:cNvPr id="13" name="円形吹き出し 12"/>
          <p:cNvSpPr/>
          <p:nvPr/>
        </p:nvSpPr>
        <p:spPr>
          <a:xfrm>
            <a:off x="488504" y="692696"/>
            <a:ext cx="2130190" cy="936104"/>
          </a:xfrm>
          <a:prstGeom prst="wedgeEllipseCallout">
            <a:avLst>
              <a:gd name="adj1" fmla="val -19687"/>
              <a:gd name="adj2" fmla="val 61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ja-JP" altLang="en-US" sz="2000" dirty="0">
                <a:solidFill>
                  <a:schemeClr val="tx1"/>
                </a:solidFill>
              </a:rPr>
              <a:t>Can you take care of this?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角丸四角形吹き出し 14"/>
          <p:cNvSpPr/>
          <p:nvPr/>
        </p:nvSpPr>
        <p:spPr>
          <a:xfrm>
            <a:off x="2618694" y="3984955"/>
            <a:ext cx="2160240" cy="592997"/>
          </a:xfrm>
          <a:prstGeom prst="wedgeRoundRectCallout">
            <a:avLst>
              <a:gd name="adj1" fmla="val -65162"/>
              <a:gd name="adj2" fmla="val 35213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1" lang="ja-JP" altLang="en-US" sz="2000">
                <a:solidFill>
                  <a:schemeClr val="tx1"/>
                </a:solidFill>
              </a:rPr>
              <a:t>Sure</a:t>
            </a:r>
            <a:r>
              <a:rPr kumimoji="1" lang="en-US" altLang="ja-JP" sz="2000" dirty="0">
                <a:solidFill>
                  <a:schemeClr val="tx1"/>
                </a:solidFill>
              </a:rPr>
              <a:t>!</a:t>
            </a:r>
            <a:endParaRPr kumimoji="1" lang="ja-JP" altLang="en-US" sz="2000" dirty="0">
              <a:solidFill>
                <a:schemeClr val="tx1"/>
              </a:solidFill>
            </a:endParaRPr>
          </a:p>
        </p:txBody>
      </p:sp>
      <p:sp>
        <p:nvSpPr>
          <p:cNvPr id="17" name="角丸四角形吹き出し 16"/>
          <p:cNvSpPr/>
          <p:nvPr/>
        </p:nvSpPr>
        <p:spPr>
          <a:xfrm>
            <a:off x="6455732" y="847284"/>
            <a:ext cx="2744023" cy="849162"/>
          </a:xfrm>
          <a:prstGeom prst="wedgeRoundRectCallout">
            <a:avLst>
              <a:gd name="adj1" fmla="val -34706"/>
              <a:gd name="adj2" fmla="val 89748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I heard you're in charge</a:t>
            </a:r>
            <a:endParaRPr lang="en-US" altLang="ja-JP" sz="2000" dirty="0">
              <a:solidFill>
                <a:schemeClr val="tx1"/>
              </a:solidFill>
            </a:endParaRPr>
          </a:p>
          <a:p>
            <a:pPr algn="ctr">
              <a:defRPr sz="1650"/>
            </a:pPr>
            <a:r>
              <a:rPr lang="ja-JP" altLang="en-US" sz="1650" dirty="0">
                <a:solidFill>
                  <a:schemeClr val="tx1"/>
                </a:solidFill>
              </a:rPr>
              <a:t>of this.</a:t>
            </a:r>
            <a:endParaRPr lang="en-US" altLang="ja-JP" sz="2000" dirty="0">
              <a:solidFill>
                <a:schemeClr val="tx1"/>
              </a:solidFill>
            </a:endParaRPr>
          </a:p>
        </p:txBody>
      </p:sp>
      <p:sp>
        <p:nvSpPr>
          <p:cNvPr id="18" name="右矢印 17"/>
          <p:cNvSpPr/>
          <p:nvPr/>
        </p:nvSpPr>
        <p:spPr>
          <a:xfrm>
            <a:off x="4953000" y="3506532"/>
            <a:ext cx="792088" cy="790781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3480013" y="107921"/>
            <a:ext cx="294597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/>
          <a:lstStyle/>
          <a:p>
            <a:pPr algn="ctr">
              <a:defRPr sz="2900"/>
            </a:pPr>
            <a:r>
              <a:rPr kumimoji="1" lang="ja-JP" altLang="en-US" sz="2900" dirty="0"/>
              <a:t>First-touch policy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853457-179E-9FEC-B5E7-98CB612FB765}"/>
              </a:ext>
            </a:extLst>
          </p:cNvPr>
          <p:cNvSpPr txBox="1"/>
          <p:nvPr/>
        </p:nvSpPr>
        <p:spPr>
          <a:xfrm>
            <a:off x="5532199" y="6007165"/>
            <a:ext cx="42475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Before you know it, you become</a:t>
            </a:r>
            <a:r>
              <a:rPr lang="en-US" altLang="ja-JP" dirty="0"/>
              <a:t> </a:t>
            </a:r>
            <a:r>
              <a:rPr lang="ja-JP" altLang="en-US"/>
              <a:t>"the person in charge" and things get painful...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27FB147-5A2E-D01D-B4DD-C3EE5C68DF4B}"/>
              </a:ext>
            </a:extLst>
          </p:cNvPr>
          <p:cNvSpPr txBox="1"/>
          <p:nvPr/>
        </p:nvSpPr>
        <p:spPr>
          <a:xfrm>
            <a:off x="534664" y="6007165"/>
            <a:ext cx="37047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If you accept too much work at first</a:t>
            </a:r>
            <a:r>
              <a:rPr lang="en-US" altLang="ja-JP" dirty="0"/>
              <a:t> </a:t>
            </a:r>
            <a:r>
              <a:rPr lang="ja-JP" altLang="en-US"/>
              <a:t>because it looks easy...</a:t>
            </a:r>
          </a:p>
        </p:txBody>
      </p:sp>
    </p:spTree>
    <p:extLst>
      <p:ext uri="{BB962C8B-B14F-4D97-AF65-F5344CB8AC3E}">
        <p14:creationId xmlns:p14="http://schemas.microsoft.com/office/powerpoint/2010/main" val="3084154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B1D12-227F-B3E1-AE98-7BD5A27D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内側に入れた場合">
            <a:extLst>
              <a:ext uri="{FF2B5EF4-FFF2-40B4-BE49-F238E27FC236}">
                <a16:creationId xmlns:a16="http://schemas.microsoft.com/office/drawing/2014/main" id="{EF07D2B2-900E-6184-AA1A-56248ECD8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46816"/>
            <a:ext cx="7429500" cy="456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46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内側に入れた場合">
            <a:extLst>
              <a:ext uri="{FF2B5EF4-FFF2-40B4-BE49-F238E27FC236}">
                <a16:creationId xmlns:a16="http://schemas.microsoft.com/office/drawing/2014/main" id="{2F4F3DB2-D115-97C7-DC81-051F7A526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46816"/>
            <a:ext cx="7429500" cy="456436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79582F-E0F7-A7D1-4434-1D533098F096}"/>
              </a:ext>
            </a:extLst>
          </p:cNvPr>
          <p:cNvSpPr txBox="1"/>
          <p:nvPr/>
        </p:nvSpPr>
        <p:spPr>
          <a:xfrm>
            <a:off x="992560" y="1125232"/>
            <a:ext cx="4953000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2400" dirty="0"/>
              <a:t>W</a:t>
            </a:r>
            <a:r>
              <a:rPr lang="ja-JP" altLang="en-US" sz="2400"/>
              <a:t>hen parallelizing the inner loop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6F0596-FF6B-286D-3677-1D61F5D8BF09}"/>
              </a:ext>
            </a:extLst>
          </p:cNvPr>
          <p:cNvSpPr txBox="1"/>
          <p:nvPr/>
        </p:nvSpPr>
        <p:spPr>
          <a:xfrm>
            <a:off x="7401272" y="1639258"/>
            <a:ext cx="115212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Overhead</a:t>
            </a:r>
            <a:endParaRPr lang="ja-JP" altLang="en-US" sz="1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4DD780E-6ED0-38A4-2788-51A76F78BF98}"/>
              </a:ext>
            </a:extLst>
          </p:cNvPr>
          <p:cNvSpPr txBox="1"/>
          <p:nvPr/>
        </p:nvSpPr>
        <p:spPr>
          <a:xfrm>
            <a:off x="7401272" y="1947035"/>
            <a:ext cx="126647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Computation</a:t>
            </a:r>
            <a:endParaRPr lang="ja-JP" altLang="en-US" sz="1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10EE6C-3261-3338-BE8D-CF69D4DAACFA}"/>
              </a:ext>
            </a:extLst>
          </p:cNvPr>
          <p:cNvSpPr txBox="1"/>
          <p:nvPr/>
        </p:nvSpPr>
        <p:spPr>
          <a:xfrm>
            <a:off x="3728864" y="5301208"/>
            <a:ext cx="1584176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ja-JP" altLang="ja-JP" sz="1400"/>
              <a:t>Number of Threads</a:t>
            </a:r>
            <a:endParaRPr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2819822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75896-D8E3-1B45-409C-782F93CD7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外側に入れた場合">
            <a:extLst>
              <a:ext uri="{FF2B5EF4-FFF2-40B4-BE49-F238E27FC236}">
                <a16:creationId xmlns:a16="http://schemas.microsoft.com/office/drawing/2014/main" id="{F12F115C-D9B1-72AC-91AA-EC8CC9391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39171"/>
            <a:ext cx="7429500" cy="457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68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ディレクティブを外側に入れた場合">
            <a:extLst>
              <a:ext uri="{FF2B5EF4-FFF2-40B4-BE49-F238E27FC236}">
                <a16:creationId xmlns:a16="http://schemas.microsoft.com/office/drawing/2014/main" id="{BE6B0BD2-9E63-CD70-1AFA-ADF7FC8A6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139171"/>
            <a:ext cx="7429500" cy="4579658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E82331-170E-A604-2B80-F5731966814A}"/>
              </a:ext>
            </a:extLst>
          </p:cNvPr>
          <p:cNvSpPr txBox="1"/>
          <p:nvPr/>
        </p:nvSpPr>
        <p:spPr>
          <a:xfrm>
            <a:off x="992560" y="1125232"/>
            <a:ext cx="4953000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2400" dirty="0"/>
              <a:t>W</a:t>
            </a:r>
            <a:r>
              <a:rPr lang="ja-JP" altLang="en-US" sz="2400"/>
              <a:t>hen parallelizing the </a:t>
            </a:r>
            <a:r>
              <a:rPr lang="en-US" altLang="ja-JP" sz="2400" dirty="0"/>
              <a:t>outer</a:t>
            </a:r>
            <a:r>
              <a:rPr lang="ja-JP" altLang="en-US" sz="2400"/>
              <a:t> loop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7473E90-3807-23FA-CC54-48327A27743B}"/>
              </a:ext>
            </a:extLst>
          </p:cNvPr>
          <p:cNvSpPr txBox="1"/>
          <p:nvPr/>
        </p:nvSpPr>
        <p:spPr>
          <a:xfrm>
            <a:off x="7432517" y="1619772"/>
            <a:ext cx="115212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Overhead</a:t>
            </a:r>
            <a:endParaRPr lang="ja-JP" altLang="en-US" sz="14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DCA964-E714-46F5-4D91-0D5F0C0ACAD8}"/>
              </a:ext>
            </a:extLst>
          </p:cNvPr>
          <p:cNvSpPr txBox="1"/>
          <p:nvPr/>
        </p:nvSpPr>
        <p:spPr>
          <a:xfrm>
            <a:off x="7432517" y="1927549"/>
            <a:ext cx="1266478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ja-JP" sz="1400" dirty="0"/>
              <a:t>Computation</a:t>
            </a:r>
            <a:endParaRPr lang="ja-JP" altLang="en-US" sz="1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698695-EE55-C544-F910-2BDC4B2C7A17}"/>
              </a:ext>
            </a:extLst>
          </p:cNvPr>
          <p:cNvSpPr txBox="1"/>
          <p:nvPr/>
        </p:nvSpPr>
        <p:spPr>
          <a:xfrm>
            <a:off x="3728864" y="5301208"/>
            <a:ext cx="1584176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ja-JP" altLang="ja-JP" sz="1400"/>
              <a:t>Number of Threads</a:t>
            </a:r>
            <a:endParaRPr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3257654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45E13D4-EBB9-FD46-8DCD-4F203EF8875D}"/>
              </a:ext>
            </a:extLst>
          </p:cNvPr>
          <p:cNvSpPr txBox="1"/>
          <p:nvPr/>
        </p:nvSpPr>
        <p:spPr>
          <a:xfrm>
            <a:off x="1928664" y="188640"/>
            <a:ext cx="5729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シングルノード</a:t>
            </a:r>
            <a:r>
              <a:rPr kumimoji="1" lang="en-US" altLang="ja-JP"/>
              <a:t>(12</a:t>
            </a:r>
            <a:r>
              <a:rPr kumimoji="1" lang="ja-JP" altLang="en-US"/>
              <a:t>コア</a:t>
            </a:r>
            <a:r>
              <a:rPr lang="en-US" altLang="ja-JP"/>
              <a:t> x 2</a:t>
            </a:r>
            <a:r>
              <a:rPr lang="ja-JP" altLang="en-US"/>
              <a:t>ソケット</a:t>
            </a:r>
            <a:r>
              <a:rPr lang="en-US" altLang="ja-JP"/>
              <a:t>)</a:t>
            </a:r>
            <a:r>
              <a:rPr lang="ja-JP" altLang="en-US"/>
              <a:t>でのスケーリング</a:t>
            </a:r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928664" y="692696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実行時間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並列化効率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E72C49AB-44CB-F74E-9F08-ACE909D73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2960" y="1052736"/>
            <a:ext cx="4064000" cy="304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B0E9ACC-C7CD-FD48-A0CB-FEF5F5402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80" y="980728"/>
            <a:ext cx="4064000" cy="30480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E7FE39-4188-A945-951F-59A75AF5A6A7}"/>
              </a:ext>
            </a:extLst>
          </p:cNvPr>
          <p:cNvSpPr txBox="1"/>
          <p:nvPr/>
        </p:nvSpPr>
        <p:spPr>
          <a:xfrm>
            <a:off x="1352600" y="692696"/>
            <a:ext cx="1684060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Execution time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20085AF-BAB7-B043-B964-5B3833EBB4B4}"/>
              </a:ext>
            </a:extLst>
          </p:cNvPr>
          <p:cNvSpPr txBox="1"/>
          <p:nvPr/>
        </p:nvSpPr>
        <p:spPr>
          <a:xfrm>
            <a:off x="6105128" y="692696"/>
            <a:ext cx="1872208" cy="36933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>
              <a:defRPr/>
            </a:pPr>
            <a:r>
              <a:rPr kumimoji="1" lang="ja-JP" altLang="en-US"/>
              <a:t>Parallel efficiency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E890EB1-34A4-F7F9-94A5-68BCB0512C04}"/>
              </a:ext>
            </a:extLst>
          </p:cNvPr>
          <p:cNvSpPr txBox="1"/>
          <p:nvPr/>
        </p:nvSpPr>
        <p:spPr>
          <a:xfrm>
            <a:off x="2194630" y="143344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/>
              <a:t>Scaling on a single node (12 cores x 2 sockets)</a:t>
            </a:r>
          </a:p>
        </p:txBody>
      </p:sp>
    </p:spTree>
    <p:extLst>
      <p:ext uri="{BB962C8B-B14F-4D97-AF65-F5344CB8AC3E}">
        <p14:creationId xmlns:p14="http://schemas.microsoft.com/office/powerpoint/2010/main" val="5540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199</TotalTime>
  <Words>255</Words>
  <Application>Microsoft Macintosh PowerPoint</Application>
  <PresentationFormat>A4 210 x 297 mm</PresentationFormat>
  <Paragraphs>104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游ゴシック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Office ユーザー</dc:creator>
  <cp:lastModifiedBy>渡辺 宙志</cp:lastModifiedBy>
  <cp:revision>101</cp:revision>
  <dcterms:created xsi:type="dcterms:W3CDTF">2018-10-07T01:32:06Z</dcterms:created>
  <dcterms:modified xsi:type="dcterms:W3CDTF">2026-08-07T08:20:59Z</dcterms:modified>
</cp:coreProperties>
</file>