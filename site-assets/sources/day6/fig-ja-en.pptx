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9" r:id="rId3"/>
    <p:sldId id="262" r:id="rId4"/>
    <p:sldId id="263" r:id="rId5"/>
    <p:sldId id="257" r:id="rId6"/>
    <p:sldId id="260" r:id="rId7"/>
    <p:sldId id="258" r:id="rId8"/>
    <p:sldId id="261" r:id="rId9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69"/>
    <p:restoredTop sz="94668"/>
  </p:normalViewPr>
  <p:slideViewPr>
    <p:cSldViewPr snapToObjects="1">
      <p:cViewPr varScale="1">
        <p:scale>
          <a:sx n="101" d="100"/>
          <a:sy n="101" d="100"/>
        </p:scale>
        <p:origin x="10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95" d="100"/>
          <a:sy n="95" d="100"/>
        </p:scale>
        <p:origin x="306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4B1B89-6D29-7849-8E65-921CEBC6CA4C}" type="datetimeFigureOut">
              <a:t>2026/8/7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84BB1-ECD9-1F46-AC5B-E21A5EADE98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650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22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45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/>
          <p:cNvGrpSpPr/>
          <p:nvPr/>
        </p:nvGrpSpPr>
        <p:grpSpPr>
          <a:xfrm>
            <a:off x="2792760" y="2708920"/>
            <a:ext cx="1437775" cy="1444550"/>
            <a:chOff x="2075065" y="548680"/>
            <a:chExt cx="1437775" cy="1444550"/>
          </a:xfrm>
        </p:grpSpPr>
        <p:sp>
          <p:nvSpPr>
            <p:cNvPr id="3" name="正方形/長方形 2"/>
            <p:cNvSpPr/>
            <p:nvPr/>
          </p:nvSpPr>
          <p:spPr>
            <a:xfrm>
              <a:off x="2075065" y="54868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CPU</a:t>
              </a:r>
            </a:p>
            <a:p>
              <a:pPr algn="ctr"/>
              <a:r>
                <a:rPr kumimoji="1"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4" name="正方形/長方形 3"/>
            <p:cNvSpPr/>
            <p:nvPr/>
          </p:nvSpPr>
          <p:spPr>
            <a:xfrm>
              <a:off x="2792760" y="55307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CPU</a:t>
              </a:r>
            </a:p>
            <a:p>
              <a:pPr algn="ctr"/>
              <a:r>
                <a:rPr kumimoji="1"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5" name="正方形/長方形 4"/>
            <p:cNvSpPr/>
            <p:nvPr/>
          </p:nvSpPr>
          <p:spPr>
            <a:xfrm>
              <a:off x="2075065" y="127315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/>
                <a:t>CPU</a:t>
              </a:r>
              <a:br>
                <a:rPr lang="en-US" altLang="ja-JP" dirty="0"/>
              </a:br>
              <a:r>
                <a:rPr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2792760" y="127315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CPU</a:t>
              </a:r>
            </a:p>
            <a:p>
              <a:pPr algn="ctr"/>
              <a:r>
                <a:rPr lang="en-US" altLang="ja-JP" dirty="0"/>
                <a:t>CORE</a:t>
              </a:r>
              <a:endParaRPr kumimoji="1" lang="ja-JP" altLang="en-US" dirty="0"/>
            </a:p>
          </p:txBody>
        </p:sp>
      </p:grpSp>
      <p:grpSp>
        <p:nvGrpSpPr>
          <p:cNvPr id="8" name="グループ化 7"/>
          <p:cNvGrpSpPr/>
          <p:nvPr/>
        </p:nvGrpSpPr>
        <p:grpSpPr>
          <a:xfrm>
            <a:off x="4953000" y="553792"/>
            <a:ext cx="1437775" cy="1444550"/>
            <a:chOff x="2075065" y="548680"/>
            <a:chExt cx="1437775" cy="1444550"/>
          </a:xfrm>
        </p:grpSpPr>
        <p:sp>
          <p:nvSpPr>
            <p:cNvPr id="9" name="正方形/長方形 8"/>
            <p:cNvSpPr/>
            <p:nvPr/>
          </p:nvSpPr>
          <p:spPr>
            <a:xfrm>
              <a:off x="2075065" y="54868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CPU</a:t>
              </a:r>
            </a:p>
            <a:p>
              <a:pPr algn="ctr"/>
              <a:r>
                <a:rPr kumimoji="1"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10" name="正方形/長方形 9"/>
            <p:cNvSpPr/>
            <p:nvPr/>
          </p:nvSpPr>
          <p:spPr>
            <a:xfrm>
              <a:off x="2792760" y="55307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CPU</a:t>
              </a:r>
            </a:p>
            <a:p>
              <a:pPr algn="ctr"/>
              <a:r>
                <a:rPr kumimoji="1"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11" name="正方形/長方形 10"/>
            <p:cNvSpPr/>
            <p:nvPr/>
          </p:nvSpPr>
          <p:spPr>
            <a:xfrm>
              <a:off x="2075065" y="127315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/>
                <a:t>CPU</a:t>
              </a:r>
              <a:br>
                <a:rPr lang="en-US" altLang="ja-JP" dirty="0"/>
              </a:br>
              <a:r>
                <a:rPr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12" name="正方形/長方形 11"/>
            <p:cNvSpPr/>
            <p:nvPr/>
          </p:nvSpPr>
          <p:spPr>
            <a:xfrm>
              <a:off x="2792760" y="127315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CPU</a:t>
              </a:r>
            </a:p>
            <a:p>
              <a:pPr algn="ctr"/>
              <a:r>
                <a:rPr lang="en-US" altLang="ja-JP" dirty="0"/>
                <a:t>CORE</a:t>
              </a:r>
              <a:endParaRPr kumimoji="1" lang="ja-JP" altLang="en-US" dirty="0"/>
            </a:p>
          </p:txBody>
        </p:sp>
      </p:grpSp>
      <p:grpSp>
        <p:nvGrpSpPr>
          <p:cNvPr id="13" name="グループ化 12"/>
          <p:cNvGrpSpPr/>
          <p:nvPr/>
        </p:nvGrpSpPr>
        <p:grpSpPr>
          <a:xfrm>
            <a:off x="2795145" y="548680"/>
            <a:ext cx="1437775" cy="1444550"/>
            <a:chOff x="2075065" y="548680"/>
            <a:chExt cx="1437775" cy="1444550"/>
          </a:xfrm>
        </p:grpSpPr>
        <p:sp>
          <p:nvSpPr>
            <p:cNvPr id="14" name="正方形/長方形 13"/>
            <p:cNvSpPr/>
            <p:nvPr/>
          </p:nvSpPr>
          <p:spPr>
            <a:xfrm>
              <a:off x="2075065" y="54868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CPU</a:t>
              </a:r>
            </a:p>
            <a:p>
              <a:pPr algn="ctr"/>
              <a:r>
                <a:rPr kumimoji="1"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15" name="正方形/長方形 14"/>
            <p:cNvSpPr/>
            <p:nvPr/>
          </p:nvSpPr>
          <p:spPr>
            <a:xfrm>
              <a:off x="2792760" y="55307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CPU</a:t>
              </a:r>
            </a:p>
            <a:p>
              <a:pPr algn="ctr"/>
              <a:r>
                <a:rPr kumimoji="1"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16" name="正方形/長方形 15"/>
            <p:cNvSpPr/>
            <p:nvPr/>
          </p:nvSpPr>
          <p:spPr>
            <a:xfrm>
              <a:off x="2075065" y="127315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/>
                <a:t>CPU</a:t>
              </a:r>
              <a:br>
                <a:rPr lang="en-US" altLang="ja-JP" dirty="0"/>
              </a:br>
              <a:r>
                <a:rPr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17" name="正方形/長方形 16"/>
            <p:cNvSpPr/>
            <p:nvPr/>
          </p:nvSpPr>
          <p:spPr>
            <a:xfrm>
              <a:off x="2792760" y="127315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CPU</a:t>
              </a:r>
            </a:p>
            <a:p>
              <a:pPr algn="ctr"/>
              <a:r>
                <a:rPr lang="en-US" altLang="ja-JP" dirty="0"/>
                <a:t>CORE</a:t>
              </a:r>
              <a:endParaRPr kumimoji="1" lang="ja-JP" altLang="en-US" dirty="0"/>
            </a:p>
          </p:txBody>
        </p:sp>
      </p:grpSp>
      <p:grpSp>
        <p:nvGrpSpPr>
          <p:cNvPr id="18" name="グループ化 17"/>
          <p:cNvGrpSpPr/>
          <p:nvPr/>
        </p:nvGrpSpPr>
        <p:grpSpPr>
          <a:xfrm>
            <a:off x="4953000" y="2708920"/>
            <a:ext cx="1437775" cy="1444550"/>
            <a:chOff x="2075065" y="548680"/>
            <a:chExt cx="1437775" cy="1444550"/>
          </a:xfrm>
        </p:grpSpPr>
        <p:sp>
          <p:nvSpPr>
            <p:cNvPr id="19" name="正方形/長方形 18"/>
            <p:cNvSpPr/>
            <p:nvPr/>
          </p:nvSpPr>
          <p:spPr>
            <a:xfrm>
              <a:off x="2075065" y="54868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CPU</a:t>
              </a:r>
            </a:p>
            <a:p>
              <a:pPr algn="ctr"/>
              <a:r>
                <a:rPr kumimoji="1"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20" name="正方形/長方形 19"/>
            <p:cNvSpPr/>
            <p:nvPr/>
          </p:nvSpPr>
          <p:spPr>
            <a:xfrm>
              <a:off x="2792760" y="55307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CPU</a:t>
              </a:r>
            </a:p>
            <a:p>
              <a:pPr algn="ctr"/>
              <a:r>
                <a:rPr kumimoji="1"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21" name="正方形/長方形 20"/>
            <p:cNvSpPr/>
            <p:nvPr/>
          </p:nvSpPr>
          <p:spPr>
            <a:xfrm>
              <a:off x="2075065" y="127315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/>
                <a:t>CPU</a:t>
              </a:r>
              <a:br>
                <a:rPr lang="en-US" altLang="ja-JP" dirty="0"/>
              </a:br>
              <a:r>
                <a:rPr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22" name="正方形/長方形 21"/>
            <p:cNvSpPr/>
            <p:nvPr/>
          </p:nvSpPr>
          <p:spPr>
            <a:xfrm>
              <a:off x="2792760" y="127315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/>
                <a:t>CPU</a:t>
              </a:r>
            </a:p>
            <a:p>
              <a:pPr algn="ctr"/>
              <a:r>
                <a:rPr lang="en-US" altLang="ja-JP" dirty="0"/>
                <a:t>CORE</a:t>
              </a:r>
              <a:endParaRPr kumimoji="1" lang="ja-JP" altLang="en-US" dirty="0"/>
            </a:p>
          </p:txBody>
        </p:sp>
      </p:grpSp>
      <p:sp>
        <p:nvSpPr>
          <p:cNvPr id="23" name="正方形/長方形 22"/>
          <p:cNvSpPr/>
          <p:nvPr/>
        </p:nvSpPr>
        <p:spPr>
          <a:xfrm>
            <a:off x="4232920" y="1124744"/>
            <a:ext cx="72008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/>
        </p:nvSpPr>
        <p:spPr>
          <a:xfrm>
            <a:off x="4232920" y="3289374"/>
            <a:ext cx="72008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/>
        </p:nvSpPr>
        <p:spPr>
          <a:xfrm rot="5400000">
            <a:off x="5313040" y="2214366"/>
            <a:ext cx="72008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/>
          <p:cNvSpPr/>
          <p:nvPr/>
        </p:nvSpPr>
        <p:spPr>
          <a:xfrm rot="5400000">
            <a:off x="3152800" y="2204864"/>
            <a:ext cx="72008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0" name="グループ化 29"/>
          <p:cNvGrpSpPr/>
          <p:nvPr/>
        </p:nvGrpSpPr>
        <p:grpSpPr>
          <a:xfrm>
            <a:off x="632520" y="548680"/>
            <a:ext cx="1440160" cy="1450622"/>
            <a:chOff x="632520" y="548680"/>
            <a:chExt cx="1440160" cy="1450622"/>
          </a:xfrm>
        </p:grpSpPr>
        <p:sp>
          <p:nvSpPr>
            <p:cNvPr id="28" name="正方形/長方形 27"/>
            <p:cNvSpPr/>
            <p:nvPr/>
          </p:nvSpPr>
          <p:spPr>
            <a:xfrm>
              <a:off x="632520" y="548680"/>
              <a:ext cx="1440160" cy="72958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/>
                <a:t>Memory</a:t>
              </a:r>
              <a:endParaRPr kumimoji="1" lang="ja-JP" altLang="en-US" sz="2400" dirty="0"/>
            </a:p>
          </p:txBody>
        </p:sp>
        <p:sp>
          <p:nvSpPr>
            <p:cNvPr id="29" name="正方形/長方形 28"/>
            <p:cNvSpPr/>
            <p:nvPr/>
          </p:nvSpPr>
          <p:spPr>
            <a:xfrm>
              <a:off x="632520" y="1278261"/>
              <a:ext cx="1440160" cy="72104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/>
                <a:t>Memory</a:t>
              </a:r>
              <a:endParaRPr kumimoji="1" lang="ja-JP" altLang="en-US" sz="2400" dirty="0"/>
            </a:p>
          </p:txBody>
        </p:sp>
      </p:grpSp>
      <p:grpSp>
        <p:nvGrpSpPr>
          <p:cNvPr id="31" name="グループ化 30"/>
          <p:cNvGrpSpPr/>
          <p:nvPr/>
        </p:nvGrpSpPr>
        <p:grpSpPr>
          <a:xfrm>
            <a:off x="632520" y="2693720"/>
            <a:ext cx="1440160" cy="1450622"/>
            <a:chOff x="632520" y="548680"/>
            <a:chExt cx="1440160" cy="1450622"/>
          </a:xfrm>
        </p:grpSpPr>
        <p:sp>
          <p:nvSpPr>
            <p:cNvPr id="32" name="正方形/長方形 31"/>
            <p:cNvSpPr/>
            <p:nvPr/>
          </p:nvSpPr>
          <p:spPr>
            <a:xfrm>
              <a:off x="632520" y="548680"/>
              <a:ext cx="1440160" cy="72958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/>
                <a:t>Memory</a:t>
              </a:r>
              <a:endParaRPr kumimoji="1" lang="ja-JP" altLang="en-US" sz="2400" dirty="0"/>
            </a:p>
          </p:txBody>
        </p:sp>
        <p:sp>
          <p:nvSpPr>
            <p:cNvPr id="33" name="正方形/長方形 32"/>
            <p:cNvSpPr/>
            <p:nvPr/>
          </p:nvSpPr>
          <p:spPr>
            <a:xfrm>
              <a:off x="632520" y="1278261"/>
              <a:ext cx="1440160" cy="72104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/>
                <a:t>Memory</a:t>
              </a:r>
              <a:endParaRPr kumimoji="1" lang="ja-JP" altLang="en-US" sz="2400" dirty="0"/>
            </a:p>
          </p:txBody>
        </p:sp>
      </p:grpSp>
      <p:grpSp>
        <p:nvGrpSpPr>
          <p:cNvPr id="34" name="グループ化 33"/>
          <p:cNvGrpSpPr/>
          <p:nvPr/>
        </p:nvGrpSpPr>
        <p:grpSpPr>
          <a:xfrm>
            <a:off x="7113240" y="558182"/>
            <a:ext cx="1440160" cy="1450622"/>
            <a:chOff x="632520" y="548680"/>
            <a:chExt cx="1440160" cy="1450622"/>
          </a:xfrm>
        </p:grpSpPr>
        <p:sp>
          <p:nvSpPr>
            <p:cNvPr id="35" name="正方形/長方形 34"/>
            <p:cNvSpPr/>
            <p:nvPr/>
          </p:nvSpPr>
          <p:spPr>
            <a:xfrm>
              <a:off x="632520" y="548680"/>
              <a:ext cx="1440160" cy="72958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/>
                <a:t>Memory</a:t>
              </a:r>
              <a:endParaRPr kumimoji="1" lang="ja-JP" altLang="en-US" sz="2400" dirty="0"/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632520" y="1278261"/>
              <a:ext cx="1440160" cy="72104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/>
                <a:t>Memory</a:t>
              </a:r>
              <a:endParaRPr kumimoji="1" lang="ja-JP" altLang="en-US" sz="2400" dirty="0"/>
            </a:p>
          </p:txBody>
        </p:sp>
      </p:grpSp>
      <p:grpSp>
        <p:nvGrpSpPr>
          <p:cNvPr id="37" name="グループ化 36"/>
          <p:cNvGrpSpPr/>
          <p:nvPr/>
        </p:nvGrpSpPr>
        <p:grpSpPr>
          <a:xfrm>
            <a:off x="7113240" y="2703222"/>
            <a:ext cx="1440160" cy="1450622"/>
            <a:chOff x="632520" y="548680"/>
            <a:chExt cx="1440160" cy="1450622"/>
          </a:xfrm>
        </p:grpSpPr>
        <p:sp>
          <p:nvSpPr>
            <p:cNvPr id="38" name="正方形/長方形 37"/>
            <p:cNvSpPr/>
            <p:nvPr/>
          </p:nvSpPr>
          <p:spPr>
            <a:xfrm>
              <a:off x="632520" y="548680"/>
              <a:ext cx="1440160" cy="72958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/>
                <a:t>Memory</a:t>
              </a:r>
              <a:endParaRPr kumimoji="1" lang="ja-JP" altLang="en-US" sz="2400" dirty="0"/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632520" y="1278261"/>
              <a:ext cx="1440160" cy="72104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/>
                <a:t>Memory</a:t>
              </a:r>
              <a:endParaRPr kumimoji="1" lang="ja-JP" altLang="en-US" sz="2400" dirty="0"/>
            </a:p>
          </p:txBody>
        </p:sp>
      </p:grpSp>
      <p:sp>
        <p:nvSpPr>
          <p:cNvPr id="40" name="正方形/長方形 39"/>
          <p:cNvSpPr/>
          <p:nvPr/>
        </p:nvSpPr>
        <p:spPr>
          <a:xfrm>
            <a:off x="2072680" y="1052736"/>
            <a:ext cx="72246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/>
          <p:cNvSpPr/>
          <p:nvPr/>
        </p:nvSpPr>
        <p:spPr>
          <a:xfrm>
            <a:off x="2072681" y="3217366"/>
            <a:ext cx="72008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/>
          <p:cNvSpPr/>
          <p:nvPr/>
        </p:nvSpPr>
        <p:spPr>
          <a:xfrm>
            <a:off x="6390774" y="1042647"/>
            <a:ext cx="72246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/>
          <p:cNvSpPr/>
          <p:nvPr/>
        </p:nvSpPr>
        <p:spPr>
          <a:xfrm>
            <a:off x="6390775" y="3207277"/>
            <a:ext cx="72008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1188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/>
          <p:cNvGrpSpPr/>
          <p:nvPr/>
        </p:nvGrpSpPr>
        <p:grpSpPr>
          <a:xfrm>
            <a:off x="2792760" y="2708920"/>
            <a:ext cx="1437775" cy="1444550"/>
            <a:chOff x="2075065" y="548680"/>
            <a:chExt cx="1437775" cy="1444550"/>
          </a:xfrm>
        </p:grpSpPr>
        <p:sp>
          <p:nvSpPr>
            <p:cNvPr id="3" name="正方形/長方形 2"/>
            <p:cNvSpPr/>
            <p:nvPr/>
          </p:nvSpPr>
          <p:spPr>
            <a:xfrm>
              <a:off x="2075065" y="54868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dirty="0"/>
                <a:t>CPU</a:t>
              </a:r>
            </a:p>
            <a:p>
              <a:pPr algn="ctr">
                <a:defRPr/>
              </a:pPr>
              <a:r>
                <a:rPr kumimoji="1"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4" name="正方形/長方形 3"/>
            <p:cNvSpPr/>
            <p:nvPr/>
          </p:nvSpPr>
          <p:spPr>
            <a:xfrm>
              <a:off x="2792760" y="55307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dirty="0"/>
                <a:t>CPU</a:t>
              </a:r>
            </a:p>
            <a:p>
              <a:pPr algn="ctr">
                <a:defRPr/>
              </a:pPr>
              <a:r>
                <a:rPr kumimoji="1"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5" name="正方形/長方形 4"/>
            <p:cNvSpPr/>
            <p:nvPr/>
          </p:nvSpPr>
          <p:spPr>
            <a:xfrm>
              <a:off x="2075065" y="127315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ja-JP" dirty="0"/>
                <a:t>CPU</a:t>
              </a:r>
              <a:br>
                <a:rPr lang="en-US" altLang="ja-JP" dirty="0"/>
              </a:br>
              <a:r>
                <a:rPr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2792760" y="127315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dirty="0"/>
                <a:t>CPU</a:t>
              </a:r>
            </a:p>
            <a:p>
              <a:pPr algn="ctr">
                <a:defRPr/>
              </a:pPr>
              <a:r>
                <a:rPr lang="en-US" altLang="ja-JP" dirty="0"/>
                <a:t>CORE</a:t>
              </a:r>
              <a:endParaRPr kumimoji="1" lang="ja-JP" altLang="en-US" dirty="0"/>
            </a:p>
          </p:txBody>
        </p:sp>
      </p:grpSp>
      <p:grpSp>
        <p:nvGrpSpPr>
          <p:cNvPr id="8" name="グループ化 7"/>
          <p:cNvGrpSpPr/>
          <p:nvPr/>
        </p:nvGrpSpPr>
        <p:grpSpPr>
          <a:xfrm>
            <a:off x="4953000" y="553792"/>
            <a:ext cx="1437775" cy="1444550"/>
            <a:chOff x="2075065" y="548680"/>
            <a:chExt cx="1437775" cy="1444550"/>
          </a:xfrm>
        </p:grpSpPr>
        <p:sp>
          <p:nvSpPr>
            <p:cNvPr id="9" name="正方形/長方形 8"/>
            <p:cNvSpPr/>
            <p:nvPr/>
          </p:nvSpPr>
          <p:spPr>
            <a:xfrm>
              <a:off x="2075065" y="54868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dirty="0"/>
                <a:t>CPU</a:t>
              </a:r>
            </a:p>
            <a:p>
              <a:pPr algn="ctr">
                <a:defRPr/>
              </a:pPr>
              <a:r>
                <a:rPr kumimoji="1"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10" name="正方形/長方形 9"/>
            <p:cNvSpPr/>
            <p:nvPr/>
          </p:nvSpPr>
          <p:spPr>
            <a:xfrm>
              <a:off x="2792760" y="55307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dirty="0"/>
                <a:t>CPU</a:t>
              </a:r>
            </a:p>
            <a:p>
              <a:pPr algn="ctr">
                <a:defRPr/>
              </a:pPr>
              <a:r>
                <a:rPr kumimoji="1"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11" name="正方形/長方形 10"/>
            <p:cNvSpPr/>
            <p:nvPr/>
          </p:nvSpPr>
          <p:spPr>
            <a:xfrm>
              <a:off x="2075065" y="127315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ja-JP" dirty="0"/>
                <a:t>CPU</a:t>
              </a:r>
              <a:br>
                <a:rPr lang="en-US" altLang="ja-JP" dirty="0"/>
              </a:br>
              <a:r>
                <a:rPr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12" name="正方形/長方形 11"/>
            <p:cNvSpPr/>
            <p:nvPr/>
          </p:nvSpPr>
          <p:spPr>
            <a:xfrm>
              <a:off x="2792760" y="127315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dirty="0"/>
                <a:t>CPU</a:t>
              </a:r>
            </a:p>
            <a:p>
              <a:pPr algn="ctr">
                <a:defRPr/>
              </a:pPr>
              <a:r>
                <a:rPr lang="en-US" altLang="ja-JP" dirty="0"/>
                <a:t>CORE</a:t>
              </a:r>
              <a:endParaRPr kumimoji="1" lang="ja-JP" altLang="en-US" dirty="0"/>
            </a:p>
          </p:txBody>
        </p:sp>
      </p:grpSp>
      <p:grpSp>
        <p:nvGrpSpPr>
          <p:cNvPr id="13" name="グループ化 12"/>
          <p:cNvGrpSpPr/>
          <p:nvPr/>
        </p:nvGrpSpPr>
        <p:grpSpPr>
          <a:xfrm>
            <a:off x="2795145" y="548680"/>
            <a:ext cx="1437775" cy="1444550"/>
            <a:chOff x="2075065" y="548680"/>
            <a:chExt cx="1437775" cy="1444550"/>
          </a:xfrm>
        </p:grpSpPr>
        <p:sp>
          <p:nvSpPr>
            <p:cNvPr id="14" name="正方形/長方形 13"/>
            <p:cNvSpPr/>
            <p:nvPr/>
          </p:nvSpPr>
          <p:spPr>
            <a:xfrm>
              <a:off x="2075065" y="54868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dirty="0"/>
                <a:t>CPU</a:t>
              </a:r>
            </a:p>
            <a:p>
              <a:pPr algn="ctr">
                <a:defRPr/>
              </a:pPr>
              <a:r>
                <a:rPr kumimoji="1"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15" name="正方形/長方形 14"/>
            <p:cNvSpPr/>
            <p:nvPr/>
          </p:nvSpPr>
          <p:spPr>
            <a:xfrm>
              <a:off x="2792760" y="55307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dirty="0"/>
                <a:t>CPU</a:t>
              </a:r>
            </a:p>
            <a:p>
              <a:pPr algn="ctr">
                <a:defRPr/>
              </a:pPr>
              <a:r>
                <a:rPr kumimoji="1"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16" name="正方形/長方形 15"/>
            <p:cNvSpPr/>
            <p:nvPr/>
          </p:nvSpPr>
          <p:spPr>
            <a:xfrm>
              <a:off x="2075065" y="127315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ja-JP" dirty="0"/>
                <a:t>CPU</a:t>
              </a:r>
              <a:br>
                <a:rPr lang="en-US" altLang="ja-JP" dirty="0"/>
              </a:br>
              <a:r>
                <a:rPr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17" name="正方形/長方形 16"/>
            <p:cNvSpPr/>
            <p:nvPr/>
          </p:nvSpPr>
          <p:spPr>
            <a:xfrm>
              <a:off x="2792760" y="127315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dirty="0"/>
                <a:t>CPU</a:t>
              </a:r>
            </a:p>
            <a:p>
              <a:pPr algn="ctr">
                <a:defRPr/>
              </a:pPr>
              <a:r>
                <a:rPr lang="en-US" altLang="ja-JP" dirty="0"/>
                <a:t>CORE</a:t>
              </a:r>
              <a:endParaRPr kumimoji="1" lang="ja-JP" altLang="en-US" dirty="0"/>
            </a:p>
          </p:txBody>
        </p:sp>
      </p:grpSp>
      <p:grpSp>
        <p:nvGrpSpPr>
          <p:cNvPr id="18" name="グループ化 17"/>
          <p:cNvGrpSpPr/>
          <p:nvPr/>
        </p:nvGrpSpPr>
        <p:grpSpPr>
          <a:xfrm>
            <a:off x="4953000" y="2708920"/>
            <a:ext cx="1437775" cy="1444550"/>
            <a:chOff x="2075065" y="548680"/>
            <a:chExt cx="1437775" cy="1444550"/>
          </a:xfrm>
        </p:grpSpPr>
        <p:sp>
          <p:nvSpPr>
            <p:cNvPr id="19" name="正方形/長方形 18"/>
            <p:cNvSpPr/>
            <p:nvPr/>
          </p:nvSpPr>
          <p:spPr>
            <a:xfrm>
              <a:off x="2075065" y="54868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dirty="0"/>
                <a:t>CPU</a:t>
              </a:r>
            </a:p>
            <a:p>
              <a:pPr algn="ctr">
                <a:defRPr/>
              </a:pPr>
              <a:r>
                <a:rPr kumimoji="1"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20" name="正方形/長方形 19"/>
            <p:cNvSpPr/>
            <p:nvPr/>
          </p:nvSpPr>
          <p:spPr>
            <a:xfrm>
              <a:off x="2792760" y="55307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dirty="0"/>
                <a:t>CPU</a:t>
              </a:r>
            </a:p>
            <a:p>
              <a:pPr algn="ctr">
                <a:defRPr/>
              </a:pPr>
              <a:r>
                <a:rPr kumimoji="1"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21" name="正方形/長方形 20"/>
            <p:cNvSpPr/>
            <p:nvPr/>
          </p:nvSpPr>
          <p:spPr>
            <a:xfrm>
              <a:off x="2075065" y="127315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altLang="ja-JP" dirty="0"/>
                <a:t>CPU</a:t>
              </a:r>
              <a:br>
                <a:rPr lang="en-US" altLang="ja-JP" dirty="0"/>
              </a:br>
              <a:r>
                <a:rPr lang="en-US" altLang="ja-JP" dirty="0"/>
                <a:t>CORE</a:t>
              </a:r>
              <a:endParaRPr kumimoji="1" lang="ja-JP" altLang="en-US" dirty="0"/>
            </a:p>
          </p:txBody>
        </p:sp>
        <p:sp>
          <p:nvSpPr>
            <p:cNvPr id="22" name="正方形/長方形 21"/>
            <p:cNvSpPr/>
            <p:nvPr/>
          </p:nvSpPr>
          <p:spPr>
            <a:xfrm>
              <a:off x="2792760" y="1273150"/>
              <a:ext cx="720080" cy="72008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dirty="0"/>
                <a:t>CPU</a:t>
              </a:r>
            </a:p>
            <a:p>
              <a:pPr algn="ctr">
                <a:defRPr/>
              </a:pPr>
              <a:r>
                <a:rPr lang="en-US" altLang="ja-JP" dirty="0"/>
                <a:t>CORE</a:t>
              </a:r>
              <a:endParaRPr kumimoji="1" lang="ja-JP" altLang="en-US" dirty="0"/>
            </a:p>
          </p:txBody>
        </p:sp>
      </p:grpSp>
      <p:sp>
        <p:nvSpPr>
          <p:cNvPr id="23" name="正方形/長方形 22"/>
          <p:cNvSpPr/>
          <p:nvPr/>
        </p:nvSpPr>
        <p:spPr>
          <a:xfrm>
            <a:off x="4232920" y="1124744"/>
            <a:ext cx="72008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/>
        </p:nvSpPr>
        <p:spPr>
          <a:xfrm>
            <a:off x="4232920" y="3289374"/>
            <a:ext cx="72008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/>
        </p:nvSpPr>
        <p:spPr>
          <a:xfrm rot="5400000">
            <a:off x="5313040" y="2214366"/>
            <a:ext cx="72008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/>
          <p:cNvSpPr/>
          <p:nvPr/>
        </p:nvSpPr>
        <p:spPr>
          <a:xfrm rot="5400000">
            <a:off x="3152800" y="2204864"/>
            <a:ext cx="72008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0" name="グループ化 29"/>
          <p:cNvGrpSpPr/>
          <p:nvPr/>
        </p:nvGrpSpPr>
        <p:grpSpPr>
          <a:xfrm>
            <a:off x="632520" y="548680"/>
            <a:ext cx="1440160" cy="1450622"/>
            <a:chOff x="632520" y="548680"/>
            <a:chExt cx="1440160" cy="1450622"/>
          </a:xfrm>
        </p:grpSpPr>
        <p:sp>
          <p:nvSpPr>
            <p:cNvPr id="28" name="正方形/長方形 27"/>
            <p:cNvSpPr/>
            <p:nvPr/>
          </p:nvSpPr>
          <p:spPr>
            <a:xfrm>
              <a:off x="632520" y="548680"/>
              <a:ext cx="1440160" cy="72958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sz="2400" dirty="0"/>
                <a:t>Memory</a:t>
              </a:r>
              <a:endParaRPr kumimoji="1" lang="ja-JP" altLang="en-US" sz="2400" dirty="0"/>
            </a:p>
          </p:txBody>
        </p:sp>
        <p:sp>
          <p:nvSpPr>
            <p:cNvPr id="29" name="正方形/長方形 28"/>
            <p:cNvSpPr/>
            <p:nvPr/>
          </p:nvSpPr>
          <p:spPr>
            <a:xfrm>
              <a:off x="632520" y="1278261"/>
              <a:ext cx="1440160" cy="72104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sz="2400" dirty="0"/>
                <a:t>Memory</a:t>
              </a:r>
              <a:endParaRPr kumimoji="1" lang="ja-JP" altLang="en-US" sz="2400" dirty="0"/>
            </a:p>
          </p:txBody>
        </p:sp>
      </p:grpSp>
      <p:grpSp>
        <p:nvGrpSpPr>
          <p:cNvPr id="31" name="グループ化 30"/>
          <p:cNvGrpSpPr/>
          <p:nvPr/>
        </p:nvGrpSpPr>
        <p:grpSpPr>
          <a:xfrm>
            <a:off x="632520" y="2693720"/>
            <a:ext cx="1440160" cy="1450622"/>
            <a:chOff x="632520" y="548680"/>
            <a:chExt cx="1440160" cy="1450622"/>
          </a:xfrm>
        </p:grpSpPr>
        <p:sp>
          <p:nvSpPr>
            <p:cNvPr id="32" name="正方形/長方形 31"/>
            <p:cNvSpPr/>
            <p:nvPr/>
          </p:nvSpPr>
          <p:spPr>
            <a:xfrm>
              <a:off x="632520" y="548680"/>
              <a:ext cx="1440160" cy="72958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sz="2400" dirty="0"/>
                <a:t>Memory</a:t>
              </a:r>
              <a:endParaRPr kumimoji="1" lang="ja-JP" altLang="en-US" sz="2400" dirty="0"/>
            </a:p>
          </p:txBody>
        </p:sp>
        <p:sp>
          <p:nvSpPr>
            <p:cNvPr id="33" name="正方形/長方形 32"/>
            <p:cNvSpPr/>
            <p:nvPr/>
          </p:nvSpPr>
          <p:spPr>
            <a:xfrm>
              <a:off x="632520" y="1278261"/>
              <a:ext cx="1440160" cy="72104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sz="2400" dirty="0"/>
                <a:t>Memory</a:t>
              </a:r>
              <a:endParaRPr kumimoji="1" lang="ja-JP" altLang="en-US" sz="2400" dirty="0"/>
            </a:p>
          </p:txBody>
        </p:sp>
      </p:grpSp>
      <p:grpSp>
        <p:nvGrpSpPr>
          <p:cNvPr id="34" name="グループ化 33"/>
          <p:cNvGrpSpPr/>
          <p:nvPr/>
        </p:nvGrpSpPr>
        <p:grpSpPr>
          <a:xfrm>
            <a:off x="7113240" y="558182"/>
            <a:ext cx="1440160" cy="1450622"/>
            <a:chOff x="632520" y="548680"/>
            <a:chExt cx="1440160" cy="1450622"/>
          </a:xfrm>
        </p:grpSpPr>
        <p:sp>
          <p:nvSpPr>
            <p:cNvPr id="35" name="正方形/長方形 34"/>
            <p:cNvSpPr/>
            <p:nvPr/>
          </p:nvSpPr>
          <p:spPr>
            <a:xfrm>
              <a:off x="632520" y="548680"/>
              <a:ext cx="1440160" cy="72958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sz="2400" dirty="0"/>
                <a:t>Memory</a:t>
              </a:r>
              <a:endParaRPr kumimoji="1" lang="ja-JP" altLang="en-US" sz="2400" dirty="0"/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632520" y="1278261"/>
              <a:ext cx="1440160" cy="72104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sz="2400" dirty="0"/>
                <a:t>Memory</a:t>
              </a:r>
              <a:endParaRPr kumimoji="1" lang="ja-JP" altLang="en-US" sz="2400" dirty="0"/>
            </a:p>
          </p:txBody>
        </p:sp>
      </p:grpSp>
      <p:grpSp>
        <p:nvGrpSpPr>
          <p:cNvPr id="37" name="グループ化 36"/>
          <p:cNvGrpSpPr/>
          <p:nvPr/>
        </p:nvGrpSpPr>
        <p:grpSpPr>
          <a:xfrm>
            <a:off x="7113240" y="2703222"/>
            <a:ext cx="1440160" cy="1450622"/>
            <a:chOff x="632520" y="548680"/>
            <a:chExt cx="1440160" cy="1450622"/>
          </a:xfrm>
        </p:grpSpPr>
        <p:sp>
          <p:nvSpPr>
            <p:cNvPr id="38" name="正方形/長方形 37"/>
            <p:cNvSpPr/>
            <p:nvPr/>
          </p:nvSpPr>
          <p:spPr>
            <a:xfrm>
              <a:off x="632520" y="548680"/>
              <a:ext cx="1440160" cy="729582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sz="2400" dirty="0"/>
                <a:t>Memory</a:t>
              </a:r>
              <a:endParaRPr kumimoji="1" lang="ja-JP" altLang="en-US" sz="2400" dirty="0"/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632520" y="1278261"/>
              <a:ext cx="1440160" cy="72104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1" lang="en-US" altLang="ja-JP" sz="2400" dirty="0"/>
                <a:t>Memory</a:t>
              </a:r>
              <a:endParaRPr kumimoji="1" lang="ja-JP" altLang="en-US" sz="2400" dirty="0"/>
            </a:p>
          </p:txBody>
        </p:sp>
      </p:grpSp>
      <p:sp>
        <p:nvSpPr>
          <p:cNvPr id="40" name="正方形/長方形 39"/>
          <p:cNvSpPr/>
          <p:nvPr/>
        </p:nvSpPr>
        <p:spPr>
          <a:xfrm>
            <a:off x="2072680" y="1052736"/>
            <a:ext cx="72246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/>
          <p:cNvSpPr/>
          <p:nvPr/>
        </p:nvSpPr>
        <p:spPr>
          <a:xfrm>
            <a:off x="2072681" y="3217366"/>
            <a:ext cx="72008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/>
          <p:cNvSpPr/>
          <p:nvPr/>
        </p:nvSpPr>
        <p:spPr>
          <a:xfrm>
            <a:off x="6390774" y="1042647"/>
            <a:ext cx="722465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/>
          <p:cNvSpPr/>
          <p:nvPr/>
        </p:nvSpPr>
        <p:spPr>
          <a:xfrm>
            <a:off x="6390775" y="3207277"/>
            <a:ext cx="72008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1188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Page walk for small pages">
            <a:extLst>
              <a:ext uri="{FF2B5EF4-FFF2-40B4-BE49-F238E27FC236}">
                <a16:creationId xmlns:a16="http://schemas.microsoft.com/office/drawing/2014/main" id="{4C41FBB6-FAB9-000F-D1BC-BF14F5096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412776"/>
            <a:ext cx="7429500" cy="377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607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Page walk for large pages">
            <a:extLst>
              <a:ext uri="{FF2B5EF4-FFF2-40B4-BE49-F238E27FC236}">
                <a16:creationId xmlns:a16="http://schemas.microsoft.com/office/drawing/2014/main" id="{908126D7-6DA6-A097-246C-04E68FCE2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280636"/>
            <a:ext cx="7429500" cy="429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44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67" y="4009281"/>
            <a:ext cx="2193032" cy="2006624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224" y="3971081"/>
            <a:ext cx="1944216" cy="1944216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168" y="2057329"/>
            <a:ext cx="2448272" cy="1947735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64" y="1850348"/>
            <a:ext cx="1674045" cy="1963689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728" y="1770689"/>
            <a:ext cx="1728192" cy="2113277"/>
          </a:xfrm>
          <a:prstGeom prst="rect">
            <a:avLst/>
          </a:prstGeom>
        </p:spPr>
      </p:pic>
      <p:sp>
        <p:nvSpPr>
          <p:cNvPr id="11" name="テキスト ボックス 10"/>
          <p:cNvSpPr txBox="1"/>
          <p:nvPr/>
        </p:nvSpPr>
        <p:spPr>
          <a:xfrm>
            <a:off x="335742" y="6089406"/>
            <a:ext cx="40318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最初に「楽そうだから」と思って</a:t>
            </a:r>
            <a:endParaRPr lang="en-US" altLang="ja-JP" sz="2000" dirty="0"/>
          </a:p>
          <a:p>
            <a:r>
              <a:rPr kumimoji="1" lang="ja-JP" altLang="en-US" sz="2000" dirty="0"/>
              <a:t>仕事を引き受けすぎると・・・</a:t>
            </a:r>
          </a:p>
        </p:txBody>
      </p:sp>
      <p:sp>
        <p:nvSpPr>
          <p:cNvPr id="12" name="角丸四角形吹き出し 11"/>
          <p:cNvSpPr/>
          <p:nvPr/>
        </p:nvSpPr>
        <p:spPr>
          <a:xfrm>
            <a:off x="3038834" y="908720"/>
            <a:ext cx="2160240" cy="592997"/>
          </a:xfrm>
          <a:prstGeom prst="wedgeRoundRectCallout">
            <a:avLst>
              <a:gd name="adj1" fmla="val -34706"/>
              <a:gd name="adj2" fmla="val 8974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solidFill>
                  <a:schemeClr val="tx1"/>
                </a:solidFill>
              </a:rPr>
              <a:t>これも</a:t>
            </a:r>
            <a:r>
              <a:rPr kumimoji="1" lang="ja-JP" altLang="en-US" sz="2000" dirty="0">
                <a:solidFill>
                  <a:schemeClr val="tx1"/>
                </a:solidFill>
              </a:rPr>
              <a:t>お願いね</a:t>
            </a:r>
          </a:p>
        </p:txBody>
      </p:sp>
      <p:sp>
        <p:nvSpPr>
          <p:cNvPr id="13" name="円形吹き出し 12"/>
          <p:cNvSpPr/>
          <p:nvPr/>
        </p:nvSpPr>
        <p:spPr>
          <a:xfrm>
            <a:off x="488504" y="692696"/>
            <a:ext cx="2130190" cy="936104"/>
          </a:xfrm>
          <a:prstGeom prst="wedgeEllipseCallout">
            <a:avLst>
              <a:gd name="adj1" fmla="val -19687"/>
              <a:gd name="adj2" fmla="val 6158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solidFill>
                  <a:schemeClr val="tx1"/>
                </a:solidFill>
              </a:rPr>
              <a:t>これ頼むよ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5" name="角丸四角形吹き出し 14"/>
          <p:cNvSpPr/>
          <p:nvPr/>
        </p:nvSpPr>
        <p:spPr>
          <a:xfrm>
            <a:off x="2618694" y="3984955"/>
            <a:ext cx="2160240" cy="592997"/>
          </a:xfrm>
          <a:prstGeom prst="wedgeRoundRectCallout">
            <a:avLst>
              <a:gd name="adj1" fmla="val -65162"/>
              <a:gd name="adj2" fmla="val 3521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 err="1">
                <a:solidFill>
                  <a:schemeClr val="tx1"/>
                </a:solidFill>
              </a:rPr>
              <a:t>いいっすよ</a:t>
            </a:r>
            <a:r>
              <a:rPr lang="ja-JP" altLang="en-US" sz="2000" dirty="0">
                <a:solidFill>
                  <a:schemeClr val="tx1"/>
                </a:solidFill>
              </a:rPr>
              <a:t>～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5745088" y="6089406"/>
            <a:ext cx="40318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いつの間にか「担当者」になって</a:t>
            </a:r>
            <a:endParaRPr kumimoji="1" lang="en-US" altLang="ja-JP" sz="2000" dirty="0"/>
          </a:p>
          <a:p>
            <a:r>
              <a:rPr lang="ja-JP" altLang="en-US" sz="2000" dirty="0"/>
              <a:t>大変なことに・・・</a:t>
            </a:r>
            <a:endParaRPr kumimoji="1" lang="ja-JP" altLang="en-US" sz="2000" dirty="0"/>
          </a:p>
        </p:txBody>
      </p:sp>
      <p:sp>
        <p:nvSpPr>
          <p:cNvPr id="17" name="角丸四角形吹き出し 16"/>
          <p:cNvSpPr/>
          <p:nvPr/>
        </p:nvSpPr>
        <p:spPr>
          <a:xfrm>
            <a:off x="6455732" y="847284"/>
            <a:ext cx="2744023" cy="849162"/>
          </a:xfrm>
          <a:prstGeom prst="wedgeRoundRectCallout">
            <a:avLst>
              <a:gd name="adj1" fmla="val -34706"/>
              <a:gd name="adj2" fmla="val 8974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dirty="0">
                <a:solidFill>
                  <a:schemeClr val="tx1"/>
                </a:solidFill>
              </a:rPr>
              <a:t>この件、君が</a:t>
            </a:r>
            <a:endParaRPr lang="en-US" altLang="ja-JP" sz="2000" dirty="0">
              <a:solidFill>
                <a:schemeClr val="tx1"/>
              </a:solidFill>
            </a:endParaRPr>
          </a:p>
          <a:p>
            <a:pPr algn="ctr"/>
            <a:r>
              <a:rPr lang="ja-JP" altLang="en-US" sz="2000" dirty="0">
                <a:solidFill>
                  <a:schemeClr val="tx1"/>
                </a:solidFill>
              </a:rPr>
              <a:t>担当って聞いたんで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8" name="右矢印 17"/>
          <p:cNvSpPr/>
          <p:nvPr/>
        </p:nvSpPr>
        <p:spPr>
          <a:xfrm>
            <a:off x="4953000" y="3506532"/>
            <a:ext cx="792088" cy="790781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727106" y="127008"/>
            <a:ext cx="469872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ファーストタッチの原則</a:t>
            </a:r>
          </a:p>
        </p:txBody>
      </p:sp>
    </p:spTree>
    <p:extLst>
      <p:ext uri="{BB962C8B-B14F-4D97-AF65-F5344CB8AC3E}">
        <p14:creationId xmlns:p14="http://schemas.microsoft.com/office/powerpoint/2010/main" val="3084154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67" y="4009281"/>
            <a:ext cx="2193032" cy="2006624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224" y="3971081"/>
            <a:ext cx="1944216" cy="1944216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168" y="2057329"/>
            <a:ext cx="2448272" cy="1947735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64" y="1850348"/>
            <a:ext cx="1674045" cy="1963689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728" y="1770689"/>
            <a:ext cx="1728192" cy="2113277"/>
          </a:xfrm>
          <a:prstGeom prst="rect">
            <a:avLst/>
          </a:prstGeom>
        </p:spPr>
      </p:pic>
      <p:sp>
        <p:nvSpPr>
          <p:cNvPr id="12" name="角丸四角形吹き出し 11"/>
          <p:cNvSpPr/>
          <p:nvPr/>
        </p:nvSpPr>
        <p:spPr>
          <a:xfrm>
            <a:off x="3038834" y="908720"/>
            <a:ext cx="2160240" cy="592997"/>
          </a:xfrm>
          <a:prstGeom prst="wedgeRoundRectCallout">
            <a:avLst>
              <a:gd name="adj1" fmla="val -34706"/>
              <a:gd name="adj2" fmla="val 8974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50"/>
            </a:pPr>
            <a:r>
              <a:rPr lang="ja-JP" altLang="en-US" sz="1650" dirty="0">
                <a:solidFill>
                  <a:schemeClr val="tx1"/>
                </a:solidFill>
              </a:rPr>
              <a:t>Please handle this too.</a:t>
            </a:r>
          </a:p>
        </p:txBody>
      </p:sp>
      <p:sp>
        <p:nvSpPr>
          <p:cNvPr id="13" name="円形吹き出し 12"/>
          <p:cNvSpPr/>
          <p:nvPr/>
        </p:nvSpPr>
        <p:spPr>
          <a:xfrm>
            <a:off x="488504" y="692696"/>
            <a:ext cx="2130190" cy="936104"/>
          </a:xfrm>
          <a:prstGeom prst="wedgeEllipseCallout">
            <a:avLst>
              <a:gd name="adj1" fmla="val -19687"/>
              <a:gd name="adj2" fmla="val 6158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2000" dirty="0">
                <a:solidFill>
                  <a:schemeClr val="tx1"/>
                </a:solidFill>
              </a:rPr>
              <a:t>Can you take care of this?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5" name="角丸四角形吹き出し 14"/>
          <p:cNvSpPr/>
          <p:nvPr/>
        </p:nvSpPr>
        <p:spPr>
          <a:xfrm>
            <a:off x="2618694" y="3984955"/>
            <a:ext cx="2160240" cy="592997"/>
          </a:xfrm>
          <a:prstGeom prst="wedgeRoundRectCallout">
            <a:avLst>
              <a:gd name="adj1" fmla="val -65162"/>
              <a:gd name="adj2" fmla="val 35213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kumimoji="1" lang="ja-JP" altLang="en-US" sz="2000">
                <a:solidFill>
                  <a:schemeClr val="tx1"/>
                </a:solidFill>
              </a:rPr>
              <a:t>Sure</a:t>
            </a:r>
            <a:r>
              <a:rPr kumimoji="1" lang="en-US" altLang="ja-JP" sz="2000" dirty="0">
                <a:solidFill>
                  <a:schemeClr val="tx1"/>
                </a:solidFill>
              </a:rPr>
              <a:t>!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7" name="角丸四角形吹き出し 16"/>
          <p:cNvSpPr/>
          <p:nvPr/>
        </p:nvSpPr>
        <p:spPr>
          <a:xfrm>
            <a:off x="6455732" y="847284"/>
            <a:ext cx="2744023" cy="849162"/>
          </a:xfrm>
          <a:prstGeom prst="wedgeRoundRectCallout">
            <a:avLst>
              <a:gd name="adj1" fmla="val -34706"/>
              <a:gd name="adj2" fmla="val 8974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50"/>
            </a:pPr>
            <a:r>
              <a:rPr lang="ja-JP" altLang="en-US" sz="1650" dirty="0">
                <a:solidFill>
                  <a:schemeClr val="tx1"/>
                </a:solidFill>
              </a:rPr>
              <a:t>I heard you're in charge</a:t>
            </a:r>
            <a:endParaRPr lang="en-US" altLang="ja-JP" sz="2000" dirty="0">
              <a:solidFill>
                <a:schemeClr val="tx1"/>
              </a:solidFill>
            </a:endParaRPr>
          </a:p>
          <a:p>
            <a:pPr algn="ctr">
              <a:defRPr sz="1650"/>
            </a:pPr>
            <a:r>
              <a:rPr lang="ja-JP" altLang="en-US" sz="1650" dirty="0">
                <a:solidFill>
                  <a:schemeClr val="tx1"/>
                </a:solidFill>
              </a:rPr>
              <a:t>of this.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18" name="右矢印 17"/>
          <p:cNvSpPr/>
          <p:nvPr/>
        </p:nvSpPr>
        <p:spPr>
          <a:xfrm>
            <a:off x="4953000" y="3506532"/>
            <a:ext cx="792088" cy="790781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3480013" y="107921"/>
            <a:ext cx="294597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/>
          <a:lstStyle/>
          <a:p>
            <a:pPr algn="ctr">
              <a:defRPr sz="2900"/>
            </a:pPr>
            <a:r>
              <a:rPr kumimoji="1" lang="ja-JP" altLang="en-US" sz="2900" dirty="0"/>
              <a:t>First-touch policy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1853457-179E-9FEC-B5E7-98CB612FB765}"/>
              </a:ext>
            </a:extLst>
          </p:cNvPr>
          <p:cNvSpPr txBox="1"/>
          <p:nvPr/>
        </p:nvSpPr>
        <p:spPr>
          <a:xfrm>
            <a:off x="5532199" y="6007165"/>
            <a:ext cx="42475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Before you know it, you become</a:t>
            </a:r>
            <a:r>
              <a:rPr lang="en-US" altLang="ja-JP" dirty="0"/>
              <a:t> </a:t>
            </a:r>
            <a:r>
              <a:rPr lang="ja-JP" altLang="en-US"/>
              <a:t>"the person in charge" and things get painful...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27FB147-5A2E-D01D-B4DD-C3EE5C68DF4B}"/>
              </a:ext>
            </a:extLst>
          </p:cNvPr>
          <p:cNvSpPr txBox="1"/>
          <p:nvPr/>
        </p:nvSpPr>
        <p:spPr>
          <a:xfrm>
            <a:off x="534664" y="6007165"/>
            <a:ext cx="37047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If you accept too much work at first</a:t>
            </a:r>
            <a:r>
              <a:rPr lang="en-US" altLang="ja-JP" dirty="0"/>
              <a:t> </a:t>
            </a:r>
            <a:r>
              <a:rPr lang="ja-JP" altLang="en-US"/>
              <a:t>because it looks easy...</a:t>
            </a:r>
          </a:p>
        </p:txBody>
      </p:sp>
    </p:spTree>
    <p:extLst>
      <p:ext uri="{BB962C8B-B14F-4D97-AF65-F5344CB8AC3E}">
        <p14:creationId xmlns:p14="http://schemas.microsoft.com/office/powerpoint/2010/main" val="3084154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E72C49AB-44CB-F74E-9F08-ACE909D73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960" y="1052736"/>
            <a:ext cx="4064000" cy="3048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3B0E9ACC-C7CD-FD48-A0CB-FEF5F5402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80" y="980728"/>
            <a:ext cx="4064000" cy="30480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45E13D4-EBB9-FD46-8DCD-4F203EF8875D}"/>
              </a:ext>
            </a:extLst>
          </p:cNvPr>
          <p:cNvSpPr txBox="1"/>
          <p:nvPr/>
        </p:nvSpPr>
        <p:spPr>
          <a:xfrm>
            <a:off x="1928664" y="188640"/>
            <a:ext cx="5729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シングルノード</a:t>
            </a:r>
            <a:r>
              <a:rPr kumimoji="1" lang="en-US" altLang="ja-JP"/>
              <a:t>(12</a:t>
            </a:r>
            <a:r>
              <a:rPr kumimoji="1" lang="ja-JP" altLang="en-US"/>
              <a:t>コア</a:t>
            </a:r>
            <a:r>
              <a:rPr lang="en-US" altLang="ja-JP"/>
              <a:t> x 2</a:t>
            </a:r>
            <a:r>
              <a:rPr lang="ja-JP" altLang="en-US"/>
              <a:t>ソケット</a:t>
            </a:r>
            <a:r>
              <a:rPr lang="en-US" altLang="ja-JP"/>
              <a:t>)</a:t>
            </a:r>
            <a:r>
              <a:rPr lang="ja-JP" altLang="en-US"/>
              <a:t>でのスケーリング</a:t>
            </a:r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5E7FE39-4188-A945-951F-59A75AF5A6A7}"/>
              </a:ext>
            </a:extLst>
          </p:cNvPr>
          <p:cNvSpPr txBox="1"/>
          <p:nvPr/>
        </p:nvSpPr>
        <p:spPr>
          <a:xfrm>
            <a:off x="1928664" y="69269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実行時間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20085AF-BAB7-B043-B964-5B3833EBB4B4}"/>
              </a:ext>
            </a:extLst>
          </p:cNvPr>
          <p:cNvSpPr txBox="1"/>
          <p:nvPr/>
        </p:nvSpPr>
        <p:spPr>
          <a:xfrm>
            <a:off x="6105128" y="69269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並列化効率</a:t>
            </a:r>
          </a:p>
        </p:txBody>
      </p:sp>
    </p:spTree>
    <p:extLst>
      <p:ext uri="{BB962C8B-B14F-4D97-AF65-F5344CB8AC3E}">
        <p14:creationId xmlns:p14="http://schemas.microsoft.com/office/powerpoint/2010/main" val="5540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E72C49AB-44CB-F74E-9F08-ACE909D73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960" y="1052736"/>
            <a:ext cx="4064000" cy="30480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3B0E9ACC-C7CD-FD48-A0CB-FEF5F5402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80" y="980728"/>
            <a:ext cx="4064000" cy="30480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45E13D4-EBB9-FD46-8DCD-4F203EF8875D}"/>
              </a:ext>
            </a:extLst>
          </p:cNvPr>
          <p:cNvSpPr txBox="1"/>
          <p:nvPr/>
        </p:nvSpPr>
        <p:spPr>
          <a:xfrm>
            <a:off x="1928664" y="188640"/>
            <a:ext cx="5729454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defRPr sz="1750"/>
            </a:pPr>
            <a:r>
              <a:rPr kumimoji="1" lang="ja-JP" altLang="en-US" sz="1750"/>
              <a:t>Scaling on a single node (12 cores x 2 sockets)</a:t>
            </a:r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5E7FE39-4188-A945-951F-59A75AF5A6A7}"/>
              </a:ext>
            </a:extLst>
          </p:cNvPr>
          <p:cNvSpPr txBox="1"/>
          <p:nvPr/>
        </p:nvSpPr>
        <p:spPr>
          <a:xfrm>
            <a:off x="1352600" y="692696"/>
            <a:ext cx="1684060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kumimoji="1" lang="ja-JP" altLang="en-US"/>
              <a:t>Execution time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20085AF-BAB7-B043-B964-5B3833EBB4B4}"/>
              </a:ext>
            </a:extLst>
          </p:cNvPr>
          <p:cNvSpPr txBox="1"/>
          <p:nvPr/>
        </p:nvSpPr>
        <p:spPr>
          <a:xfrm>
            <a:off x="6105128" y="692696"/>
            <a:ext cx="1872208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defRPr/>
            </a:pPr>
            <a:r>
              <a:rPr kumimoji="1" lang="ja-JP" altLang="en-US"/>
              <a:t>Parallel efficiency</a:t>
            </a:r>
          </a:p>
        </p:txBody>
      </p:sp>
    </p:spTree>
    <p:extLst>
      <p:ext uri="{BB962C8B-B14F-4D97-AF65-F5344CB8AC3E}">
        <p14:creationId xmlns:p14="http://schemas.microsoft.com/office/powerpoint/2010/main" val="5540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</TotalTime>
  <Words>233</Words>
  <Application>Microsoft Macintosh PowerPoint</Application>
  <PresentationFormat>A4 210 x 297 mm</PresentationFormat>
  <Paragraphs>96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游ゴシック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Office ユーザー</dc:creator>
  <cp:lastModifiedBy>渡辺 宙志</cp:lastModifiedBy>
  <cp:revision>96</cp:revision>
  <dcterms:created xsi:type="dcterms:W3CDTF">2018-10-07T01:32:06Z</dcterms:created>
  <dcterms:modified xsi:type="dcterms:W3CDTF">2026-08-07T07:46:47Z</dcterms:modified>
</cp:coreProperties>
</file>