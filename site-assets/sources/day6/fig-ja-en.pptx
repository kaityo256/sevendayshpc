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"/>
  </p:notesMasterIdLst>
  <p:sldIdLst>
    <p:sldId id="256" r:id="rId2"/>
    <p:sldId id="259" r:id="rId3"/>
    <p:sldId id="257" r:id="rId4"/>
    <p:sldId id="260" r:id="rId5"/>
    <p:sldId id="263" r:id="rId6"/>
    <p:sldId id="262" r:id="rId7"/>
    <p:sldId id="264" r:id="rId8"/>
    <p:sldId id="265" r:id="rId9"/>
    <p:sldId id="258" r:id="rId10"/>
    <p:sldId id="261" r:id="rId11"/>
  </p:sldIdLst>
  <p:sldSz cx="9906000" cy="6858000" type="A4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81"/>
    <p:restoredTop sz="94668"/>
  </p:normalViewPr>
  <p:slideViewPr>
    <p:cSldViewPr snapToObjects="1">
      <p:cViewPr>
        <p:scale>
          <a:sx n="150" d="100"/>
          <a:sy n="150" d="100"/>
        </p:scale>
        <p:origin x="56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Objects="1">
      <p:cViewPr varScale="1">
        <p:scale>
          <a:sx n="95" d="100"/>
          <a:sy n="95" d="100"/>
        </p:scale>
        <p:origin x="3064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4B1B89-6D29-7849-8E65-921CEBC6CA4C}" type="datetimeFigureOut">
              <a:t>2026/8/7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84BB1-ECD9-1F46-AC5B-E21A5EADE982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6503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5226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1458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tiff"/><Relationship Id="rId2" Type="http://schemas.openxmlformats.org/officeDocument/2006/relationships/image" Target="../media/image8.tiff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tiff"/><Relationship Id="rId2" Type="http://schemas.openxmlformats.org/officeDocument/2006/relationships/image" Target="../media/image8.tif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/>
          <p:cNvGrpSpPr/>
          <p:nvPr/>
        </p:nvGrpSpPr>
        <p:grpSpPr>
          <a:xfrm>
            <a:off x="2792760" y="2708920"/>
            <a:ext cx="1437775" cy="1444550"/>
            <a:chOff x="2075065" y="548680"/>
            <a:chExt cx="1437775" cy="1444550"/>
          </a:xfrm>
        </p:grpSpPr>
        <p:sp>
          <p:nvSpPr>
            <p:cNvPr id="3" name="正方形/長方形 2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4" name="正方形/長方形 3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5" name="正方形/長方形 4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6" name="正方形/長方形 5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grpSp>
        <p:nvGrpSpPr>
          <p:cNvPr id="8" name="グループ化 7"/>
          <p:cNvGrpSpPr/>
          <p:nvPr/>
        </p:nvGrpSpPr>
        <p:grpSpPr>
          <a:xfrm>
            <a:off x="4953000" y="553792"/>
            <a:ext cx="1437775" cy="1444550"/>
            <a:chOff x="2075065" y="548680"/>
            <a:chExt cx="1437775" cy="1444550"/>
          </a:xfrm>
        </p:grpSpPr>
        <p:sp>
          <p:nvSpPr>
            <p:cNvPr id="9" name="正方形/長方形 8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0" name="正方形/長方形 9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1" name="正方形/長方形 10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2" name="正方形/長方形 11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grpSp>
        <p:nvGrpSpPr>
          <p:cNvPr id="13" name="グループ化 12"/>
          <p:cNvGrpSpPr/>
          <p:nvPr/>
        </p:nvGrpSpPr>
        <p:grpSpPr>
          <a:xfrm>
            <a:off x="2795145" y="548680"/>
            <a:ext cx="1437775" cy="1444550"/>
            <a:chOff x="2075065" y="548680"/>
            <a:chExt cx="1437775" cy="1444550"/>
          </a:xfrm>
        </p:grpSpPr>
        <p:sp>
          <p:nvSpPr>
            <p:cNvPr id="14" name="正方形/長方形 13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5" name="正方形/長方形 14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6" name="正方形/長方形 15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7" name="正方形/長方形 16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grpSp>
        <p:nvGrpSpPr>
          <p:cNvPr id="18" name="グループ化 17"/>
          <p:cNvGrpSpPr/>
          <p:nvPr/>
        </p:nvGrpSpPr>
        <p:grpSpPr>
          <a:xfrm>
            <a:off x="4953000" y="2708920"/>
            <a:ext cx="1437775" cy="1444550"/>
            <a:chOff x="2075065" y="548680"/>
            <a:chExt cx="1437775" cy="1444550"/>
          </a:xfrm>
        </p:grpSpPr>
        <p:sp>
          <p:nvSpPr>
            <p:cNvPr id="19" name="正方形/長方形 18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20" name="正方形/長方形 19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21" name="正方形/長方形 20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22" name="正方形/長方形 21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sp>
        <p:nvSpPr>
          <p:cNvPr id="23" name="正方形/長方形 22"/>
          <p:cNvSpPr/>
          <p:nvPr/>
        </p:nvSpPr>
        <p:spPr>
          <a:xfrm>
            <a:off x="4232920" y="1124744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/>
          <p:cNvSpPr/>
          <p:nvPr/>
        </p:nvSpPr>
        <p:spPr>
          <a:xfrm>
            <a:off x="4232920" y="3289374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/>
          <p:cNvSpPr/>
          <p:nvPr/>
        </p:nvSpPr>
        <p:spPr>
          <a:xfrm rot="5400000">
            <a:off x="5313040" y="2214366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/>
          <p:cNvSpPr/>
          <p:nvPr/>
        </p:nvSpPr>
        <p:spPr>
          <a:xfrm rot="5400000">
            <a:off x="3152800" y="2204864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0" name="グループ化 29"/>
          <p:cNvGrpSpPr/>
          <p:nvPr/>
        </p:nvGrpSpPr>
        <p:grpSpPr>
          <a:xfrm>
            <a:off x="632520" y="548680"/>
            <a:ext cx="1440160" cy="1450622"/>
            <a:chOff x="632520" y="548680"/>
            <a:chExt cx="1440160" cy="1450622"/>
          </a:xfrm>
        </p:grpSpPr>
        <p:sp>
          <p:nvSpPr>
            <p:cNvPr id="28" name="正方形/長方形 27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29" name="正方形/長方形 28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grpSp>
        <p:nvGrpSpPr>
          <p:cNvPr id="31" name="グループ化 30"/>
          <p:cNvGrpSpPr/>
          <p:nvPr/>
        </p:nvGrpSpPr>
        <p:grpSpPr>
          <a:xfrm>
            <a:off x="632520" y="2693720"/>
            <a:ext cx="1440160" cy="1450622"/>
            <a:chOff x="632520" y="548680"/>
            <a:chExt cx="1440160" cy="1450622"/>
          </a:xfrm>
        </p:grpSpPr>
        <p:sp>
          <p:nvSpPr>
            <p:cNvPr id="32" name="正方形/長方形 31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33" name="正方形/長方形 32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grpSp>
        <p:nvGrpSpPr>
          <p:cNvPr id="34" name="グループ化 33"/>
          <p:cNvGrpSpPr/>
          <p:nvPr/>
        </p:nvGrpSpPr>
        <p:grpSpPr>
          <a:xfrm>
            <a:off x="7113240" y="558182"/>
            <a:ext cx="1440160" cy="1450622"/>
            <a:chOff x="632520" y="548680"/>
            <a:chExt cx="1440160" cy="1450622"/>
          </a:xfrm>
        </p:grpSpPr>
        <p:sp>
          <p:nvSpPr>
            <p:cNvPr id="35" name="正方形/長方形 34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36" name="正方形/長方形 35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grpSp>
        <p:nvGrpSpPr>
          <p:cNvPr id="37" name="グループ化 36"/>
          <p:cNvGrpSpPr/>
          <p:nvPr/>
        </p:nvGrpSpPr>
        <p:grpSpPr>
          <a:xfrm>
            <a:off x="7113240" y="2703222"/>
            <a:ext cx="1440160" cy="1450622"/>
            <a:chOff x="632520" y="548680"/>
            <a:chExt cx="1440160" cy="1450622"/>
          </a:xfrm>
        </p:grpSpPr>
        <p:sp>
          <p:nvSpPr>
            <p:cNvPr id="38" name="正方形/長方形 37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39" name="正方形/長方形 38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sp>
        <p:nvSpPr>
          <p:cNvPr id="40" name="正方形/長方形 39"/>
          <p:cNvSpPr/>
          <p:nvPr/>
        </p:nvSpPr>
        <p:spPr>
          <a:xfrm>
            <a:off x="2072680" y="1052736"/>
            <a:ext cx="722465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/>
          <p:cNvSpPr/>
          <p:nvPr/>
        </p:nvSpPr>
        <p:spPr>
          <a:xfrm>
            <a:off x="2072681" y="3217366"/>
            <a:ext cx="720080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正方形/長方形 41"/>
          <p:cNvSpPr/>
          <p:nvPr/>
        </p:nvSpPr>
        <p:spPr>
          <a:xfrm>
            <a:off x="6390774" y="1042647"/>
            <a:ext cx="722465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正方形/長方形 42"/>
          <p:cNvSpPr/>
          <p:nvPr/>
        </p:nvSpPr>
        <p:spPr>
          <a:xfrm>
            <a:off x="6390775" y="3207277"/>
            <a:ext cx="720080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11885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/>
          <p:cNvGrpSpPr/>
          <p:nvPr/>
        </p:nvGrpSpPr>
        <p:grpSpPr>
          <a:xfrm>
            <a:off x="2792760" y="2708920"/>
            <a:ext cx="1437775" cy="1444550"/>
            <a:chOff x="2075065" y="548680"/>
            <a:chExt cx="1437775" cy="1444550"/>
          </a:xfrm>
        </p:grpSpPr>
        <p:sp>
          <p:nvSpPr>
            <p:cNvPr id="3" name="正方形/長方形 2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4" name="正方形/長方形 3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5" name="正方形/長方形 4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6" name="正方形/長方形 5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grpSp>
        <p:nvGrpSpPr>
          <p:cNvPr id="8" name="グループ化 7"/>
          <p:cNvGrpSpPr/>
          <p:nvPr/>
        </p:nvGrpSpPr>
        <p:grpSpPr>
          <a:xfrm>
            <a:off x="4953000" y="553792"/>
            <a:ext cx="1437775" cy="1444550"/>
            <a:chOff x="2075065" y="548680"/>
            <a:chExt cx="1437775" cy="1444550"/>
          </a:xfrm>
        </p:grpSpPr>
        <p:sp>
          <p:nvSpPr>
            <p:cNvPr id="9" name="正方形/長方形 8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0" name="正方形/長方形 9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1" name="正方形/長方形 10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2" name="正方形/長方形 11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grpSp>
        <p:nvGrpSpPr>
          <p:cNvPr id="13" name="グループ化 12"/>
          <p:cNvGrpSpPr/>
          <p:nvPr/>
        </p:nvGrpSpPr>
        <p:grpSpPr>
          <a:xfrm>
            <a:off x="2795145" y="548680"/>
            <a:ext cx="1437775" cy="1444550"/>
            <a:chOff x="2075065" y="548680"/>
            <a:chExt cx="1437775" cy="1444550"/>
          </a:xfrm>
        </p:grpSpPr>
        <p:sp>
          <p:nvSpPr>
            <p:cNvPr id="14" name="正方形/長方形 13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5" name="正方形/長方形 14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6" name="正方形/長方形 15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7" name="正方形/長方形 16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grpSp>
        <p:nvGrpSpPr>
          <p:cNvPr id="18" name="グループ化 17"/>
          <p:cNvGrpSpPr/>
          <p:nvPr/>
        </p:nvGrpSpPr>
        <p:grpSpPr>
          <a:xfrm>
            <a:off x="4953000" y="2708920"/>
            <a:ext cx="1437775" cy="1444550"/>
            <a:chOff x="2075065" y="548680"/>
            <a:chExt cx="1437775" cy="1444550"/>
          </a:xfrm>
        </p:grpSpPr>
        <p:sp>
          <p:nvSpPr>
            <p:cNvPr id="19" name="正方形/長方形 18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20" name="正方形/長方形 19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21" name="正方形/長方形 20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22" name="正方形/長方形 21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sp>
        <p:nvSpPr>
          <p:cNvPr id="23" name="正方形/長方形 22"/>
          <p:cNvSpPr/>
          <p:nvPr/>
        </p:nvSpPr>
        <p:spPr>
          <a:xfrm>
            <a:off x="4232920" y="1124744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/>
          <p:cNvSpPr/>
          <p:nvPr/>
        </p:nvSpPr>
        <p:spPr>
          <a:xfrm>
            <a:off x="4232920" y="3289374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/>
          <p:cNvSpPr/>
          <p:nvPr/>
        </p:nvSpPr>
        <p:spPr>
          <a:xfrm rot="5400000">
            <a:off x="5313040" y="2214366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/>
          <p:cNvSpPr/>
          <p:nvPr/>
        </p:nvSpPr>
        <p:spPr>
          <a:xfrm rot="5400000">
            <a:off x="3152800" y="2204864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0" name="グループ化 29"/>
          <p:cNvGrpSpPr/>
          <p:nvPr/>
        </p:nvGrpSpPr>
        <p:grpSpPr>
          <a:xfrm>
            <a:off x="632520" y="548680"/>
            <a:ext cx="1440160" cy="1450622"/>
            <a:chOff x="632520" y="548680"/>
            <a:chExt cx="1440160" cy="1450622"/>
          </a:xfrm>
        </p:grpSpPr>
        <p:sp>
          <p:nvSpPr>
            <p:cNvPr id="28" name="正方形/長方形 27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29" name="正方形/長方形 28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grpSp>
        <p:nvGrpSpPr>
          <p:cNvPr id="31" name="グループ化 30"/>
          <p:cNvGrpSpPr/>
          <p:nvPr/>
        </p:nvGrpSpPr>
        <p:grpSpPr>
          <a:xfrm>
            <a:off x="632520" y="2693720"/>
            <a:ext cx="1440160" cy="1450622"/>
            <a:chOff x="632520" y="548680"/>
            <a:chExt cx="1440160" cy="1450622"/>
          </a:xfrm>
        </p:grpSpPr>
        <p:sp>
          <p:nvSpPr>
            <p:cNvPr id="32" name="正方形/長方形 31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33" name="正方形/長方形 32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grpSp>
        <p:nvGrpSpPr>
          <p:cNvPr id="34" name="グループ化 33"/>
          <p:cNvGrpSpPr/>
          <p:nvPr/>
        </p:nvGrpSpPr>
        <p:grpSpPr>
          <a:xfrm>
            <a:off x="7113240" y="558182"/>
            <a:ext cx="1440160" cy="1450622"/>
            <a:chOff x="632520" y="548680"/>
            <a:chExt cx="1440160" cy="1450622"/>
          </a:xfrm>
        </p:grpSpPr>
        <p:sp>
          <p:nvSpPr>
            <p:cNvPr id="35" name="正方形/長方形 34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36" name="正方形/長方形 35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grpSp>
        <p:nvGrpSpPr>
          <p:cNvPr id="37" name="グループ化 36"/>
          <p:cNvGrpSpPr/>
          <p:nvPr/>
        </p:nvGrpSpPr>
        <p:grpSpPr>
          <a:xfrm>
            <a:off x="7113240" y="2703222"/>
            <a:ext cx="1440160" cy="1450622"/>
            <a:chOff x="632520" y="548680"/>
            <a:chExt cx="1440160" cy="1450622"/>
          </a:xfrm>
        </p:grpSpPr>
        <p:sp>
          <p:nvSpPr>
            <p:cNvPr id="38" name="正方形/長方形 37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39" name="正方形/長方形 38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sp>
        <p:nvSpPr>
          <p:cNvPr id="40" name="正方形/長方形 39"/>
          <p:cNvSpPr/>
          <p:nvPr/>
        </p:nvSpPr>
        <p:spPr>
          <a:xfrm>
            <a:off x="2072680" y="1052736"/>
            <a:ext cx="722465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/>
          <p:cNvSpPr/>
          <p:nvPr/>
        </p:nvSpPr>
        <p:spPr>
          <a:xfrm>
            <a:off x="2072681" y="3217366"/>
            <a:ext cx="720080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正方形/長方形 41"/>
          <p:cNvSpPr/>
          <p:nvPr/>
        </p:nvSpPr>
        <p:spPr>
          <a:xfrm>
            <a:off x="6390774" y="1042647"/>
            <a:ext cx="722465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正方形/長方形 42"/>
          <p:cNvSpPr/>
          <p:nvPr/>
        </p:nvSpPr>
        <p:spPr>
          <a:xfrm>
            <a:off x="6390775" y="3207277"/>
            <a:ext cx="720080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1188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367" y="4009281"/>
            <a:ext cx="2193032" cy="2006624"/>
          </a:xfrm>
          <a:prstGeom prst="rect">
            <a:avLst/>
          </a:prstGeom>
        </p:spPr>
      </p:pic>
      <p:pic>
        <p:nvPicPr>
          <p:cNvPr id="3" name="図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9224" y="3971081"/>
            <a:ext cx="1944216" cy="1944216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5168" y="2057329"/>
            <a:ext cx="2448272" cy="1947735"/>
          </a:xfrm>
          <a:prstGeom prst="rect">
            <a:avLst/>
          </a:prstGeom>
        </p:spPr>
      </p:pic>
      <p:pic>
        <p:nvPicPr>
          <p:cNvPr id="8" name="図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464" y="1850348"/>
            <a:ext cx="1674045" cy="1963689"/>
          </a:xfrm>
          <a:prstGeom prst="rect">
            <a:avLst/>
          </a:prstGeom>
        </p:spPr>
      </p:pic>
      <p:pic>
        <p:nvPicPr>
          <p:cNvPr id="10" name="図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4728" y="1770689"/>
            <a:ext cx="1728192" cy="2113277"/>
          </a:xfrm>
          <a:prstGeom prst="rect">
            <a:avLst/>
          </a:prstGeom>
        </p:spPr>
      </p:pic>
      <p:sp>
        <p:nvSpPr>
          <p:cNvPr id="11" name="テキスト ボックス 10"/>
          <p:cNvSpPr txBox="1"/>
          <p:nvPr/>
        </p:nvSpPr>
        <p:spPr>
          <a:xfrm>
            <a:off x="335742" y="6089406"/>
            <a:ext cx="40318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dirty="0"/>
              <a:t>最初に「楽そうだから」と思って</a:t>
            </a:r>
            <a:endParaRPr lang="en-US" altLang="ja-JP" sz="2000" dirty="0"/>
          </a:p>
          <a:p>
            <a:r>
              <a:rPr kumimoji="1" lang="ja-JP" altLang="en-US" sz="2000" dirty="0"/>
              <a:t>仕事を引き受けすぎると・・・</a:t>
            </a:r>
          </a:p>
        </p:txBody>
      </p:sp>
      <p:sp>
        <p:nvSpPr>
          <p:cNvPr id="12" name="角丸四角形吹き出し 11"/>
          <p:cNvSpPr/>
          <p:nvPr/>
        </p:nvSpPr>
        <p:spPr>
          <a:xfrm>
            <a:off x="3038834" y="908720"/>
            <a:ext cx="2160240" cy="592997"/>
          </a:xfrm>
          <a:prstGeom prst="wedgeRoundRectCallout">
            <a:avLst>
              <a:gd name="adj1" fmla="val -34706"/>
              <a:gd name="adj2" fmla="val 89748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これも</a:t>
            </a:r>
            <a:r>
              <a:rPr kumimoji="1" lang="ja-JP" altLang="en-US" sz="2000" dirty="0">
                <a:solidFill>
                  <a:schemeClr val="tx1"/>
                </a:solidFill>
              </a:rPr>
              <a:t>お願いね</a:t>
            </a:r>
          </a:p>
        </p:txBody>
      </p:sp>
      <p:sp>
        <p:nvSpPr>
          <p:cNvPr id="13" name="円形吹き出し 12"/>
          <p:cNvSpPr/>
          <p:nvPr/>
        </p:nvSpPr>
        <p:spPr>
          <a:xfrm>
            <a:off x="488504" y="692696"/>
            <a:ext cx="2130190" cy="936104"/>
          </a:xfrm>
          <a:prstGeom prst="wedgeEllipseCallout">
            <a:avLst>
              <a:gd name="adj1" fmla="val -19687"/>
              <a:gd name="adj2" fmla="val 61589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これ頼むよ</a:t>
            </a:r>
            <a:endParaRPr kumimoji="1" lang="ja-JP" altLang="en-US" sz="2000" dirty="0">
              <a:solidFill>
                <a:schemeClr val="tx1"/>
              </a:solidFill>
            </a:endParaRPr>
          </a:p>
        </p:txBody>
      </p:sp>
      <p:sp>
        <p:nvSpPr>
          <p:cNvPr id="15" name="角丸四角形吹き出し 14"/>
          <p:cNvSpPr/>
          <p:nvPr/>
        </p:nvSpPr>
        <p:spPr>
          <a:xfrm>
            <a:off x="2618694" y="3984955"/>
            <a:ext cx="2160240" cy="592997"/>
          </a:xfrm>
          <a:prstGeom prst="wedgeRoundRectCallout">
            <a:avLst>
              <a:gd name="adj1" fmla="val -65162"/>
              <a:gd name="adj2" fmla="val 35213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 err="1">
                <a:solidFill>
                  <a:schemeClr val="tx1"/>
                </a:solidFill>
              </a:rPr>
              <a:t>いいっすよ</a:t>
            </a:r>
            <a:r>
              <a:rPr lang="ja-JP" altLang="en-US" sz="2000" dirty="0">
                <a:solidFill>
                  <a:schemeClr val="tx1"/>
                </a:solidFill>
              </a:rPr>
              <a:t>～</a:t>
            </a:r>
            <a:endParaRPr kumimoji="1" lang="ja-JP" altLang="en-US" sz="2000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5745088" y="6089406"/>
            <a:ext cx="40318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いつの間にか「担当者」になって</a:t>
            </a:r>
            <a:endParaRPr kumimoji="1" lang="en-US" altLang="ja-JP" sz="2000" dirty="0"/>
          </a:p>
          <a:p>
            <a:r>
              <a:rPr lang="ja-JP" altLang="en-US" sz="2000" dirty="0"/>
              <a:t>大変なことに・・・</a:t>
            </a:r>
            <a:endParaRPr kumimoji="1" lang="ja-JP" altLang="en-US" sz="2000" dirty="0"/>
          </a:p>
        </p:txBody>
      </p:sp>
      <p:sp>
        <p:nvSpPr>
          <p:cNvPr id="17" name="角丸四角形吹き出し 16"/>
          <p:cNvSpPr/>
          <p:nvPr/>
        </p:nvSpPr>
        <p:spPr>
          <a:xfrm>
            <a:off x="6455732" y="847284"/>
            <a:ext cx="2744023" cy="849162"/>
          </a:xfrm>
          <a:prstGeom prst="wedgeRoundRectCallout">
            <a:avLst>
              <a:gd name="adj1" fmla="val -34706"/>
              <a:gd name="adj2" fmla="val 89748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この件、君が</a:t>
            </a:r>
            <a:endParaRPr lang="en-US" altLang="ja-JP" sz="2000" dirty="0">
              <a:solidFill>
                <a:schemeClr val="tx1"/>
              </a:solidFill>
            </a:endParaRPr>
          </a:p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担当って聞いたんで</a:t>
            </a:r>
            <a:endParaRPr kumimoji="1" lang="ja-JP" altLang="en-US" sz="2000" dirty="0">
              <a:solidFill>
                <a:schemeClr val="tx1"/>
              </a:solidFill>
            </a:endParaRPr>
          </a:p>
        </p:txBody>
      </p:sp>
      <p:sp>
        <p:nvSpPr>
          <p:cNvPr id="18" name="右矢印 17"/>
          <p:cNvSpPr/>
          <p:nvPr/>
        </p:nvSpPr>
        <p:spPr>
          <a:xfrm>
            <a:off x="4953000" y="3506532"/>
            <a:ext cx="792088" cy="790781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/>
          <p:cNvSpPr txBox="1"/>
          <p:nvPr/>
        </p:nvSpPr>
        <p:spPr>
          <a:xfrm>
            <a:off x="2727106" y="127008"/>
            <a:ext cx="4698722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3200" dirty="0"/>
              <a:t>ファーストタッチの原則</a:t>
            </a:r>
          </a:p>
        </p:txBody>
      </p:sp>
    </p:spTree>
    <p:extLst>
      <p:ext uri="{BB962C8B-B14F-4D97-AF65-F5344CB8AC3E}">
        <p14:creationId xmlns:p14="http://schemas.microsoft.com/office/powerpoint/2010/main" val="30841545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367" y="4009281"/>
            <a:ext cx="2193032" cy="2006624"/>
          </a:xfrm>
          <a:prstGeom prst="rect">
            <a:avLst/>
          </a:prstGeom>
        </p:spPr>
      </p:pic>
      <p:pic>
        <p:nvPicPr>
          <p:cNvPr id="3" name="図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9224" y="3971081"/>
            <a:ext cx="1944216" cy="1944216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5168" y="2057329"/>
            <a:ext cx="2448272" cy="1947735"/>
          </a:xfrm>
          <a:prstGeom prst="rect">
            <a:avLst/>
          </a:prstGeom>
        </p:spPr>
      </p:pic>
      <p:pic>
        <p:nvPicPr>
          <p:cNvPr id="8" name="図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464" y="1850348"/>
            <a:ext cx="1674045" cy="1963689"/>
          </a:xfrm>
          <a:prstGeom prst="rect">
            <a:avLst/>
          </a:prstGeom>
        </p:spPr>
      </p:pic>
      <p:pic>
        <p:nvPicPr>
          <p:cNvPr id="10" name="図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4728" y="1770689"/>
            <a:ext cx="1728192" cy="2113277"/>
          </a:xfrm>
          <a:prstGeom prst="rect">
            <a:avLst/>
          </a:prstGeom>
        </p:spPr>
      </p:pic>
      <p:sp>
        <p:nvSpPr>
          <p:cNvPr id="12" name="角丸四角形吹き出し 11"/>
          <p:cNvSpPr/>
          <p:nvPr/>
        </p:nvSpPr>
        <p:spPr>
          <a:xfrm>
            <a:off x="3038834" y="908720"/>
            <a:ext cx="2160240" cy="592997"/>
          </a:xfrm>
          <a:prstGeom prst="wedgeRoundRectCallout">
            <a:avLst>
              <a:gd name="adj1" fmla="val -34706"/>
              <a:gd name="adj2" fmla="val 89748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50"/>
            </a:pPr>
            <a:r>
              <a:rPr lang="ja-JP" altLang="en-US" sz="1650" dirty="0">
                <a:solidFill>
                  <a:schemeClr val="tx1"/>
                </a:solidFill>
              </a:rPr>
              <a:t>Please handle this too.</a:t>
            </a:r>
          </a:p>
        </p:txBody>
      </p:sp>
      <p:sp>
        <p:nvSpPr>
          <p:cNvPr id="13" name="円形吹き出し 12"/>
          <p:cNvSpPr/>
          <p:nvPr/>
        </p:nvSpPr>
        <p:spPr>
          <a:xfrm>
            <a:off x="488504" y="692696"/>
            <a:ext cx="2130190" cy="936104"/>
          </a:xfrm>
          <a:prstGeom prst="wedgeEllipseCallout">
            <a:avLst>
              <a:gd name="adj1" fmla="val -19687"/>
              <a:gd name="adj2" fmla="val 61589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ja-JP" altLang="en-US" sz="2000" dirty="0">
                <a:solidFill>
                  <a:schemeClr val="tx1"/>
                </a:solidFill>
              </a:rPr>
              <a:t>Can you take care of this?</a:t>
            </a:r>
            <a:endParaRPr kumimoji="1" lang="ja-JP" altLang="en-US" sz="2000" dirty="0">
              <a:solidFill>
                <a:schemeClr val="tx1"/>
              </a:solidFill>
            </a:endParaRPr>
          </a:p>
        </p:txBody>
      </p:sp>
      <p:sp>
        <p:nvSpPr>
          <p:cNvPr id="15" name="角丸四角形吹き出し 14"/>
          <p:cNvSpPr/>
          <p:nvPr/>
        </p:nvSpPr>
        <p:spPr>
          <a:xfrm>
            <a:off x="2618694" y="3984955"/>
            <a:ext cx="2160240" cy="592997"/>
          </a:xfrm>
          <a:prstGeom prst="wedgeRoundRectCallout">
            <a:avLst>
              <a:gd name="adj1" fmla="val -65162"/>
              <a:gd name="adj2" fmla="val 35213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 sz="2000">
                <a:solidFill>
                  <a:schemeClr val="tx1"/>
                </a:solidFill>
              </a:rPr>
              <a:t>Sure</a:t>
            </a:r>
            <a:r>
              <a:rPr kumimoji="1" lang="en-US" altLang="ja-JP" sz="2000" dirty="0">
                <a:solidFill>
                  <a:schemeClr val="tx1"/>
                </a:solidFill>
              </a:rPr>
              <a:t>!</a:t>
            </a:r>
            <a:endParaRPr kumimoji="1" lang="ja-JP" altLang="en-US" sz="2000" dirty="0">
              <a:solidFill>
                <a:schemeClr val="tx1"/>
              </a:solidFill>
            </a:endParaRPr>
          </a:p>
        </p:txBody>
      </p:sp>
      <p:sp>
        <p:nvSpPr>
          <p:cNvPr id="17" name="角丸四角形吹き出し 16"/>
          <p:cNvSpPr/>
          <p:nvPr/>
        </p:nvSpPr>
        <p:spPr>
          <a:xfrm>
            <a:off x="6455732" y="847284"/>
            <a:ext cx="2744023" cy="849162"/>
          </a:xfrm>
          <a:prstGeom prst="wedgeRoundRectCallout">
            <a:avLst>
              <a:gd name="adj1" fmla="val -34706"/>
              <a:gd name="adj2" fmla="val 89748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50"/>
            </a:pPr>
            <a:r>
              <a:rPr lang="ja-JP" altLang="en-US" sz="1650" dirty="0">
                <a:solidFill>
                  <a:schemeClr val="tx1"/>
                </a:solidFill>
              </a:rPr>
              <a:t>I heard you're in charge</a:t>
            </a:r>
            <a:endParaRPr lang="en-US" altLang="ja-JP" sz="2000" dirty="0">
              <a:solidFill>
                <a:schemeClr val="tx1"/>
              </a:solidFill>
            </a:endParaRPr>
          </a:p>
          <a:p>
            <a:pPr algn="ctr">
              <a:defRPr sz="1650"/>
            </a:pPr>
            <a:r>
              <a:rPr lang="ja-JP" altLang="en-US" sz="1650" dirty="0">
                <a:solidFill>
                  <a:schemeClr val="tx1"/>
                </a:solidFill>
              </a:rPr>
              <a:t>of this.</a:t>
            </a:r>
            <a:endParaRPr lang="en-US" altLang="ja-JP" sz="2000" dirty="0">
              <a:solidFill>
                <a:schemeClr val="tx1"/>
              </a:solidFill>
            </a:endParaRPr>
          </a:p>
        </p:txBody>
      </p:sp>
      <p:sp>
        <p:nvSpPr>
          <p:cNvPr id="18" name="右矢印 17"/>
          <p:cNvSpPr/>
          <p:nvPr/>
        </p:nvSpPr>
        <p:spPr>
          <a:xfrm>
            <a:off x="4953000" y="3506532"/>
            <a:ext cx="792088" cy="790781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/>
          <p:cNvSpPr txBox="1"/>
          <p:nvPr/>
        </p:nvSpPr>
        <p:spPr>
          <a:xfrm>
            <a:off x="3480013" y="107921"/>
            <a:ext cx="294597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/>
          <a:lstStyle/>
          <a:p>
            <a:pPr algn="ctr">
              <a:defRPr sz="2900"/>
            </a:pPr>
            <a:r>
              <a:rPr kumimoji="1" lang="ja-JP" altLang="en-US" sz="2900" dirty="0"/>
              <a:t>First-touch policy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1853457-179E-9FEC-B5E7-98CB612FB765}"/>
              </a:ext>
            </a:extLst>
          </p:cNvPr>
          <p:cNvSpPr txBox="1"/>
          <p:nvPr/>
        </p:nvSpPr>
        <p:spPr>
          <a:xfrm>
            <a:off x="5532199" y="6007165"/>
            <a:ext cx="424759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Before you know it, you become</a:t>
            </a:r>
            <a:r>
              <a:rPr lang="en-US" altLang="ja-JP" dirty="0"/>
              <a:t> </a:t>
            </a:r>
            <a:r>
              <a:rPr lang="ja-JP" altLang="en-US"/>
              <a:t>"the person in charge" and things get painful...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27FB147-5A2E-D01D-B4DD-C3EE5C68DF4B}"/>
              </a:ext>
            </a:extLst>
          </p:cNvPr>
          <p:cNvSpPr txBox="1"/>
          <p:nvPr/>
        </p:nvSpPr>
        <p:spPr>
          <a:xfrm>
            <a:off x="534664" y="6007165"/>
            <a:ext cx="37047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If you accept too much work at first</a:t>
            </a:r>
            <a:r>
              <a:rPr lang="en-US" altLang="ja-JP" dirty="0"/>
              <a:t> </a:t>
            </a:r>
            <a:r>
              <a:rPr lang="ja-JP" altLang="en-US"/>
              <a:t>because it looks easy...</a:t>
            </a:r>
          </a:p>
        </p:txBody>
      </p:sp>
    </p:spTree>
    <p:extLst>
      <p:ext uri="{BB962C8B-B14F-4D97-AF65-F5344CB8AC3E}">
        <p14:creationId xmlns:p14="http://schemas.microsoft.com/office/powerpoint/2010/main" val="30841545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B1D12-227F-B3E1-AE98-7BD5A27D9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 descr="ディレクティブを内側に入れた場合">
            <a:extLst>
              <a:ext uri="{FF2B5EF4-FFF2-40B4-BE49-F238E27FC236}">
                <a16:creationId xmlns:a16="http://schemas.microsoft.com/office/drawing/2014/main" id="{EF07D2B2-900E-6184-AA1A-56248ECD8E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50" y="1146816"/>
            <a:ext cx="7429500" cy="4564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1460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 descr="ディレクティブを内側に入れた場合">
            <a:extLst>
              <a:ext uri="{FF2B5EF4-FFF2-40B4-BE49-F238E27FC236}">
                <a16:creationId xmlns:a16="http://schemas.microsoft.com/office/drawing/2014/main" id="{2F4F3DB2-D115-97C7-DC81-051F7A5268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50" y="1146816"/>
            <a:ext cx="7429500" cy="4564367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579582F-E0F7-A7D1-4434-1D533098F096}"/>
              </a:ext>
            </a:extLst>
          </p:cNvPr>
          <p:cNvSpPr txBox="1"/>
          <p:nvPr/>
        </p:nvSpPr>
        <p:spPr>
          <a:xfrm>
            <a:off x="992560" y="1125232"/>
            <a:ext cx="4953000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ja-JP" sz="2400" dirty="0"/>
              <a:t>W</a:t>
            </a:r>
            <a:r>
              <a:rPr lang="ja-JP" altLang="en-US" sz="2400"/>
              <a:t>hen parallelizing the inner loop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16F0596-FF6B-286D-3677-1D61F5D8BF09}"/>
              </a:ext>
            </a:extLst>
          </p:cNvPr>
          <p:cNvSpPr txBox="1"/>
          <p:nvPr/>
        </p:nvSpPr>
        <p:spPr>
          <a:xfrm>
            <a:off x="7401272" y="1639258"/>
            <a:ext cx="1152128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ja-JP" sz="1400" dirty="0"/>
              <a:t>Overhead</a:t>
            </a:r>
            <a:endParaRPr lang="ja-JP" altLang="en-US" sz="140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4DD780E-6ED0-38A4-2788-51A76F78BF98}"/>
              </a:ext>
            </a:extLst>
          </p:cNvPr>
          <p:cNvSpPr txBox="1"/>
          <p:nvPr/>
        </p:nvSpPr>
        <p:spPr>
          <a:xfrm>
            <a:off x="7401272" y="1947035"/>
            <a:ext cx="1266478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ja-JP" sz="1400" dirty="0"/>
              <a:t>Computation</a:t>
            </a:r>
            <a:endParaRPr lang="ja-JP" altLang="en-US" sz="140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710EE6C-3261-3338-BE8D-CF69D4DAACFA}"/>
              </a:ext>
            </a:extLst>
          </p:cNvPr>
          <p:cNvSpPr txBox="1"/>
          <p:nvPr/>
        </p:nvSpPr>
        <p:spPr>
          <a:xfrm>
            <a:off x="3728864" y="5301208"/>
            <a:ext cx="1584176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ja-JP" altLang="ja-JP" sz="1400"/>
              <a:t>Number of Threads</a:t>
            </a:r>
            <a:endParaRPr lang="ja-JP" altLang="en-US" sz="1400"/>
          </a:p>
        </p:txBody>
      </p:sp>
    </p:spTree>
    <p:extLst>
      <p:ext uri="{BB962C8B-B14F-4D97-AF65-F5344CB8AC3E}">
        <p14:creationId xmlns:p14="http://schemas.microsoft.com/office/powerpoint/2010/main" val="28198221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 descr="ディレクティブを外側に入れた場合">
            <a:extLst>
              <a:ext uri="{FF2B5EF4-FFF2-40B4-BE49-F238E27FC236}">
                <a16:creationId xmlns:a16="http://schemas.microsoft.com/office/drawing/2014/main" id="{BE6B0BD2-9E63-CD70-1AFA-ADF7FC8A65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50" y="1139171"/>
            <a:ext cx="7429500" cy="4579658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CE82331-170E-A604-2B80-F5731966814A}"/>
              </a:ext>
            </a:extLst>
          </p:cNvPr>
          <p:cNvSpPr txBox="1"/>
          <p:nvPr/>
        </p:nvSpPr>
        <p:spPr>
          <a:xfrm>
            <a:off x="992560" y="1125232"/>
            <a:ext cx="4953000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ja-JP" sz="2400" dirty="0"/>
              <a:t>W</a:t>
            </a:r>
            <a:r>
              <a:rPr lang="ja-JP" altLang="en-US" sz="2400"/>
              <a:t>hen parallelizing the </a:t>
            </a:r>
            <a:r>
              <a:rPr lang="en-US" altLang="ja-JP" sz="2400" dirty="0"/>
              <a:t>outer</a:t>
            </a:r>
            <a:r>
              <a:rPr lang="ja-JP" altLang="en-US" sz="2400"/>
              <a:t> loop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7473E90-3807-23FA-CC54-48327A27743B}"/>
              </a:ext>
            </a:extLst>
          </p:cNvPr>
          <p:cNvSpPr txBox="1"/>
          <p:nvPr/>
        </p:nvSpPr>
        <p:spPr>
          <a:xfrm>
            <a:off x="7432517" y="1619772"/>
            <a:ext cx="1152128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ja-JP" sz="1400" dirty="0"/>
              <a:t>Overhead</a:t>
            </a:r>
            <a:endParaRPr lang="ja-JP" altLang="en-US" sz="14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CDCA964-E714-46F5-4D91-0D5F0C0ACAD8}"/>
              </a:ext>
            </a:extLst>
          </p:cNvPr>
          <p:cNvSpPr txBox="1"/>
          <p:nvPr/>
        </p:nvSpPr>
        <p:spPr>
          <a:xfrm>
            <a:off x="7432517" y="1927549"/>
            <a:ext cx="1266478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ja-JP" sz="1400" dirty="0"/>
              <a:t>Computation</a:t>
            </a:r>
            <a:endParaRPr lang="ja-JP" altLang="en-US" sz="140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6698695-EE55-C544-F910-2BDC4B2C7A17}"/>
              </a:ext>
            </a:extLst>
          </p:cNvPr>
          <p:cNvSpPr txBox="1"/>
          <p:nvPr/>
        </p:nvSpPr>
        <p:spPr>
          <a:xfrm>
            <a:off x="3728864" y="5301208"/>
            <a:ext cx="1584176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ja-JP" altLang="ja-JP" sz="1400"/>
              <a:t>Number of Threads</a:t>
            </a:r>
            <a:endParaRPr lang="ja-JP" altLang="en-US" sz="1400"/>
          </a:p>
        </p:txBody>
      </p:sp>
    </p:spTree>
    <p:extLst>
      <p:ext uri="{BB962C8B-B14F-4D97-AF65-F5344CB8AC3E}">
        <p14:creationId xmlns:p14="http://schemas.microsoft.com/office/powerpoint/2010/main" val="3257654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75896-D8E3-1B45-409C-782F93CD7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 descr="ディレクティブを外側に入れた場合">
            <a:extLst>
              <a:ext uri="{FF2B5EF4-FFF2-40B4-BE49-F238E27FC236}">
                <a16:creationId xmlns:a16="http://schemas.microsoft.com/office/drawing/2014/main" id="{F12F115C-D9B1-72AC-91AA-EC8CC9391A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50" y="1139171"/>
            <a:ext cx="7429500" cy="4579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1680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E72C49AB-44CB-F74E-9F08-ACE909D737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2960" y="1052736"/>
            <a:ext cx="4064000" cy="30480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3B0E9ACC-C7CD-FD48-A0CB-FEF5F5402F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480" y="980728"/>
            <a:ext cx="4064000" cy="3048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45E13D4-EBB9-FD46-8DCD-4F203EF8875D}"/>
              </a:ext>
            </a:extLst>
          </p:cNvPr>
          <p:cNvSpPr txBox="1"/>
          <p:nvPr/>
        </p:nvSpPr>
        <p:spPr>
          <a:xfrm>
            <a:off x="1928664" y="188640"/>
            <a:ext cx="5729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シングルノード</a:t>
            </a:r>
            <a:r>
              <a:rPr kumimoji="1" lang="en-US" altLang="ja-JP"/>
              <a:t>(12</a:t>
            </a:r>
            <a:r>
              <a:rPr kumimoji="1" lang="ja-JP" altLang="en-US"/>
              <a:t>コア</a:t>
            </a:r>
            <a:r>
              <a:rPr lang="en-US" altLang="ja-JP"/>
              <a:t> x 2</a:t>
            </a:r>
            <a:r>
              <a:rPr lang="ja-JP" altLang="en-US"/>
              <a:t>ソケット</a:t>
            </a:r>
            <a:r>
              <a:rPr lang="en-US" altLang="ja-JP"/>
              <a:t>)</a:t>
            </a:r>
            <a:r>
              <a:rPr lang="ja-JP" altLang="en-US"/>
              <a:t>でのスケーリング</a:t>
            </a:r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5E7FE39-4188-A945-951F-59A75AF5A6A7}"/>
              </a:ext>
            </a:extLst>
          </p:cNvPr>
          <p:cNvSpPr txBox="1"/>
          <p:nvPr/>
        </p:nvSpPr>
        <p:spPr>
          <a:xfrm>
            <a:off x="1928664" y="69269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実行時間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20085AF-BAB7-B043-B964-5B3833EBB4B4}"/>
              </a:ext>
            </a:extLst>
          </p:cNvPr>
          <p:cNvSpPr txBox="1"/>
          <p:nvPr/>
        </p:nvSpPr>
        <p:spPr>
          <a:xfrm>
            <a:off x="6105128" y="69269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並列化効率</a:t>
            </a:r>
          </a:p>
        </p:txBody>
      </p:sp>
    </p:spTree>
    <p:extLst>
      <p:ext uri="{BB962C8B-B14F-4D97-AF65-F5344CB8AC3E}">
        <p14:creationId xmlns:p14="http://schemas.microsoft.com/office/powerpoint/2010/main" val="55409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E72C49AB-44CB-F74E-9F08-ACE909D737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2960" y="1052736"/>
            <a:ext cx="4064000" cy="30480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3B0E9ACC-C7CD-FD48-A0CB-FEF5F5402F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480" y="980728"/>
            <a:ext cx="4064000" cy="30480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5E7FE39-4188-A945-951F-59A75AF5A6A7}"/>
              </a:ext>
            </a:extLst>
          </p:cNvPr>
          <p:cNvSpPr txBox="1"/>
          <p:nvPr/>
        </p:nvSpPr>
        <p:spPr>
          <a:xfrm>
            <a:off x="1352600" y="692696"/>
            <a:ext cx="1684060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/>
              <a:t>Execution time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20085AF-BAB7-B043-B964-5B3833EBB4B4}"/>
              </a:ext>
            </a:extLst>
          </p:cNvPr>
          <p:cNvSpPr txBox="1"/>
          <p:nvPr/>
        </p:nvSpPr>
        <p:spPr>
          <a:xfrm>
            <a:off x="6105128" y="692696"/>
            <a:ext cx="1872208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/>
              <a:t>Parallel efficiency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E890EB1-34A4-F7F9-94A5-68BCB0512C04}"/>
              </a:ext>
            </a:extLst>
          </p:cNvPr>
          <p:cNvSpPr txBox="1"/>
          <p:nvPr/>
        </p:nvSpPr>
        <p:spPr>
          <a:xfrm>
            <a:off x="2194630" y="143344"/>
            <a:ext cx="4953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/>
              <a:t>Scaling on a single node (12 cores x 2 sockets)</a:t>
            </a:r>
          </a:p>
        </p:txBody>
      </p:sp>
    </p:spTree>
    <p:extLst>
      <p:ext uri="{BB962C8B-B14F-4D97-AF65-F5344CB8AC3E}">
        <p14:creationId xmlns:p14="http://schemas.microsoft.com/office/powerpoint/2010/main" val="5540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182</TotalTime>
  <Words>255</Words>
  <Application>Microsoft Macintosh PowerPoint</Application>
  <PresentationFormat>A4 210 x 297 mm</PresentationFormat>
  <Paragraphs>104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3" baseType="lpstr">
      <vt:lpstr>游ゴシック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Microsoft Office ユーザー</dc:creator>
  <cp:lastModifiedBy>渡辺 宙志</cp:lastModifiedBy>
  <cp:revision>100</cp:revision>
  <dcterms:created xsi:type="dcterms:W3CDTF">2018-10-07T01:32:06Z</dcterms:created>
  <dcterms:modified xsi:type="dcterms:W3CDTF">2026-08-07T08:04:13Z</dcterms:modified>
</cp:coreProperties>
</file>