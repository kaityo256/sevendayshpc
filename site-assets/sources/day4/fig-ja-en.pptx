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sldIdLst>
    <p:sldId id="256" r:id="rId2"/>
    <p:sldId id="262" r:id="rId13"/>
    <p:sldId id="257" r:id="rId3"/>
    <p:sldId id="263" r:id="rId14"/>
    <p:sldId id="258" r:id="rId4"/>
    <p:sldId id="264" r:id="rId15"/>
    <p:sldId id="260" r:id="rId5"/>
    <p:sldId id="265" r:id="rId16"/>
    <p:sldId id="259" r:id="rId6"/>
    <p:sldId id="266" r:id="rId17"/>
    <p:sldId id="261" r:id="rId7"/>
    <p:sldId id="267" r:id="rId18"/>
  </p:sldIdLst>
  <p:sldSz cx="9906000" cy="6858000" type="A4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8"/>
    <p:restoredTop sz="94668"/>
  </p:normalViewPr>
  <p:slideViewPr>
    <p:cSldViewPr snapToObjects="1">
      <p:cViewPr varScale="1">
        <p:scale>
          <a:sx n="126" d="100"/>
          <a:sy n="126" d="100"/>
        </p:scale>
        <p:origin x="3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>
      <p:cViewPr varScale="1">
        <p:scale>
          <a:sx n="95" d="100"/>
          <a:sy n="95" d="100"/>
        </p:scale>
        <p:origin x="3064" y="1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4B1B89-6D29-7849-8E65-921CEBC6CA4C}" type="datetimeFigureOut">
              <a:t>2018/10/29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484BB1-ECD9-1F46-AC5B-E21A5EADE982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6503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5226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1458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tiff"/><Relationship Id="rId3" Type="http://schemas.openxmlformats.org/officeDocument/2006/relationships/image" Target="../media/image6.tiff"/><Relationship Id="rId7" Type="http://schemas.openxmlformats.org/officeDocument/2006/relationships/image" Target="../media/image10.tiff"/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tiff"/><Relationship Id="rId5" Type="http://schemas.openxmlformats.org/officeDocument/2006/relationships/image" Target="../media/image8.tiff"/><Relationship Id="rId4" Type="http://schemas.openxmlformats.org/officeDocument/2006/relationships/image" Target="../media/image7.tiff"/><Relationship Id="rId9" Type="http://schemas.openxmlformats.org/officeDocument/2006/relationships/image" Target="../media/image12.tif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tiff"/><Relationship Id="rId3" Type="http://schemas.openxmlformats.org/officeDocument/2006/relationships/image" Target="../media/image6.tiff"/><Relationship Id="rId7" Type="http://schemas.openxmlformats.org/officeDocument/2006/relationships/image" Target="../media/image10.tiff"/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tiff"/><Relationship Id="rId5" Type="http://schemas.openxmlformats.org/officeDocument/2006/relationships/image" Target="../media/image8.tiff"/><Relationship Id="rId4" Type="http://schemas.openxmlformats.org/officeDocument/2006/relationships/image" Target="../media/image7.tiff"/><Relationship Id="rId9" Type="http://schemas.openxmlformats.org/officeDocument/2006/relationships/image" Target="../media/image12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D22EA80-5E19-D744-9CD7-684C54056F60}"/>
              </a:ext>
            </a:extLst>
          </p:cNvPr>
          <p:cNvSpPr txBox="1"/>
          <p:nvPr/>
        </p:nvSpPr>
        <p:spPr>
          <a:xfrm>
            <a:off x="436880" y="193040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/>
              <a:t>馬鹿パラは通信がほぼ不要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F87FD5D-D921-E441-9033-6276D32E412C}"/>
              </a:ext>
            </a:extLst>
          </p:cNvPr>
          <p:cNvSpPr/>
          <p:nvPr/>
        </p:nvSpPr>
        <p:spPr>
          <a:xfrm>
            <a:off x="1483360" y="741680"/>
            <a:ext cx="101600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初期化</a:t>
            </a: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56557B2D-BB01-5A4D-B910-605D47C8195A}"/>
              </a:ext>
            </a:extLst>
          </p:cNvPr>
          <p:cNvGrpSpPr/>
          <p:nvPr/>
        </p:nvGrpSpPr>
        <p:grpSpPr>
          <a:xfrm>
            <a:off x="243840" y="1676400"/>
            <a:ext cx="1066800" cy="3017520"/>
            <a:chOff x="243840" y="1676400"/>
            <a:chExt cx="1066800" cy="3017520"/>
          </a:xfrm>
        </p:grpSpPr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D603537B-264E-824C-AED1-BB0B60839DD0}"/>
                </a:ext>
              </a:extLst>
            </p:cNvPr>
            <p:cNvSpPr/>
            <p:nvPr/>
          </p:nvSpPr>
          <p:spPr>
            <a:xfrm>
              <a:off x="243840" y="1676400"/>
              <a:ext cx="1066800" cy="30175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3600">
                <a:solidFill>
                  <a:schemeClr val="tx1"/>
                </a:solidFill>
              </a:endParaRPr>
            </a:p>
          </p:txBody>
        </p: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F3AA942F-4F74-CB48-9957-EC6FE83672D0}"/>
                </a:ext>
              </a:extLst>
            </p:cNvPr>
            <p:cNvSpPr txBox="1"/>
            <p:nvPr/>
          </p:nvSpPr>
          <p:spPr>
            <a:xfrm>
              <a:off x="243840" y="1696720"/>
              <a:ext cx="105664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600"/>
                <a:t>プロセス</a:t>
              </a:r>
            </a:p>
          </p:txBody>
        </p:sp>
      </p:grp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DDE8AD3C-0D9B-E94B-AEC0-2DA044F4F6CB}"/>
              </a:ext>
            </a:extLst>
          </p:cNvPr>
          <p:cNvGrpSpPr/>
          <p:nvPr/>
        </p:nvGrpSpPr>
        <p:grpSpPr>
          <a:xfrm>
            <a:off x="1463040" y="1676400"/>
            <a:ext cx="1066800" cy="3017520"/>
            <a:chOff x="243840" y="1676400"/>
            <a:chExt cx="1066800" cy="3017520"/>
          </a:xfrm>
        </p:grpSpPr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id="{9852A2C2-AA61-1B43-A774-C149C74E8E7F}"/>
                </a:ext>
              </a:extLst>
            </p:cNvPr>
            <p:cNvSpPr/>
            <p:nvPr/>
          </p:nvSpPr>
          <p:spPr>
            <a:xfrm>
              <a:off x="243840" y="1676400"/>
              <a:ext cx="1066800" cy="30175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3600">
                <a:solidFill>
                  <a:schemeClr val="tx1"/>
                </a:solidFill>
              </a:endParaRPr>
            </a:p>
          </p:txBody>
        </p:sp>
        <p:sp>
          <p:nvSpPr>
            <p:cNvPr id="49" name="テキスト ボックス 48">
              <a:extLst>
                <a:ext uri="{FF2B5EF4-FFF2-40B4-BE49-F238E27FC236}">
                  <a16:creationId xmlns:a16="http://schemas.microsoft.com/office/drawing/2014/main" id="{41743384-34F7-5245-A1D1-C42E1B18A80C}"/>
                </a:ext>
              </a:extLst>
            </p:cNvPr>
            <p:cNvSpPr txBox="1"/>
            <p:nvPr/>
          </p:nvSpPr>
          <p:spPr>
            <a:xfrm>
              <a:off x="243840" y="1696720"/>
              <a:ext cx="105664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600"/>
                <a:t>プロセス</a:t>
              </a:r>
            </a:p>
          </p:txBody>
        </p:sp>
      </p:grpSp>
      <p:grpSp>
        <p:nvGrpSpPr>
          <p:cNvPr id="50" name="グループ化 49">
            <a:extLst>
              <a:ext uri="{FF2B5EF4-FFF2-40B4-BE49-F238E27FC236}">
                <a16:creationId xmlns:a16="http://schemas.microsoft.com/office/drawing/2014/main" id="{153FC698-6050-BB48-A906-4F181FA8128A}"/>
              </a:ext>
            </a:extLst>
          </p:cNvPr>
          <p:cNvGrpSpPr/>
          <p:nvPr/>
        </p:nvGrpSpPr>
        <p:grpSpPr>
          <a:xfrm>
            <a:off x="2692400" y="1676400"/>
            <a:ext cx="1066800" cy="3017520"/>
            <a:chOff x="243840" y="1676400"/>
            <a:chExt cx="1066800" cy="3017520"/>
          </a:xfrm>
        </p:grpSpPr>
        <p:sp>
          <p:nvSpPr>
            <p:cNvPr id="51" name="正方形/長方形 50">
              <a:extLst>
                <a:ext uri="{FF2B5EF4-FFF2-40B4-BE49-F238E27FC236}">
                  <a16:creationId xmlns:a16="http://schemas.microsoft.com/office/drawing/2014/main" id="{F5B9504F-CA7B-3249-A78C-D901218DADB6}"/>
                </a:ext>
              </a:extLst>
            </p:cNvPr>
            <p:cNvSpPr/>
            <p:nvPr/>
          </p:nvSpPr>
          <p:spPr>
            <a:xfrm>
              <a:off x="243840" y="1676400"/>
              <a:ext cx="1066800" cy="30175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3600">
                <a:solidFill>
                  <a:schemeClr val="tx1"/>
                </a:solidFill>
              </a:endParaRPr>
            </a:p>
          </p:txBody>
        </p:sp>
        <p:sp>
          <p:nvSpPr>
            <p:cNvPr id="52" name="テキスト ボックス 51">
              <a:extLst>
                <a:ext uri="{FF2B5EF4-FFF2-40B4-BE49-F238E27FC236}">
                  <a16:creationId xmlns:a16="http://schemas.microsoft.com/office/drawing/2014/main" id="{DA70F40F-E389-724D-9D1C-4778CA04ACB9}"/>
                </a:ext>
              </a:extLst>
            </p:cNvPr>
            <p:cNvSpPr txBox="1"/>
            <p:nvPr/>
          </p:nvSpPr>
          <p:spPr>
            <a:xfrm>
              <a:off x="243840" y="1696720"/>
              <a:ext cx="105664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600"/>
                <a:t>プロセス</a:t>
              </a:r>
            </a:p>
          </p:txBody>
        </p:sp>
      </p:grp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305A9580-1E91-7C4B-8B3B-33A1014FA9D6}"/>
              </a:ext>
            </a:extLst>
          </p:cNvPr>
          <p:cNvCxnSpPr>
            <a:stCxn id="10" idx="2"/>
            <a:endCxn id="36" idx="0"/>
          </p:cNvCxnSpPr>
          <p:nvPr/>
        </p:nvCxnSpPr>
        <p:spPr>
          <a:xfrm flipH="1">
            <a:off x="772160" y="1107440"/>
            <a:ext cx="1219200" cy="589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87EA6460-3D4B-2241-97E8-63DD1359C913}"/>
              </a:ext>
            </a:extLst>
          </p:cNvPr>
          <p:cNvCxnSpPr>
            <a:stCxn id="10" idx="2"/>
            <a:endCxn id="49" idx="0"/>
          </p:cNvCxnSpPr>
          <p:nvPr/>
        </p:nvCxnSpPr>
        <p:spPr>
          <a:xfrm>
            <a:off x="1991360" y="1107440"/>
            <a:ext cx="0" cy="589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D7084129-8ED2-FA4F-AAD4-11359BE40ECE}"/>
              </a:ext>
            </a:extLst>
          </p:cNvPr>
          <p:cNvCxnSpPr>
            <a:stCxn id="10" idx="2"/>
            <a:endCxn id="51" idx="0"/>
          </p:cNvCxnSpPr>
          <p:nvPr/>
        </p:nvCxnSpPr>
        <p:spPr>
          <a:xfrm>
            <a:off x="1991360" y="1107440"/>
            <a:ext cx="1234440" cy="568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75FEA925-4FAE-1E48-8B44-50F3927BF668}"/>
              </a:ext>
            </a:extLst>
          </p:cNvPr>
          <p:cNvSpPr txBox="1"/>
          <p:nvPr/>
        </p:nvSpPr>
        <p:spPr>
          <a:xfrm>
            <a:off x="589280" y="4876800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初期化以外では通信しない</a:t>
            </a: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3D86F1F8-6062-1A44-B3D0-187BD1E68DB9}"/>
              </a:ext>
            </a:extLst>
          </p:cNvPr>
          <p:cNvSpPr txBox="1"/>
          <p:nvPr/>
        </p:nvSpPr>
        <p:spPr>
          <a:xfrm>
            <a:off x="5100320" y="182880"/>
            <a:ext cx="3005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/>
              <a:t>馬鹿パラは信頼性が不要</a:t>
            </a:r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746EF78D-2791-AA43-91D7-D2399978E9C3}"/>
              </a:ext>
            </a:extLst>
          </p:cNvPr>
          <p:cNvSpPr/>
          <p:nvPr/>
        </p:nvSpPr>
        <p:spPr>
          <a:xfrm>
            <a:off x="6167120" y="741680"/>
            <a:ext cx="101600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初期化</a:t>
            </a:r>
          </a:p>
        </p:txBody>
      </p:sp>
      <p:grpSp>
        <p:nvGrpSpPr>
          <p:cNvPr id="62" name="グループ化 61">
            <a:extLst>
              <a:ext uri="{FF2B5EF4-FFF2-40B4-BE49-F238E27FC236}">
                <a16:creationId xmlns:a16="http://schemas.microsoft.com/office/drawing/2014/main" id="{DAF55151-53AA-3042-91AE-70E80DA2F2C3}"/>
              </a:ext>
            </a:extLst>
          </p:cNvPr>
          <p:cNvGrpSpPr/>
          <p:nvPr/>
        </p:nvGrpSpPr>
        <p:grpSpPr>
          <a:xfrm>
            <a:off x="4927600" y="1676400"/>
            <a:ext cx="1066800" cy="3017520"/>
            <a:chOff x="243840" y="1676400"/>
            <a:chExt cx="1066800" cy="3017520"/>
          </a:xfrm>
        </p:grpSpPr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1CA5FE4A-5F9E-4F45-81F9-31BC691130E0}"/>
                </a:ext>
              </a:extLst>
            </p:cNvPr>
            <p:cNvSpPr/>
            <p:nvPr/>
          </p:nvSpPr>
          <p:spPr>
            <a:xfrm>
              <a:off x="243840" y="1676400"/>
              <a:ext cx="1066800" cy="30175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3600">
                <a:solidFill>
                  <a:schemeClr val="tx1"/>
                </a:solidFill>
              </a:endParaRPr>
            </a:p>
          </p:txBody>
        </p:sp>
        <p:sp>
          <p:nvSpPr>
            <p:cNvPr id="64" name="テキスト ボックス 63">
              <a:extLst>
                <a:ext uri="{FF2B5EF4-FFF2-40B4-BE49-F238E27FC236}">
                  <a16:creationId xmlns:a16="http://schemas.microsoft.com/office/drawing/2014/main" id="{48E17921-BE19-7445-85B4-70F3F94760B5}"/>
                </a:ext>
              </a:extLst>
            </p:cNvPr>
            <p:cNvSpPr txBox="1"/>
            <p:nvPr/>
          </p:nvSpPr>
          <p:spPr>
            <a:xfrm>
              <a:off x="243840" y="1696720"/>
              <a:ext cx="105664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600"/>
                <a:t>プロセス</a:t>
              </a:r>
            </a:p>
          </p:txBody>
        </p:sp>
      </p:grp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0125AE15-9D09-214F-935D-18EDA3F602AB}"/>
              </a:ext>
            </a:extLst>
          </p:cNvPr>
          <p:cNvSpPr/>
          <p:nvPr/>
        </p:nvSpPr>
        <p:spPr>
          <a:xfrm>
            <a:off x="6146800" y="1676400"/>
            <a:ext cx="1066800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600">
              <a:solidFill>
                <a:schemeClr val="tx1"/>
              </a:solidFill>
            </a:endParaRP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03A3B944-BED7-0F4C-9655-E26E8BF54502}"/>
              </a:ext>
            </a:extLst>
          </p:cNvPr>
          <p:cNvSpPr txBox="1"/>
          <p:nvPr/>
        </p:nvSpPr>
        <p:spPr>
          <a:xfrm>
            <a:off x="6146800" y="1696720"/>
            <a:ext cx="1056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/>
              <a:t>プロセス</a:t>
            </a:r>
          </a:p>
        </p:txBody>
      </p:sp>
      <p:grpSp>
        <p:nvGrpSpPr>
          <p:cNvPr id="68" name="グループ化 67">
            <a:extLst>
              <a:ext uri="{FF2B5EF4-FFF2-40B4-BE49-F238E27FC236}">
                <a16:creationId xmlns:a16="http://schemas.microsoft.com/office/drawing/2014/main" id="{BF441782-2BC4-6240-9911-970E6A662254}"/>
              </a:ext>
            </a:extLst>
          </p:cNvPr>
          <p:cNvGrpSpPr/>
          <p:nvPr/>
        </p:nvGrpSpPr>
        <p:grpSpPr>
          <a:xfrm>
            <a:off x="7376160" y="1676400"/>
            <a:ext cx="1066800" cy="3017520"/>
            <a:chOff x="243840" y="1676400"/>
            <a:chExt cx="1066800" cy="3017520"/>
          </a:xfrm>
        </p:grpSpPr>
        <p:sp>
          <p:nvSpPr>
            <p:cNvPr id="69" name="正方形/長方形 68">
              <a:extLst>
                <a:ext uri="{FF2B5EF4-FFF2-40B4-BE49-F238E27FC236}">
                  <a16:creationId xmlns:a16="http://schemas.microsoft.com/office/drawing/2014/main" id="{DC099374-2F8F-5041-B1E4-D3F898168C2E}"/>
                </a:ext>
              </a:extLst>
            </p:cNvPr>
            <p:cNvSpPr/>
            <p:nvPr/>
          </p:nvSpPr>
          <p:spPr>
            <a:xfrm>
              <a:off x="243840" y="1676400"/>
              <a:ext cx="1066800" cy="30175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3600">
                <a:solidFill>
                  <a:schemeClr val="tx1"/>
                </a:solidFill>
              </a:endParaRPr>
            </a:p>
          </p:txBody>
        </p:sp>
        <p:sp>
          <p:nvSpPr>
            <p:cNvPr id="70" name="テキスト ボックス 69">
              <a:extLst>
                <a:ext uri="{FF2B5EF4-FFF2-40B4-BE49-F238E27FC236}">
                  <a16:creationId xmlns:a16="http://schemas.microsoft.com/office/drawing/2014/main" id="{30C4B388-77AF-CE46-8471-3D4629DA9EA8}"/>
                </a:ext>
              </a:extLst>
            </p:cNvPr>
            <p:cNvSpPr txBox="1"/>
            <p:nvPr/>
          </p:nvSpPr>
          <p:spPr>
            <a:xfrm>
              <a:off x="243840" y="1696720"/>
              <a:ext cx="105664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600"/>
                <a:t>プロセス</a:t>
              </a:r>
            </a:p>
          </p:txBody>
        </p:sp>
      </p:grp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56FEF82B-9B5E-7947-B6BB-AC4449DC22BF}"/>
              </a:ext>
            </a:extLst>
          </p:cNvPr>
          <p:cNvCxnSpPr>
            <a:stCxn id="61" idx="2"/>
            <a:endCxn id="64" idx="0"/>
          </p:cNvCxnSpPr>
          <p:nvPr/>
        </p:nvCxnSpPr>
        <p:spPr>
          <a:xfrm flipH="1">
            <a:off x="5455920" y="1107440"/>
            <a:ext cx="1219200" cy="589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矢印コネクタ 71">
            <a:extLst>
              <a:ext uri="{FF2B5EF4-FFF2-40B4-BE49-F238E27FC236}">
                <a16:creationId xmlns:a16="http://schemas.microsoft.com/office/drawing/2014/main" id="{3C4370ED-9E94-534B-A3B0-BA1B0F0931EF}"/>
              </a:ext>
            </a:extLst>
          </p:cNvPr>
          <p:cNvCxnSpPr>
            <a:stCxn id="61" idx="2"/>
            <a:endCxn id="67" idx="0"/>
          </p:cNvCxnSpPr>
          <p:nvPr/>
        </p:nvCxnSpPr>
        <p:spPr>
          <a:xfrm>
            <a:off x="6675120" y="1107440"/>
            <a:ext cx="0" cy="589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8B0C4765-52FF-744C-96F1-EC6AE3640208}"/>
              </a:ext>
            </a:extLst>
          </p:cNvPr>
          <p:cNvCxnSpPr>
            <a:stCxn id="61" idx="2"/>
            <a:endCxn id="69" idx="0"/>
          </p:cNvCxnSpPr>
          <p:nvPr/>
        </p:nvCxnSpPr>
        <p:spPr>
          <a:xfrm>
            <a:off x="6675120" y="1107440"/>
            <a:ext cx="1234440" cy="568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爆発 2 73">
            <a:extLst>
              <a:ext uri="{FF2B5EF4-FFF2-40B4-BE49-F238E27FC236}">
                <a16:creationId xmlns:a16="http://schemas.microsoft.com/office/drawing/2014/main" id="{22CAEA63-72D8-0D4B-9908-77088137EC5E}"/>
              </a:ext>
            </a:extLst>
          </p:cNvPr>
          <p:cNvSpPr/>
          <p:nvPr/>
        </p:nvSpPr>
        <p:spPr>
          <a:xfrm>
            <a:off x="6299200" y="2225040"/>
            <a:ext cx="782320" cy="782320"/>
          </a:xfrm>
          <a:prstGeom prst="irregularSeal2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3745A1F8-BA07-F54B-A25E-321B6B0D59E0}"/>
              </a:ext>
            </a:extLst>
          </p:cNvPr>
          <p:cNvSpPr txBox="1"/>
          <p:nvPr/>
        </p:nvSpPr>
        <p:spPr>
          <a:xfrm>
            <a:off x="6004560" y="292608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ノード故障</a:t>
            </a:r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2B711898-29E3-8B48-9055-8A9C6D022E92}"/>
              </a:ext>
            </a:extLst>
          </p:cNvPr>
          <p:cNvSpPr txBox="1"/>
          <p:nvPr/>
        </p:nvSpPr>
        <p:spPr>
          <a:xfrm>
            <a:off x="4998720" y="4886960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失敗した計算だけやり直せば良い</a:t>
            </a:r>
          </a:p>
        </p:txBody>
      </p:sp>
    </p:spTree>
    <p:extLst>
      <p:ext uri="{BB962C8B-B14F-4D97-AF65-F5344CB8AC3E}">
        <p14:creationId xmlns:p14="http://schemas.microsoft.com/office/powerpoint/2010/main" val="2411882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95DBD851-4D7D-1C45-BC56-FA9662D82E99}"/>
              </a:ext>
            </a:extLst>
          </p:cNvPr>
          <p:cNvGrpSpPr/>
          <p:nvPr/>
        </p:nvGrpSpPr>
        <p:grpSpPr>
          <a:xfrm>
            <a:off x="660400" y="2499360"/>
            <a:ext cx="4521200" cy="386080"/>
            <a:chOff x="457200" y="2346960"/>
            <a:chExt cx="4521200" cy="386080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C4CA4FD5-5118-B340-8768-ADB786A7CEE0}"/>
                </a:ext>
              </a:extLst>
            </p:cNvPr>
            <p:cNvSpPr/>
            <p:nvPr/>
          </p:nvSpPr>
          <p:spPr>
            <a:xfrm>
              <a:off x="457200" y="2346960"/>
              <a:ext cx="1066800" cy="3860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tx1"/>
                  </a:solidFill>
                </a:rPr>
                <a:t>プロセス</a:t>
              </a:r>
              <a:r>
                <a:rPr kumimoji="1" lang="en-US" altLang="ja-JP" sz="1200">
                  <a:solidFill>
                    <a:schemeClr val="tx1"/>
                  </a:solidFill>
                </a:rPr>
                <a:t>1</a:t>
              </a:r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CBF206DD-C725-2146-88DF-709F158B13FE}"/>
                </a:ext>
              </a:extLst>
            </p:cNvPr>
            <p:cNvSpPr/>
            <p:nvPr/>
          </p:nvSpPr>
          <p:spPr>
            <a:xfrm>
              <a:off x="1608667" y="2346960"/>
              <a:ext cx="1066800" cy="3860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tx1"/>
                  </a:solidFill>
                </a:rPr>
                <a:t>プロセス</a:t>
              </a:r>
              <a:r>
                <a:rPr kumimoji="1" lang="en-US" altLang="ja-JP" sz="1200">
                  <a:solidFill>
                    <a:schemeClr val="tx1"/>
                  </a:solidFill>
                </a:rPr>
                <a:t>2</a:t>
              </a:r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8E648D4A-AFA9-9646-8CE5-29FF8D86CD21}"/>
                </a:ext>
              </a:extLst>
            </p:cNvPr>
            <p:cNvSpPr/>
            <p:nvPr/>
          </p:nvSpPr>
          <p:spPr>
            <a:xfrm>
              <a:off x="2760134" y="2346960"/>
              <a:ext cx="1066800" cy="3860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tx1"/>
                  </a:solidFill>
                </a:rPr>
                <a:t>プロセス</a:t>
              </a:r>
              <a:r>
                <a:rPr kumimoji="1" lang="en-US" altLang="ja-JP" sz="1200">
                  <a:solidFill>
                    <a:schemeClr val="tx1"/>
                  </a:solidFill>
                </a:rPr>
                <a:t>3</a:t>
              </a:r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9F8195F4-8A98-6943-94A3-A44A27347730}"/>
                </a:ext>
              </a:extLst>
            </p:cNvPr>
            <p:cNvSpPr/>
            <p:nvPr/>
          </p:nvSpPr>
          <p:spPr>
            <a:xfrm>
              <a:off x="3911600" y="2346960"/>
              <a:ext cx="1066800" cy="3860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tx1"/>
                  </a:solidFill>
                </a:rPr>
                <a:t>プロセス</a:t>
              </a:r>
              <a:r>
                <a:rPr kumimoji="1" lang="en-US" altLang="ja-JP" sz="1200">
                  <a:solidFill>
                    <a:schemeClr val="tx1"/>
                  </a:solidFill>
                </a:rPr>
                <a:t>4</a:t>
              </a:r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66534C36-7B37-D244-B8AF-15C97B1F7B09}"/>
              </a:ext>
            </a:extLst>
          </p:cNvPr>
          <p:cNvGrpSpPr/>
          <p:nvPr/>
        </p:nvGrpSpPr>
        <p:grpSpPr>
          <a:xfrm>
            <a:off x="660400" y="1859280"/>
            <a:ext cx="4521200" cy="386080"/>
            <a:chOff x="457200" y="2346960"/>
            <a:chExt cx="4521200" cy="386080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D3FA8B2C-EBDC-D145-B021-D91F7C31A6BE}"/>
                </a:ext>
              </a:extLst>
            </p:cNvPr>
            <p:cNvSpPr/>
            <p:nvPr/>
          </p:nvSpPr>
          <p:spPr>
            <a:xfrm>
              <a:off x="457200" y="2346960"/>
              <a:ext cx="1066800" cy="3860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tx1"/>
                  </a:solidFill>
                </a:rPr>
                <a:t>プロセス</a:t>
              </a:r>
              <a:r>
                <a:rPr kumimoji="1" lang="en-US" altLang="ja-JP" sz="1200">
                  <a:solidFill>
                    <a:schemeClr val="tx1"/>
                  </a:solidFill>
                </a:rPr>
                <a:t>1</a:t>
              </a:r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EFB3668D-6453-B540-BBFE-8B173E8EC084}"/>
                </a:ext>
              </a:extLst>
            </p:cNvPr>
            <p:cNvSpPr/>
            <p:nvPr/>
          </p:nvSpPr>
          <p:spPr>
            <a:xfrm>
              <a:off x="1608667" y="2346960"/>
              <a:ext cx="1066800" cy="3860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tx1"/>
                  </a:solidFill>
                </a:rPr>
                <a:t>プロセス</a:t>
              </a:r>
              <a:r>
                <a:rPr kumimoji="1" lang="en-US" altLang="ja-JP" sz="1200">
                  <a:solidFill>
                    <a:schemeClr val="tx1"/>
                  </a:solidFill>
                </a:rPr>
                <a:t>2</a:t>
              </a:r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77E9D86E-4F49-A54A-984A-1CCB87A35FB9}"/>
                </a:ext>
              </a:extLst>
            </p:cNvPr>
            <p:cNvSpPr/>
            <p:nvPr/>
          </p:nvSpPr>
          <p:spPr>
            <a:xfrm>
              <a:off x="2760134" y="2346960"/>
              <a:ext cx="1066800" cy="3860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tx1"/>
                  </a:solidFill>
                </a:rPr>
                <a:t>プロセス</a:t>
              </a:r>
              <a:r>
                <a:rPr kumimoji="1" lang="en-US" altLang="ja-JP" sz="1200">
                  <a:solidFill>
                    <a:schemeClr val="tx1"/>
                  </a:solidFill>
                </a:rPr>
                <a:t>3</a:t>
              </a:r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87D65A94-17B9-9147-986D-3AC582407516}"/>
                </a:ext>
              </a:extLst>
            </p:cNvPr>
            <p:cNvSpPr/>
            <p:nvPr/>
          </p:nvSpPr>
          <p:spPr>
            <a:xfrm>
              <a:off x="3911600" y="2346960"/>
              <a:ext cx="1066800" cy="3860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tx1"/>
                  </a:solidFill>
                </a:rPr>
                <a:t>プロセス</a:t>
              </a:r>
              <a:r>
                <a:rPr kumimoji="1" lang="en-US" altLang="ja-JP" sz="1200">
                  <a:solidFill>
                    <a:schemeClr val="tx1"/>
                  </a:solidFill>
                </a:rPr>
                <a:t>4</a:t>
              </a:r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781237D2-1E61-EE47-86B4-54EB090C4A61}"/>
              </a:ext>
            </a:extLst>
          </p:cNvPr>
          <p:cNvGrpSpPr/>
          <p:nvPr/>
        </p:nvGrpSpPr>
        <p:grpSpPr>
          <a:xfrm>
            <a:off x="660400" y="1219200"/>
            <a:ext cx="4521200" cy="386080"/>
            <a:chOff x="457200" y="2346960"/>
            <a:chExt cx="4521200" cy="386080"/>
          </a:xfrm>
        </p:grpSpPr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48319863-8162-BB47-9591-C33CCC6D6652}"/>
                </a:ext>
              </a:extLst>
            </p:cNvPr>
            <p:cNvSpPr/>
            <p:nvPr/>
          </p:nvSpPr>
          <p:spPr>
            <a:xfrm>
              <a:off x="457200" y="2346960"/>
              <a:ext cx="1066800" cy="3860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tx1"/>
                  </a:solidFill>
                </a:rPr>
                <a:t>プロセス</a:t>
              </a:r>
              <a:r>
                <a:rPr kumimoji="1" lang="en-US" altLang="ja-JP" sz="1200">
                  <a:solidFill>
                    <a:schemeClr val="tx1"/>
                  </a:solidFill>
                </a:rPr>
                <a:t>1</a:t>
              </a:r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EC6C9E34-5F1F-7548-A0F0-4FC127A14534}"/>
                </a:ext>
              </a:extLst>
            </p:cNvPr>
            <p:cNvSpPr/>
            <p:nvPr/>
          </p:nvSpPr>
          <p:spPr>
            <a:xfrm>
              <a:off x="1608667" y="2346960"/>
              <a:ext cx="1066800" cy="3860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tx1"/>
                  </a:solidFill>
                </a:rPr>
                <a:t>プロセス</a:t>
              </a:r>
              <a:r>
                <a:rPr kumimoji="1" lang="en-US" altLang="ja-JP" sz="1200">
                  <a:solidFill>
                    <a:schemeClr val="tx1"/>
                  </a:solidFill>
                </a:rPr>
                <a:t>2</a:t>
              </a:r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69426179-54EB-1448-8D6C-DE0CEFFC5BF7}"/>
                </a:ext>
              </a:extLst>
            </p:cNvPr>
            <p:cNvSpPr/>
            <p:nvPr/>
          </p:nvSpPr>
          <p:spPr>
            <a:xfrm>
              <a:off x="2760134" y="2346960"/>
              <a:ext cx="1066800" cy="3860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tx1"/>
                  </a:solidFill>
                </a:rPr>
                <a:t>プロセス</a:t>
              </a:r>
              <a:r>
                <a:rPr kumimoji="1" lang="en-US" altLang="ja-JP" sz="1200">
                  <a:solidFill>
                    <a:schemeClr val="tx1"/>
                  </a:solidFill>
                </a:rPr>
                <a:t>3</a:t>
              </a:r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4849C85A-D23F-BB40-ACB0-89F6301349BC}"/>
                </a:ext>
              </a:extLst>
            </p:cNvPr>
            <p:cNvSpPr/>
            <p:nvPr/>
          </p:nvSpPr>
          <p:spPr>
            <a:xfrm>
              <a:off x="3911600" y="2346960"/>
              <a:ext cx="1066800" cy="3860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tx1"/>
                  </a:solidFill>
                </a:rPr>
                <a:t>プロセス</a:t>
              </a:r>
              <a:r>
                <a:rPr kumimoji="1" lang="en-US" altLang="ja-JP" sz="1200">
                  <a:solidFill>
                    <a:schemeClr val="tx1"/>
                  </a:solidFill>
                </a:rPr>
                <a:t>4</a:t>
              </a:r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</p:grp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16D3D4A0-BE42-F448-93D1-D4A9F8862F50}"/>
              </a:ext>
            </a:extLst>
          </p:cNvPr>
          <p:cNvCxnSpPr>
            <a:stCxn id="2" idx="0"/>
            <a:endCxn id="15" idx="2"/>
          </p:cNvCxnSpPr>
          <p:nvPr/>
        </p:nvCxnSpPr>
        <p:spPr>
          <a:xfrm flipV="1">
            <a:off x="1193800" y="2245360"/>
            <a:ext cx="1151467" cy="25400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B2E3AB4E-9392-B949-8D4B-A3404C221325}"/>
              </a:ext>
            </a:extLst>
          </p:cNvPr>
          <p:cNvCxnSpPr>
            <a:cxnSpLocks/>
            <a:stCxn id="14" idx="2"/>
            <a:endCxn id="4" idx="0"/>
          </p:cNvCxnSpPr>
          <p:nvPr/>
        </p:nvCxnSpPr>
        <p:spPr>
          <a:xfrm>
            <a:off x="1193800" y="2245360"/>
            <a:ext cx="1151467" cy="25400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6C074660-83E8-784D-98CA-6AC6062D1C06}"/>
              </a:ext>
            </a:extLst>
          </p:cNvPr>
          <p:cNvCxnSpPr>
            <a:cxnSpLocks/>
            <a:stCxn id="5" idx="0"/>
            <a:endCxn id="17" idx="2"/>
          </p:cNvCxnSpPr>
          <p:nvPr/>
        </p:nvCxnSpPr>
        <p:spPr>
          <a:xfrm flipV="1">
            <a:off x="3496734" y="2245360"/>
            <a:ext cx="1151466" cy="25400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961B9A34-5C2C-E543-952A-5658C7EA5017}"/>
              </a:ext>
            </a:extLst>
          </p:cNvPr>
          <p:cNvCxnSpPr>
            <a:cxnSpLocks/>
            <a:stCxn id="16" idx="2"/>
            <a:endCxn id="6" idx="0"/>
          </p:cNvCxnSpPr>
          <p:nvPr/>
        </p:nvCxnSpPr>
        <p:spPr>
          <a:xfrm>
            <a:off x="3496734" y="2245360"/>
            <a:ext cx="1151466" cy="25400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5A951744-D1D8-DF44-AF7C-2E2AD7705945}"/>
              </a:ext>
            </a:extLst>
          </p:cNvPr>
          <p:cNvCxnSpPr>
            <a:cxnSpLocks/>
            <a:stCxn id="14" idx="0"/>
            <a:endCxn id="21" idx="2"/>
          </p:cNvCxnSpPr>
          <p:nvPr/>
        </p:nvCxnSpPr>
        <p:spPr>
          <a:xfrm flipV="1">
            <a:off x="1193800" y="1605280"/>
            <a:ext cx="2302934" cy="25400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A6AA6F65-7123-3E48-A9FE-845783D42EE3}"/>
              </a:ext>
            </a:extLst>
          </p:cNvPr>
          <p:cNvCxnSpPr>
            <a:cxnSpLocks/>
            <a:stCxn id="19" idx="2"/>
            <a:endCxn id="16" idx="0"/>
          </p:cNvCxnSpPr>
          <p:nvPr/>
        </p:nvCxnSpPr>
        <p:spPr>
          <a:xfrm>
            <a:off x="1193800" y="1605280"/>
            <a:ext cx="2302934" cy="25400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85B69278-BC33-8344-AC77-0E2F80B02CCB}"/>
              </a:ext>
            </a:extLst>
          </p:cNvPr>
          <p:cNvCxnSpPr>
            <a:cxnSpLocks/>
            <a:stCxn id="15" idx="0"/>
            <a:endCxn id="22" idx="2"/>
          </p:cNvCxnSpPr>
          <p:nvPr/>
        </p:nvCxnSpPr>
        <p:spPr>
          <a:xfrm flipV="1">
            <a:off x="2345267" y="1605280"/>
            <a:ext cx="2302933" cy="25400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73A54862-D7FC-7A4E-9B6E-FA4289411C3D}"/>
              </a:ext>
            </a:extLst>
          </p:cNvPr>
          <p:cNvCxnSpPr>
            <a:cxnSpLocks/>
            <a:stCxn id="20" idx="2"/>
            <a:endCxn id="17" idx="0"/>
          </p:cNvCxnSpPr>
          <p:nvPr/>
        </p:nvCxnSpPr>
        <p:spPr>
          <a:xfrm>
            <a:off x="2345267" y="1605280"/>
            <a:ext cx="2302933" cy="25400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CBBA18AC-4356-8B46-8E68-99B642AA1C05}"/>
              </a:ext>
            </a:extLst>
          </p:cNvPr>
          <p:cNvSpPr txBox="1"/>
          <p:nvPr/>
        </p:nvSpPr>
        <p:spPr>
          <a:xfrm>
            <a:off x="1574800" y="335280"/>
            <a:ext cx="2456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非自明並列</a:t>
            </a:r>
            <a:r>
              <a:rPr kumimoji="1" lang="en-US" altLang="ja-JP"/>
              <a:t> (</a:t>
            </a:r>
            <a:r>
              <a:rPr kumimoji="1" lang="ja-JP" altLang="en-US"/>
              <a:t>全体通信</a:t>
            </a:r>
            <a:r>
              <a:rPr kumimoji="1" lang="en-US" altLang="ja-JP"/>
              <a:t>)</a:t>
            </a:r>
            <a:endParaRPr kumimoji="1" lang="ja-JP" altLang="en-US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E6DAAD30-4026-EC4A-8081-A28F91E7278B}"/>
              </a:ext>
            </a:extLst>
          </p:cNvPr>
          <p:cNvSpPr txBox="1"/>
          <p:nvPr/>
        </p:nvSpPr>
        <p:spPr>
          <a:xfrm>
            <a:off x="6593840" y="314960"/>
            <a:ext cx="2456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非自明並列</a:t>
            </a:r>
            <a:r>
              <a:rPr kumimoji="1" lang="en-US" altLang="ja-JP"/>
              <a:t> (</a:t>
            </a:r>
            <a:r>
              <a:rPr kumimoji="1" lang="ja-JP" altLang="en-US"/>
              <a:t>局所通信</a:t>
            </a:r>
            <a:r>
              <a:rPr kumimoji="1" lang="en-US" altLang="ja-JP"/>
              <a:t>)</a:t>
            </a:r>
            <a:endParaRPr kumimoji="1" lang="ja-JP" altLang="en-US"/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1EDC25DB-8254-C149-AFA8-C5C8689F5639}"/>
              </a:ext>
            </a:extLst>
          </p:cNvPr>
          <p:cNvSpPr txBox="1"/>
          <p:nvPr/>
        </p:nvSpPr>
        <p:spPr>
          <a:xfrm rot="16200000">
            <a:off x="-305921" y="1859281"/>
            <a:ext cx="1225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1</a:t>
            </a:r>
            <a:r>
              <a:rPr kumimoji="1" lang="ja-JP" altLang="en-US"/>
              <a:t>ステップ</a:t>
            </a: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12D3CA35-2DFB-0E46-9064-26F67C5D5A09}"/>
              </a:ext>
            </a:extLst>
          </p:cNvPr>
          <p:cNvSpPr txBox="1"/>
          <p:nvPr/>
        </p:nvSpPr>
        <p:spPr>
          <a:xfrm>
            <a:off x="1219200" y="3200400"/>
            <a:ext cx="2957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高速フーリエ変換</a:t>
            </a:r>
            <a:r>
              <a:rPr lang="en-US" altLang="ja-JP"/>
              <a:t>(FFT)</a:t>
            </a:r>
            <a:r>
              <a:rPr lang="ja-JP" altLang="en-US"/>
              <a:t>など</a:t>
            </a:r>
            <a:endParaRPr kumimoji="1" lang="ja-JP" altLang="en-US"/>
          </a:p>
        </p:txBody>
      </p:sp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4CC4D47C-712A-A04E-B948-A51843C484ED}"/>
              </a:ext>
            </a:extLst>
          </p:cNvPr>
          <p:cNvGrpSpPr/>
          <p:nvPr/>
        </p:nvGrpSpPr>
        <p:grpSpPr>
          <a:xfrm>
            <a:off x="6543040" y="1209040"/>
            <a:ext cx="2783840" cy="386080"/>
            <a:chOff x="6543040" y="1209040"/>
            <a:chExt cx="2783840" cy="386080"/>
          </a:xfrm>
        </p:grpSpPr>
        <p:sp>
          <p:nvSpPr>
            <p:cNvPr id="59" name="正方形/長方形 58">
              <a:extLst>
                <a:ext uri="{FF2B5EF4-FFF2-40B4-BE49-F238E27FC236}">
                  <a16:creationId xmlns:a16="http://schemas.microsoft.com/office/drawing/2014/main" id="{F35AB3FF-4392-564C-8F3B-A6783902FE1E}"/>
                </a:ext>
              </a:extLst>
            </p:cNvPr>
            <p:cNvSpPr/>
            <p:nvPr/>
          </p:nvSpPr>
          <p:spPr>
            <a:xfrm>
              <a:off x="6543040" y="1209040"/>
              <a:ext cx="1066800" cy="3860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tx1"/>
                  </a:solidFill>
                </a:rPr>
                <a:t>プロセス</a:t>
              </a:r>
              <a:r>
                <a:rPr kumimoji="1" lang="en-US" altLang="ja-JP" sz="1200">
                  <a:solidFill>
                    <a:schemeClr val="tx1"/>
                  </a:solidFill>
                </a:rPr>
                <a:t>1</a:t>
              </a:r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60" name="正方形/長方形 59">
              <a:extLst>
                <a:ext uri="{FF2B5EF4-FFF2-40B4-BE49-F238E27FC236}">
                  <a16:creationId xmlns:a16="http://schemas.microsoft.com/office/drawing/2014/main" id="{3BBE7F2D-60A3-1E40-8C47-7A30F854A072}"/>
                </a:ext>
              </a:extLst>
            </p:cNvPr>
            <p:cNvSpPr/>
            <p:nvPr/>
          </p:nvSpPr>
          <p:spPr>
            <a:xfrm>
              <a:off x="8260080" y="1209040"/>
              <a:ext cx="1066800" cy="3860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tx1"/>
                  </a:solidFill>
                </a:rPr>
                <a:t>プロセス</a:t>
              </a:r>
              <a:r>
                <a:rPr kumimoji="1" lang="en-US" altLang="ja-JP" sz="1200">
                  <a:solidFill>
                    <a:schemeClr val="tx1"/>
                  </a:solidFill>
                </a:rPr>
                <a:t>2</a:t>
              </a:r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</p:grpSp>
      <p:grpSp>
        <p:nvGrpSpPr>
          <p:cNvPr id="64" name="グループ化 63">
            <a:extLst>
              <a:ext uri="{FF2B5EF4-FFF2-40B4-BE49-F238E27FC236}">
                <a16:creationId xmlns:a16="http://schemas.microsoft.com/office/drawing/2014/main" id="{8E24F799-B746-C44D-8FFE-D6B452CE2359}"/>
              </a:ext>
            </a:extLst>
          </p:cNvPr>
          <p:cNvGrpSpPr/>
          <p:nvPr/>
        </p:nvGrpSpPr>
        <p:grpSpPr>
          <a:xfrm>
            <a:off x="6543040" y="2214880"/>
            <a:ext cx="2783840" cy="386080"/>
            <a:chOff x="6543040" y="1209040"/>
            <a:chExt cx="2783840" cy="386080"/>
          </a:xfrm>
        </p:grpSpPr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id="{14A3090C-ADF4-8148-8C8F-9237D43FBB97}"/>
                </a:ext>
              </a:extLst>
            </p:cNvPr>
            <p:cNvSpPr/>
            <p:nvPr/>
          </p:nvSpPr>
          <p:spPr>
            <a:xfrm>
              <a:off x="6543040" y="1209040"/>
              <a:ext cx="1066800" cy="3860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tx1"/>
                  </a:solidFill>
                </a:rPr>
                <a:t>プロセス</a:t>
              </a:r>
              <a:r>
                <a:rPr kumimoji="1" lang="en-US" altLang="ja-JP" sz="1200">
                  <a:solidFill>
                    <a:schemeClr val="tx1"/>
                  </a:solidFill>
                </a:rPr>
                <a:t>3</a:t>
              </a:r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66" name="正方形/長方形 65">
              <a:extLst>
                <a:ext uri="{FF2B5EF4-FFF2-40B4-BE49-F238E27FC236}">
                  <a16:creationId xmlns:a16="http://schemas.microsoft.com/office/drawing/2014/main" id="{99EA9510-A7AF-064B-B5DB-3F697DD485A0}"/>
                </a:ext>
              </a:extLst>
            </p:cNvPr>
            <p:cNvSpPr/>
            <p:nvPr/>
          </p:nvSpPr>
          <p:spPr>
            <a:xfrm>
              <a:off x="8260080" y="1209040"/>
              <a:ext cx="1066800" cy="3860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tx1"/>
                  </a:solidFill>
                </a:rPr>
                <a:t>プロセス</a:t>
              </a:r>
              <a:r>
                <a:rPr kumimoji="1" lang="en-US" altLang="ja-JP" sz="1200">
                  <a:solidFill>
                    <a:schemeClr val="tx1"/>
                  </a:solidFill>
                </a:rPr>
                <a:t>4</a:t>
              </a:r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</p:grpSp>
      <p:cxnSp>
        <p:nvCxnSpPr>
          <p:cNvPr id="70" name="直線矢印コネクタ 69">
            <a:extLst>
              <a:ext uri="{FF2B5EF4-FFF2-40B4-BE49-F238E27FC236}">
                <a16:creationId xmlns:a16="http://schemas.microsoft.com/office/drawing/2014/main" id="{94D0125A-E56B-014D-A955-0760D532C553}"/>
              </a:ext>
            </a:extLst>
          </p:cNvPr>
          <p:cNvCxnSpPr/>
          <p:nvPr/>
        </p:nvCxnSpPr>
        <p:spPr>
          <a:xfrm>
            <a:off x="518160" y="1209040"/>
            <a:ext cx="0" cy="168656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E185F8E7-7F54-0D4B-B2DE-B3838958B844}"/>
              </a:ext>
            </a:extLst>
          </p:cNvPr>
          <p:cNvCxnSpPr>
            <a:cxnSpLocks/>
            <a:stCxn id="59" idx="2"/>
            <a:endCxn id="65" idx="0"/>
          </p:cNvCxnSpPr>
          <p:nvPr/>
        </p:nvCxnSpPr>
        <p:spPr>
          <a:xfrm>
            <a:off x="7076440" y="1595120"/>
            <a:ext cx="0" cy="61976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矢印コネクタ 73">
            <a:extLst>
              <a:ext uri="{FF2B5EF4-FFF2-40B4-BE49-F238E27FC236}">
                <a16:creationId xmlns:a16="http://schemas.microsoft.com/office/drawing/2014/main" id="{834044C4-576C-8D4E-8C44-7A546C47DD6B}"/>
              </a:ext>
            </a:extLst>
          </p:cNvPr>
          <p:cNvCxnSpPr>
            <a:cxnSpLocks/>
            <a:stCxn id="60" idx="2"/>
            <a:endCxn id="66" idx="0"/>
          </p:cNvCxnSpPr>
          <p:nvPr/>
        </p:nvCxnSpPr>
        <p:spPr>
          <a:xfrm>
            <a:off x="8793480" y="1595120"/>
            <a:ext cx="0" cy="61976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6FD19453-7694-314E-BD4B-C645161E551C}"/>
              </a:ext>
            </a:extLst>
          </p:cNvPr>
          <p:cNvCxnSpPr>
            <a:cxnSpLocks/>
            <a:stCxn id="60" idx="1"/>
            <a:endCxn id="59" idx="3"/>
          </p:cNvCxnSpPr>
          <p:nvPr/>
        </p:nvCxnSpPr>
        <p:spPr>
          <a:xfrm flipH="1">
            <a:off x="7609840" y="1402080"/>
            <a:ext cx="650240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矢印コネクタ 79">
            <a:extLst>
              <a:ext uri="{FF2B5EF4-FFF2-40B4-BE49-F238E27FC236}">
                <a16:creationId xmlns:a16="http://schemas.microsoft.com/office/drawing/2014/main" id="{3189F919-8861-194C-A9DC-7661B34A0BA7}"/>
              </a:ext>
            </a:extLst>
          </p:cNvPr>
          <p:cNvCxnSpPr>
            <a:cxnSpLocks/>
            <a:stCxn id="66" idx="1"/>
            <a:endCxn id="65" idx="3"/>
          </p:cNvCxnSpPr>
          <p:nvPr/>
        </p:nvCxnSpPr>
        <p:spPr>
          <a:xfrm flipH="1">
            <a:off x="7609840" y="2407920"/>
            <a:ext cx="650240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679CD9E4-31C3-A542-941C-8BEFC06F969F}"/>
              </a:ext>
            </a:extLst>
          </p:cNvPr>
          <p:cNvSpPr txBox="1"/>
          <p:nvPr/>
        </p:nvSpPr>
        <p:spPr>
          <a:xfrm rot="16200000">
            <a:off x="5404000" y="1767842"/>
            <a:ext cx="1225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1</a:t>
            </a:r>
            <a:r>
              <a:rPr kumimoji="1" lang="ja-JP" altLang="en-US"/>
              <a:t>ステップ</a:t>
            </a:r>
          </a:p>
        </p:txBody>
      </p:sp>
      <p:cxnSp>
        <p:nvCxnSpPr>
          <p:cNvPr id="84" name="直線矢印コネクタ 83">
            <a:extLst>
              <a:ext uri="{FF2B5EF4-FFF2-40B4-BE49-F238E27FC236}">
                <a16:creationId xmlns:a16="http://schemas.microsoft.com/office/drawing/2014/main" id="{68E6E82B-E2E6-E645-A67D-E1CDD2F32A13}"/>
              </a:ext>
            </a:extLst>
          </p:cNvPr>
          <p:cNvCxnSpPr>
            <a:cxnSpLocks/>
          </p:cNvCxnSpPr>
          <p:nvPr/>
        </p:nvCxnSpPr>
        <p:spPr>
          <a:xfrm>
            <a:off x="6319520" y="1178561"/>
            <a:ext cx="0" cy="146303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FEA373B5-DABB-7F4D-BC01-8EEAE7C447ED}"/>
              </a:ext>
            </a:extLst>
          </p:cNvPr>
          <p:cNvSpPr txBox="1"/>
          <p:nvPr/>
        </p:nvSpPr>
        <p:spPr>
          <a:xfrm>
            <a:off x="6969760" y="320040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領域分割など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260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DCD1655-18F9-A34F-ACD8-6A14465E7AE2}"/>
              </a:ext>
            </a:extLst>
          </p:cNvPr>
          <p:cNvSpPr/>
          <p:nvPr/>
        </p:nvSpPr>
        <p:spPr>
          <a:xfrm>
            <a:off x="152399" y="2169623"/>
            <a:ext cx="4257040" cy="497840"/>
          </a:xfrm>
          <a:prstGeom prst="rect">
            <a:avLst/>
          </a:prstGeom>
          <a:gradFill flip="none" rotWithShape="1">
            <a:gsLst>
              <a:gs pos="50000">
                <a:srgbClr val="FF0000"/>
              </a:gs>
              <a:gs pos="0">
                <a:schemeClr val="bg1"/>
              </a:gs>
              <a:gs pos="100000">
                <a:schemeClr val="bg1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7A33A85D-36E6-AE4C-9ECD-784A4D1E5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8809" y="2576946"/>
            <a:ext cx="675410" cy="675410"/>
          </a:xfrm>
          <a:prstGeom prst="rect">
            <a:avLst/>
          </a:prstGeom>
        </p:spPr>
      </p:pic>
      <p:sp>
        <p:nvSpPr>
          <p:cNvPr id="8" name="ドーナツ 7">
            <a:extLst>
              <a:ext uri="{FF2B5EF4-FFF2-40B4-BE49-F238E27FC236}">
                <a16:creationId xmlns:a16="http://schemas.microsoft.com/office/drawing/2014/main" id="{F55B69BD-0AB1-6F4D-83F9-2C1D4C7C1475}"/>
              </a:ext>
            </a:extLst>
          </p:cNvPr>
          <p:cNvSpPr/>
          <p:nvPr/>
        </p:nvSpPr>
        <p:spPr>
          <a:xfrm>
            <a:off x="5500255" y="2036618"/>
            <a:ext cx="3352800" cy="1233055"/>
          </a:xfrm>
          <a:prstGeom prst="donut">
            <a:avLst/>
          </a:prstGeom>
          <a:gradFill>
            <a:gsLst>
              <a:gs pos="0">
                <a:srgbClr val="FF0000"/>
              </a:gs>
              <a:gs pos="100000">
                <a:srgbClr val="00B0F0"/>
              </a:gs>
            </a:gsLst>
            <a:lin ang="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6BC54D7-18C9-9D47-8426-9E6C4DE82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527" y="2341419"/>
            <a:ext cx="1278009" cy="1105478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3F971B4C-B9BE-5941-9D09-27CDBE7BC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28" y="2729346"/>
            <a:ext cx="564574" cy="564574"/>
          </a:xfrm>
          <a:prstGeom prst="rect">
            <a:avLst/>
          </a:prstGeom>
        </p:spPr>
      </p:pic>
      <p:sp>
        <p:nvSpPr>
          <p:cNvPr id="11" name="フリーフォーム 10">
            <a:extLst>
              <a:ext uri="{FF2B5EF4-FFF2-40B4-BE49-F238E27FC236}">
                <a16:creationId xmlns:a16="http://schemas.microsoft.com/office/drawing/2014/main" id="{F91C4196-5362-B94A-AE04-990E3F98C040}"/>
              </a:ext>
            </a:extLst>
          </p:cNvPr>
          <p:cNvSpPr/>
          <p:nvPr/>
        </p:nvSpPr>
        <p:spPr>
          <a:xfrm>
            <a:off x="5749454" y="1343892"/>
            <a:ext cx="3034327" cy="540326"/>
          </a:xfrm>
          <a:custGeom>
            <a:avLst/>
            <a:gdLst>
              <a:gd name="connsiteX0" fmla="*/ 2106073 w 4379969"/>
              <a:gd name="connsiteY0" fmla="*/ 1399828 h 1399828"/>
              <a:gd name="connsiteX1" fmla="*/ 182 w 4379969"/>
              <a:gd name="connsiteY1" fmla="*/ 582410 h 1399828"/>
              <a:gd name="connsiteX2" fmla="*/ 2203055 w 4379969"/>
              <a:gd name="connsiteY2" fmla="*/ 519 h 1399828"/>
              <a:gd name="connsiteX3" fmla="*/ 4378218 w 4379969"/>
              <a:gd name="connsiteY3" fmla="*/ 679392 h 1399828"/>
              <a:gd name="connsiteX4" fmla="*/ 2494000 w 4379969"/>
              <a:gd name="connsiteY4" fmla="*/ 1344410 h 1399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79969" h="1399828">
                <a:moveTo>
                  <a:pt x="2106073" y="1399828"/>
                </a:moveTo>
                <a:cubicBezTo>
                  <a:pt x="1045045" y="1107728"/>
                  <a:pt x="-15982" y="815628"/>
                  <a:pt x="182" y="582410"/>
                </a:cubicBezTo>
                <a:cubicBezTo>
                  <a:pt x="16346" y="349192"/>
                  <a:pt x="1473382" y="-15645"/>
                  <a:pt x="2203055" y="519"/>
                </a:cubicBezTo>
                <a:cubicBezTo>
                  <a:pt x="2932728" y="16683"/>
                  <a:pt x="4329727" y="455410"/>
                  <a:pt x="4378218" y="679392"/>
                </a:cubicBezTo>
                <a:cubicBezTo>
                  <a:pt x="4426709" y="903374"/>
                  <a:pt x="3460354" y="1123892"/>
                  <a:pt x="2494000" y="134441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C742CBC-C8A2-204C-9DD5-9189A2130FDE}"/>
              </a:ext>
            </a:extLst>
          </p:cNvPr>
          <p:cNvSpPr txBox="1"/>
          <p:nvPr/>
        </p:nvSpPr>
        <p:spPr>
          <a:xfrm>
            <a:off x="7232074" y="1704109"/>
            <a:ext cx="191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/>
              <a:t>x</a:t>
            </a:r>
            <a:endParaRPr kumimoji="1" lang="ja-JP" altLang="en-US"/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B1228DD5-1246-4148-A004-E1C8DEADDCC7}"/>
              </a:ext>
            </a:extLst>
          </p:cNvPr>
          <p:cNvCxnSpPr/>
          <p:nvPr/>
        </p:nvCxnSpPr>
        <p:spPr>
          <a:xfrm>
            <a:off x="166254" y="1981200"/>
            <a:ext cx="42533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3C37485-62D4-E14E-9872-463DF3B3FAB9}"/>
              </a:ext>
            </a:extLst>
          </p:cNvPr>
          <p:cNvSpPr txBox="1"/>
          <p:nvPr/>
        </p:nvSpPr>
        <p:spPr>
          <a:xfrm>
            <a:off x="4433455" y="1787236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x</a:t>
            </a:r>
            <a:endParaRPr kumimoji="1" lang="ja-JP" altLang="en-US"/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6761E557-1A46-8847-9B29-32F697FB5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810" y="2757056"/>
            <a:ext cx="564574" cy="564574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B5CB5D5C-6838-F74A-B0E0-27F23BD76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865" y="2784765"/>
            <a:ext cx="564574" cy="564574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6DC6B13-5DA8-3C4F-9DC2-94A723BDEC48}"/>
              </a:ext>
            </a:extLst>
          </p:cNvPr>
          <p:cNvSpPr txBox="1"/>
          <p:nvPr/>
        </p:nvSpPr>
        <p:spPr>
          <a:xfrm>
            <a:off x="1163781" y="110836"/>
            <a:ext cx="207620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/>
              <a:t>一様加熱</a:t>
            </a:r>
            <a:endParaRPr kumimoji="1" lang="en-US" altLang="ja-JP" sz="3200"/>
          </a:p>
          <a:p>
            <a:r>
              <a:rPr lang="en-US" altLang="ja-JP" sz="3200"/>
              <a:t>(</a:t>
            </a:r>
            <a:r>
              <a:rPr lang="ja-JP" altLang="en-US" sz="3200"/>
              <a:t>固定境界</a:t>
            </a:r>
            <a:r>
              <a:rPr lang="en-US" altLang="ja-JP" sz="3200"/>
              <a:t>)</a:t>
            </a:r>
            <a:endParaRPr kumimoji="1" lang="ja-JP" altLang="en-US" sz="320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ED0678B0-8091-1E45-BFA9-8A5D334EC5D8}"/>
              </a:ext>
            </a:extLst>
          </p:cNvPr>
          <p:cNvSpPr txBox="1"/>
          <p:nvPr/>
        </p:nvSpPr>
        <p:spPr>
          <a:xfrm>
            <a:off x="6179126" y="124690"/>
            <a:ext cx="207620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/>
              <a:t>温度固定</a:t>
            </a:r>
            <a:endParaRPr kumimoji="1" lang="en-US" altLang="ja-JP" sz="3200"/>
          </a:p>
          <a:p>
            <a:r>
              <a:rPr lang="en-US" altLang="ja-JP" sz="3200"/>
              <a:t>(</a:t>
            </a:r>
            <a:r>
              <a:rPr lang="ja-JP" altLang="en-US" sz="3200"/>
              <a:t>周期境界</a:t>
            </a:r>
            <a:r>
              <a:rPr lang="en-US" altLang="ja-JP" sz="3200"/>
              <a:t>)</a:t>
            </a:r>
            <a:endParaRPr kumimoji="1" lang="ja-JP" altLang="en-US" sz="320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BD4E71E-D458-E04A-8E69-2CBBB64C3CBA}"/>
              </a:ext>
            </a:extLst>
          </p:cNvPr>
          <p:cNvSpPr txBox="1"/>
          <p:nvPr/>
        </p:nvSpPr>
        <p:spPr>
          <a:xfrm>
            <a:off x="831273" y="3574473"/>
            <a:ext cx="30075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棒全体を加熱する</a:t>
            </a:r>
            <a:endParaRPr kumimoji="1" lang="en-US" altLang="ja-JP"/>
          </a:p>
          <a:p>
            <a:r>
              <a:rPr lang="ja-JP" altLang="en-US"/>
              <a:t>両端を同じ温度に固定する</a:t>
            </a:r>
            <a:r>
              <a:rPr lang="en-US" altLang="ja-JP"/>
              <a:t> </a:t>
            </a:r>
            <a:endParaRPr kumimoji="1" lang="en-US" altLang="ja-JP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E62CD793-C1F0-8143-9804-B340F4A44522}"/>
              </a:ext>
            </a:extLst>
          </p:cNvPr>
          <p:cNvSpPr txBox="1"/>
          <p:nvPr/>
        </p:nvSpPr>
        <p:spPr>
          <a:xfrm>
            <a:off x="4987637" y="3560619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リング状の金属の</a:t>
            </a:r>
            <a:r>
              <a:rPr lang="ja-JP" altLang="en-US"/>
              <a:t>左を高温、右を低温に固定</a:t>
            </a:r>
            <a:endParaRPr kumimoji="1" lang="en-US" altLang="ja-JP"/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2B866937-231A-2E43-8596-782D00B7436D}"/>
              </a:ext>
            </a:extLst>
          </p:cNvPr>
          <p:cNvCxnSpPr/>
          <p:nvPr/>
        </p:nvCxnSpPr>
        <p:spPr>
          <a:xfrm>
            <a:off x="152400" y="6502523"/>
            <a:ext cx="42533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2CC81159-5BC6-AC45-87CE-E653C209EB53}"/>
              </a:ext>
            </a:extLst>
          </p:cNvPr>
          <p:cNvSpPr txBox="1"/>
          <p:nvPr/>
        </p:nvSpPr>
        <p:spPr>
          <a:xfrm>
            <a:off x="9116292" y="567124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座標</a:t>
            </a: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839758AA-CA0A-994F-8521-479F4CD9D24E}"/>
              </a:ext>
            </a:extLst>
          </p:cNvPr>
          <p:cNvCxnSpPr>
            <a:cxnSpLocks/>
          </p:cNvCxnSpPr>
          <p:nvPr/>
        </p:nvCxnSpPr>
        <p:spPr>
          <a:xfrm flipV="1">
            <a:off x="332509" y="4807527"/>
            <a:ext cx="0" cy="19305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C79C112F-C3C3-4F45-8C15-59F0B36D64E0}"/>
              </a:ext>
            </a:extLst>
          </p:cNvPr>
          <p:cNvSpPr txBox="1"/>
          <p:nvPr/>
        </p:nvSpPr>
        <p:spPr>
          <a:xfrm>
            <a:off x="0" y="441960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温度</a:t>
            </a:r>
            <a:endParaRPr kumimoji="1" lang="ja-JP" altLang="en-US"/>
          </a:p>
        </p:txBody>
      </p:sp>
      <p:sp>
        <p:nvSpPr>
          <p:cNvPr id="29" name="フリーフォーム 28">
            <a:extLst>
              <a:ext uri="{FF2B5EF4-FFF2-40B4-BE49-F238E27FC236}">
                <a16:creationId xmlns:a16="http://schemas.microsoft.com/office/drawing/2014/main" id="{94FA6680-87AC-4D48-87B2-2E8FFB66BCAA}"/>
              </a:ext>
            </a:extLst>
          </p:cNvPr>
          <p:cNvSpPr/>
          <p:nvPr/>
        </p:nvSpPr>
        <p:spPr>
          <a:xfrm>
            <a:off x="332509" y="4987631"/>
            <a:ext cx="3560618" cy="1510151"/>
          </a:xfrm>
          <a:custGeom>
            <a:avLst/>
            <a:gdLst>
              <a:gd name="connsiteX0" fmla="*/ 0 w 3560618"/>
              <a:gd name="connsiteY0" fmla="*/ 1496296 h 1510151"/>
              <a:gd name="connsiteX1" fmla="*/ 1828800 w 3560618"/>
              <a:gd name="connsiteY1" fmla="*/ 5 h 1510151"/>
              <a:gd name="connsiteX2" fmla="*/ 3560618 w 3560618"/>
              <a:gd name="connsiteY2" fmla="*/ 1510151 h 1510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60618" h="1510151">
                <a:moveTo>
                  <a:pt x="0" y="1496296"/>
                </a:moveTo>
                <a:cubicBezTo>
                  <a:pt x="617682" y="746996"/>
                  <a:pt x="1235364" y="-2304"/>
                  <a:pt x="1828800" y="5"/>
                </a:cubicBezTo>
                <a:cubicBezTo>
                  <a:pt x="2422236" y="2314"/>
                  <a:pt x="2991427" y="756232"/>
                  <a:pt x="3560618" y="1510151"/>
                </a:cubicBezTo>
              </a:path>
            </a:pathLst>
          </a:cu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FEC2061A-C31D-3247-B053-545D27AC246A}"/>
              </a:ext>
            </a:extLst>
          </p:cNvPr>
          <p:cNvCxnSpPr>
            <a:cxnSpLocks/>
          </p:cNvCxnSpPr>
          <p:nvPr/>
        </p:nvCxnSpPr>
        <p:spPr>
          <a:xfrm>
            <a:off x="5347854" y="5782088"/>
            <a:ext cx="356061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87663D4C-EC96-2943-BF89-10FF4B95B632}"/>
              </a:ext>
            </a:extLst>
          </p:cNvPr>
          <p:cNvCxnSpPr>
            <a:cxnSpLocks/>
          </p:cNvCxnSpPr>
          <p:nvPr/>
        </p:nvCxnSpPr>
        <p:spPr>
          <a:xfrm flipV="1">
            <a:off x="5597236" y="4724400"/>
            <a:ext cx="0" cy="19305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FCD94677-B6F4-B542-8F99-E1248CE38818}"/>
              </a:ext>
            </a:extLst>
          </p:cNvPr>
          <p:cNvSpPr txBox="1"/>
          <p:nvPr/>
        </p:nvSpPr>
        <p:spPr>
          <a:xfrm>
            <a:off x="5250873" y="433647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温度</a:t>
            </a:r>
            <a:endParaRPr kumimoji="1" lang="ja-JP" altLang="en-US"/>
          </a:p>
        </p:txBody>
      </p: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174DBB2B-C06F-C74A-A837-376F64A139BF}"/>
              </a:ext>
            </a:extLst>
          </p:cNvPr>
          <p:cNvCxnSpPr/>
          <p:nvPr/>
        </p:nvCxnSpPr>
        <p:spPr>
          <a:xfrm flipV="1">
            <a:off x="5624945" y="5056909"/>
            <a:ext cx="706582" cy="706582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8E0CE6B0-D450-0B4C-AED6-1F7C51AFC782}"/>
              </a:ext>
            </a:extLst>
          </p:cNvPr>
          <p:cNvCxnSpPr/>
          <p:nvPr/>
        </p:nvCxnSpPr>
        <p:spPr>
          <a:xfrm flipV="1">
            <a:off x="7716981" y="5763491"/>
            <a:ext cx="706582" cy="706582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063C8FAE-6EAB-1B41-ACC8-466EE5D94325}"/>
              </a:ext>
            </a:extLst>
          </p:cNvPr>
          <p:cNvCxnSpPr>
            <a:cxnSpLocks/>
          </p:cNvCxnSpPr>
          <p:nvPr/>
        </p:nvCxnSpPr>
        <p:spPr>
          <a:xfrm>
            <a:off x="6331526" y="5043055"/>
            <a:ext cx="1385456" cy="1440872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2BFEAD2F-FF2A-104E-9536-A9EC7D233E32}"/>
              </a:ext>
            </a:extLst>
          </p:cNvPr>
          <p:cNvSpPr txBox="1"/>
          <p:nvPr/>
        </p:nvSpPr>
        <p:spPr>
          <a:xfrm>
            <a:off x="3740728" y="4932218"/>
            <a:ext cx="1620957" cy="523220"/>
          </a:xfrm>
          <a:prstGeom prst="rect">
            <a:avLst/>
          </a:prstGeom>
          <a:noFill/>
          <a:ln w="22225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定常状態</a:t>
            </a:r>
          </a:p>
        </p:txBody>
      </p:sp>
    </p:spTree>
    <p:extLst>
      <p:ext uri="{BB962C8B-B14F-4D97-AF65-F5344CB8AC3E}">
        <p14:creationId xmlns:p14="http://schemas.microsoft.com/office/powerpoint/2010/main" val="1382605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FA90FEC-3311-544E-A788-3F2D29D80BD7}"/>
              </a:ext>
            </a:extLst>
          </p:cNvPr>
          <p:cNvSpPr/>
          <p:nvPr/>
        </p:nvSpPr>
        <p:spPr>
          <a:xfrm>
            <a:off x="1280592" y="548680"/>
            <a:ext cx="36004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D50D792-C427-F949-A4DD-B581AED48F68}"/>
              </a:ext>
            </a:extLst>
          </p:cNvPr>
          <p:cNvSpPr/>
          <p:nvPr/>
        </p:nvSpPr>
        <p:spPr>
          <a:xfrm>
            <a:off x="1640632" y="548680"/>
            <a:ext cx="36004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389DAFA-7128-854C-8E99-5E28ABAD6FBF}"/>
              </a:ext>
            </a:extLst>
          </p:cNvPr>
          <p:cNvSpPr/>
          <p:nvPr/>
        </p:nvSpPr>
        <p:spPr>
          <a:xfrm>
            <a:off x="2000672" y="548680"/>
            <a:ext cx="36004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8E088B8-4F52-9643-A65F-576DA3DE7EB2}"/>
              </a:ext>
            </a:extLst>
          </p:cNvPr>
          <p:cNvSpPr/>
          <p:nvPr/>
        </p:nvSpPr>
        <p:spPr>
          <a:xfrm>
            <a:off x="2360712" y="548680"/>
            <a:ext cx="360040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72E0406-6775-5C4C-A097-E96D0E3446C2}"/>
              </a:ext>
            </a:extLst>
          </p:cNvPr>
          <p:cNvSpPr/>
          <p:nvPr/>
        </p:nvSpPr>
        <p:spPr>
          <a:xfrm>
            <a:off x="920552" y="548680"/>
            <a:ext cx="360040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71E3141-595E-5544-9C6E-62BEF0B17F94}"/>
              </a:ext>
            </a:extLst>
          </p:cNvPr>
          <p:cNvSpPr/>
          <p:nvPr/>
        </p:nvSpPr>
        <p:spPr>
          <a:xfrm>
            <a:off x="1280592" y="1340768"/>
            <a:ext cx="360040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71657D1-094C-A34B-9C7F-60EBEE15AF15}"/>
              </a:ext>
            </a:extLst>
          </p:cNvPr>
          <p:cNvSpPr/>
          <p:nvPr/>
        </p:nvSpPr>
        <p:spPr>
          <a:xfrm>
            <a:off x="1640632" y="1340768"/>
            <a:ext cx="360040" cy="360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C785987-4A61-A249-B5B5-A6F09F0F0403}"/>
              </a:ext>
            </a:extLst>
          </p:cNvPr>
          <p:cNvSpPr/>
          <p:nvPr/>
        </p:nvSpPr>
        <p:spPr>
          <a:xfrm>
            <a:off x="2000672" y="1340768"/>
            <a:ext cx="360040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964DE1C-BAF8-0C4B-9B54-30F8E8494D7D}"/>
              </a:ext>
            </a:extLst>
          </p:cNvPr>
          <p:cNvSpPr/>
          <p:nvPr/>
        </p:nvSpPr>
        <p:spPr>
          <a:xfrm>
            <a:off x="2360712" y="1340768"/>
            <a:ext cx="360040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9A9724A-4597-4F47-A346-F20840344877}"/>
              </a:ext>
            </a:extLst>
          </p:cNvPr>
          <p:cNvSpPr/>
          <p:nvPr/>
        </p:nvSpPr>
        <p:spPr>
          <a:xfrm>
            <a:off x="920552" y="1340768"/>
            <a:ext cx="360040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A77E2A9-0EB8-6044-B6A9-AF264EED02D4}"/>
              </a:ext>
            </a:extLst>
          </p:cNvPr>
          <p:cNvSpPr txBox="1"/>
          <p:nvPr/>
        </p:nvSpPr>
        <p:spPr>
          <a:xfrm>
            <a:off x="442918" y="548680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t</a:t>
            </a:r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E6B5527-D3E5-644A-8B15-D5204B3DB2EB}"/>
              </a:ext>
            </a:extLst>
          </p:cNvPr>
          <p:cNvSpPr txBox="1"/>
          <p:nvPr/>
        </p:nvSpPr>
        <p:spPr>
          <a:xfrm>
            <a:off x="344488" y="1340768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t+1</a:t>
            </a:r>
            <a:endParaRPr kumimoji="1" lang="ja-JP" altLang="en-US"/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B8BEE15E-EE65-7D43-8D3C-E27FAF213DBA}"/>
              </a:ext>
            </a:extLst>
          </p:cNvPr>
          <p:cNvCxnSpPr>
            <a:stCxn id="3" idx="2"/>
            <a:endCxn id="8" idx="0"/>
          </p:cNvCxnSpPr>
          <p:nvPr/>
        </p:nvCxnSpPr>
        <p:spPr>
          <a:xfrm>
            <a:off x="1820652" y="908720"/>
            <a:ext cx="0" cy="432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BCD72001-B89B-7E46-BC5A-95F56BA2BC40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1928664" y="908720"/>
            <a:ext cx="252028" cy="432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EBCA4A69-B782-DA42-9648-06DB4C759B5C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1460612" y="908720"/>
            <a:ext cx="252028" cy="432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21DAD823-1FAD-674F-866C-064A287EE53C}"/>
              </a:ext>
            </a:extLst>
          </p:cNvPr>
          <p:cNvSpPr txBox="1"/>
          <p:nvPr/>
        </p:nvSpPr>
        <p:spPr>
          <a:xfrm>
            <a:off x="3152800" y="764704"/>
            <a:ext cx="48013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ある点の、次の時刻の状態を計算するには、</a:t>
            </a:r>
            <a:endParaRPr kumimoji="1" lang="en-US" altLang="ja-JP"/>
          </a:p>
          <a:p>
            <a:r>
              <a:rPr lang="ja-JP" altLang="en-US"/>
              <a:t>両脇の点の情報が必要になる</a:t>
            </a:r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1C25455B-0D28-0C45-9761-51071C0B1A29}"/>
              </a:ext>
            </a:extLst>
          </p:cNvPr>
          <p:cNvSpPr/>
          <p:nvPr/>
        </p:nvSpPr>
        <p:spPr>
          <a:xfrm>
            <a:off x="2792760" y="2708920"/>
            <a:ext cx="360040" cy="36004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9F242A2C-1498-ED44-8369-5AF8838E2A0C}"/>
              </a:ext>
            </a:extLst>
          </p:cNvPr>
          <p:cNvSpPr/>
          <p:nvPr/>
        </p:nvSpPr>
        <p:spPr>
          <a:xfrm>
            <a:off x="3224808" y="2708920"/>
            <a:ext cx="360040" cy="36004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6F2B89A4-5851-1547-B36C-D0F0F2A321EA}"/>
              </a:ext>
            </a:extLst>
          </p:cNvPr>
          <p:cNvSpPr/>
          <p:nvPr/>
        </p:nvSpPr>
        <p:spPr>
          <a:xfrm>
            <a:off x="3656856" y="2708920"/>
            <a:ext cx="360040" cy="36004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D3D5C961-90B9-7E45-8F92-E59379B98D31}"/>
              </a:ext>
            </a:extLst>
          </p:cNvPr>
          <p:cNvSpPr/>
          <p:nvPr/>
        </p:nvSpPr>
        <p:spPr>
          <a:xfrm>
            <a:off x="4088904" y="2708920"/>
            <a:ext cx="360040" cy="36004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66679E91-354F-844B-B5EE-94FD0E6A8668}"/>
              </a:ext>
            </a:extLst>
          </p:cNvPr>
          <p:cNvSpPr/>
          <p:nvPr/>
        </p:nvSpPr>
        <p:spPr>
          <a:xfrm>
            <a:off x="4520952" y="2708920"/>
            <a:ext cx="360040" cy="36004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CAD0387D-F3B3-064F-A65B-7A74569BCAE7}"/>
              </a:ext>
            </a:extLst>
          </p:cNvPr>
          <p:cNvSpPr/>
          <p:nvPr/>
        </p:nvSpPr>
        <p:spPr>
          <a:xfrm>
            <a:off x="4953000" y="2708920"/>
            <a:ext cx="360040" cy="36004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1F8850D5-95EF-CC44-B214-2B86A54F78C1}"/>
              </a:ext>
            </a:extLst>
          </p:cNvPr>
          <p:cNvSpPr/>
          <p:nvPr/>
        </p:nvSpPr>
        <p:spPr>
          <a:xfrm>
            <a:off x="5385048" y="2708920"/>
            <a:ext cx="360040" cy="36004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8A6A84B1-9178-BE4A-9CEF-B8D595E59E34}"/>
              </a:ext>
            </a:extLst>
          </p:cNvPr>
          <p:cNvSpPr/>
          <p:nvPr/>
        </p:nvSpPr>
        <p:spPr>
          <a:xfrm>
            <a:off x="5817096" y="2708920"/>
            <a:ext cx="360040" cy="36004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A1DAC848-982C-5B43-8675-B7BD13011DF1}"/>
              </a:ext>
            </a:extLst>
          </p:cNvPr>
          <p:cNvSpPr txBox="1"/>
          <p:nvPr/>
        </p:nvSpPr>
        <p:spPr>
          <a:xfrm>
            <a:off x="3368824" y="1988840"/>
            <a:ext cx="21723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/>
              <a:t>元の世界</a:t>
            </a:r>
            <a:endParaRPr kumimoji="1" lang="en-US" altLang="ja-JP"/>
          </a:p>
          <a:p>
            <a:pPr algn="ctr"/>
            <a:r>
              <a:rPr kumimoji="1" lang="en-US" altLang="ja-JP"/>
              <a:t>(</a:t>
            </a:r>
            <a:r>
              <a:rPr kumimoji="1" lang="ja-JP" altLang="en-US"/>
              <a:t>グローバルデータ</a:t>
            </a:r>
            <a:r>
              <a:rPr kumimoji="1" lang="en-US" altLang="ja-JP"/>
              <a:t>)</a:t>
            </a:r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91ED7E59-2632-FB46-86CC-1A393509454C}"/>
              </a:ext>
            </a:extLst>
          </p:cNvPr>
          <p:cNvSpPr/>
          <p:nvPr/>
        </p:nvSpPr>
        <p:spPr>
          <a:xfrm>
            <a:off x="1640632" y="3645024"/>
            <a:ext cx="360040" cy="36004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B1151093-4A26-034F-B2E5-4F70C2AA8763}"/>
              </a:ext>
            </a:extLst>
          </p:cNvPr>
          <p:cNvSpPr/>
          <p:nvPr/>
        </p:nvSpPr>
        <p:spPr>
          <a:xfrm>
            <a:off x="2072680" y="3645024"/>
            <a:ext cx="360040" cy="36004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928B45CA-9CCA-BF4D-A738-7543DE4314B2}"/>
              </a:ext>
            </a:extLst>
          </p:cNvPr>
          <p:cNvSpPr/>
          <p:nvPr/>
        </p:nvSpPr>
        <p:spPr>
          <a:xfrm>
            <a:off x="2504728" y="3645024"/>
            <a:ext cx="360040" cy="36004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30C99AC6-B020-E348-A562-7555DC41FDF0}"/>
              </a:ext>
            </a:extLst>
          </p:cNvPr>
          <p:cNvSpPr/>
          <p:nvPr/>
        </p:nvSpPr>
        <p:spPr>
          <a:xfrm>
            <a:off x="2936776" y="3645024"/>
            <a:ext cx="360040" cy="36004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D099698C-76FE-4144-9A9E-45CEAD461780}"/>
              </a:ext>
            </a:extLst>
          </p:cNvPr>
          <p:cNvSpPr/>
          <p:nvPr/>
        </p:nvSpPr>
        <p:spPr>
          <a:xfrm>
            <a:off x="3368824" y="3645024"/>
            <a:ext cx="360040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4310F876-07AF-B84D-806B-E06DE95212FA}"/>
              </a:ext>
            </a:extLst>
          </p:cNvPr>
          <p:cNvSpPr/>
          <p:nvPr/>
        </p:nvSpPr>
        <p:spPr>
          <a:xfrm>
            <a:off x="1208584" y="3645024"/>
            <a:ext cx="360040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4A2EF17A-3267-8047-9FAE-90A2917407E6}"/>
              </a:ext>
            </a:extLst>
          </p:cNvPr>
          <p:cNvSpPr/>
          <p:nvPr/>
        </p:nvSpPr>
        <p:spPr>
          <a:xfrm>
            <a:off x="5673080" y="3645024"/>
            <a:ext cx="360040" cy="36004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0AFF6B31-296B-774D-8591-5303F5A0A8B3}"/>
              </a:ext>
            </a:extLst>
          </p:cNvPr>
          <p:cNvSpPr/>
          <p:nvPr/>
        </p:nvSpPr>
        <p:spPr>
          <a:xfrm>
            <a:off x="6105128" y="3645024"/>
            <a:ext cx="360040" cy="36004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191F6B36-7B24-5E4C-A7B1-B7714F7083B9}"/>
              </a:ext>
            </a:extLst>
          </p:cNvPr>
          <p:cNvSpPr/>
          <p:nvPr/>
        </p:nvSpPr>
        <p:spPr>
          <a:xfrm>
            <a:off x="6537176" y="3645024"/>
            <a:ext cx="360040" cy="36004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01F85F7C-4628-E342-A381-EF0E5408E40D}"/>
              </a:ext>
            </a:extLst>
          </p:cNvPr>
          <p:cNvSpPr/>
          <p:nvPr/>
        </p:nvSpPr>
        <p:spPr>
          <a:xfrm>
            <a:off x="6969224" y="3645024"/>
            <a:ext cx="360040" cy="36004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05D6E1AD-987F-7747-8932-CA81C557C006}"/>
              </a:ext>
            </a:extLst>
          </p:cNvPr>
          <p:cNvSpPr/>
          <p:nvPr/>
        </p:nvSpPr>
        <p:spPr>
          <a:xfrm>
            <a:off x="7401272" y="3645024"/>
            <a:ext cx="360040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9127B5CB-33C6-6445-87B5-AFF0DB7E0536}"/>
              </a:ext>
            </a:extLst>
          </p:cNvPr>
          <p:cNvSpPr/>
          <p:nvPr/>
        </p:nvSpPr>
        <p:spPr>
          <a:xfrm>
            <a:off x="5241032" y="3645024"/>
            <a:ext cx="360040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F56DDA63-D90A-D743-BBEF-A0DB8E8ED1DB}"/>
              </a:ext>
            </a:extLst>
          </p:cNvPr>
          <p:cNvCxnSpPr>
            <a:cxnSpLocks/>
          </p:cNvCxnSpPr>
          <p:nvPr/>
        </p:nvCxnSpPr>
        <p:spPr>
          <a:xfrm flipH="1">
            <a:off x="2936776" y="3139440"/>
            <a:ext cx="680184" cy="3615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031D0855-4CCD-0045-9157-EF9C52AC3A6A}"/>
              </a:ext>
            </a:extLst>
          </p:cNvPr>
          <p:cNvCxnSpPr>
            <a:cxnSpLocks/>
          </p:cNvCxnSpPr>
          <p:nvPr/>
        </p:nvCxnSpPr>
        <p:spPr>
          <a:xfrm>
            <a:off x="5385048" y="3140968"/>
            <a:ext cx="648072" cy="3600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49C16C4C-BA83-0C4D-83E2-02CEF66651D0}"/>
              </a:ext>
            </a:extLst>
          </p:cNvPr>
          <p:cNvSpPr txBox="1"/>
          <p:nvPr/>
        </p:nvSpPr>
        <p:spPr>
          <a:xfrm>
            <a:off x="5673080" y="3068960"/>
            <a:ext cx="318548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ja-JP" altLang="en-US"/>
              <a:t>「のりしろ」付きで領域分割</a:t>
            </a: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F0ECC09C-E5C2-984B-AEF6-71EE28619D2C}"/>
              </a:ext>
            </a:extLst>
          </p:cNvPr>
          <p:cNvSpPr/>
          <p:nvPr/>
        </p:nvSpPr>
        <p:spPr>
          <a:xfrm>
            <a:off x="1568624" y="4941168"/>
            <a:ext cx="360040" cy="36004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0DA0E982-0DC1-1449-A13D-A6D83D274F90}"/>
              </a:ext>
            </a:extLst>
          </p:cNvPr>
          <p:cNvSpPr/>
          <p:nvPr/>
        </p:nvSpPr>
        <p:spPr>
          <a:xfrm>
            <a:off x="2000672" y="4941168"/>
            <a:ext cx="360040" cy="36004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F74062DB-05F2-1349-ABF2-6B6CF393CF9F}"/>
              </a:ext>
            </a:extLst>
          </p:cNvPr>
          <p:cNvSpPr/>
          <p:nvPr/>
        </p:nvSpPr>
        <p:spPr>
          <a:xfrm>
            <a:off x="2432720" y="4941168"/>
            <a:ext cx="360040" cy="36004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B247E025-6EB6-3A43-9914-A92A8389A2C0}"/>
              </a:ext>
            </a:extLst>
          </p:cNvPr>
          <p:cNvSpPr/>
          <p:nvPr/>
        </p:nvSpPr>
        <p:spPr>
          <a:xfrm>
            <a:off x="2864768" y="4941168"/>
            <a:ext cx="360040" cy="36004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24BA4915-04A0-EC4C-95BB-B04F69559B1E}"/>
              </a:ext>
            </a:extLst>
          </p:cNvPr>
          <p:cNvSpPr/>
          <p:nvPr/>
        </p:nvSpPr>
        <p:spPr>
          <a:xfrm>
            <a:off x="3296816" y="4941168"/>
            <a:ext cx="360040" cy="360040"/>
          </a:xfrm>
          <a:prstGeom prst="rect">
            <a:avLst/>
          </a:prstGeom>
          <a:solidFill>
            <a:srgbClr val="00B050"/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601F66FC-2F7B-2843-9DDB-28ABD2CB2D54}"/>
              </a:ext>
            </a:extLst>
          </p:cNvPr>
          <p:cNvSpPr/>
          <p:nvPr/>
        </p:nvSpPr>
        <p:spPr>
          <a:xfrm>
            <a:off x="1136576" y="4941168"/>
            <a:ext cx="360040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241F6608-6CC9-7943-9A7C-5568EDD5C07B}"/>
              </a:ext>
            </a:extLst>
          </p:cNvPr>
          <p:cNvSpPr/>
          <p:nvPr/>
        </p:nvSpPr>
        <p:spPr>
          <a:xfrm>
            <a:off x="5673080" y="4941168"/>
            <a:ext cx="360040" cy="36004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296F2FA8-F63E-074C-B220-926EEBC5EDB1}"/>
              </a:ext>
            </a:extLst>
          </p:cNvPr>
          <p:cNvSpPr/>
          <p:nvPr/>
        </p:nvSpPr>
        <p:spPr>
          <a:xfrm>
            <a:off x="6105128" y="4941168"/>
            <a:ext cx="360040" cy="36004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0305915E-0155-D241-8D56-A319CEC1CC4F}"/>
              </a:ext>
            </a:extLst>
          </p:cNvPr>
          <p:cNvSpPr/>
          <p:nvPr/>
        </p:nvSpPr>
        <p:spPr>
          <a:xfrm>
            <a:off x="6537176" y="4941168"/>
            <a:ext cx="360040" cy="36004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D521ECBC-4032-734D-A51F-47A3F2D6BE76}"/>
              </a:ext>
            </a:extLst>
          </p:cNvPr>
          <p:cNvSpPr/>
          <p:nvPr/>
        </p:nvSpPr>
        <p:spPr>
          <a:xfrm>
            <a:off x="6969224" y="4941168"/>
            <a:ext cx="360040" cy="36004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70551D40-BB50-E740-B57B-5C13D1C4FC27}"/>
              </a:ext>
            </a:extLst>
          </p:cNvPr>
          <p:cNvSpPr/>
          <p:nvPr/>
        </p:nvSpPr>
        <p:spPr>
          <a:xfrm>
            <a:off x="7401272" y="4941168"/>
            <a:ext cx="360040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4A9902BD-0DB7-AB4D-B402-6C45EC6E19A5}"/>
              </a:ext>
            </a:extLst>
          </p:cNvPr>
          <p:cNvSpPr/>
          <p:nvPr/>
        </p:nvSpPr>
        <p:spPr>
          <a:xfrm>
            <a:off x="5241032" y="4941168"/>
            <a:ext cx="360040" cy="360040"/>
          </a:xfrm>
          <a:prstGeom prst="rect">
            <a:avLst/>
          </a:prstGeom>
          <a:solidFill>
            <a:srgbClr val="FF0000"/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3" name="カギ線コネクタ 72">
            <a:extLst>
              <a:ext uri="{FF2B5EF4-FFF2-40B4-BE49-F238E27FC236}">
                <a16:creationId xmlns:a16="http://schemas.microsoft.com/office/drawing/2014/main" id="{C8AF2208-B94B-B942-9E33-72651C8CFB1B}"/>
              </a:ext>
            </a:extLst>
          </p:cNvPr>
          <p:cNvCxnSpPr>
            <a:cxnSpLocks/>
            <a:stCxn id="65" idx="0"/>
            <a:endCxn id="63" idx="0"/>
          </p:cNvCxnSpPr>
          <p:nvPr/>
        </p:nvCxnSpPr>
        <p:spPr>
          <a:xfrm rot="16200000" flipV="1">
            <a:off x="4664968" y="3753036"/>
            <a:ext cx="12700" cy="2376264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カギ線コネクタ 76">
            <a:extLst>
              <a:ext uri="{FF2B5EF4-FFF2-40B4-BE49-F238E27FC236}">
                <a16:creationId xmlns:a16="http://schemas.microsoft.com/office/drawing/2014/main" id="{1A19567B-8278-9A4B-A2FA-A3A27AF68124}"/>
              </a:ext>
            </a:extLst>
          </p:cNvPr>
          <p:cNvCxnSpPr>
            <a:cxnSpLocks/>
            <a:stCxn id="62" idx="0"/>
            <a:endCxn id="70" idx="0"/>
          </p:cNvCxnSpPr>
          <p:nvPr/>
        </p:nvCxnSpPr>
        <p:spPr>
          <a:xfrm rot="5400000" flipH="1" flipV="1">
            <a:off x="4232920" y="3753036"/>
            <a:ext cx="12700" cy="2376264"/>
          </a:xfrm>
          <a:prstGeom prst="bentConnector3">
            <a:avLst>
              <a:gd name="adj1" fmla="val 34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DFE0AE4A-6D85-4143-AFD1-AF444A9B4277}"/>
              </a:ext>
            </a:extLst>
          </p:cNvPr>
          <p:cNvSpPr txBox="1"/>
          <p:nvPr/>
        </p:nvSpPr>
        <p:spPr>
          <a:xfrm>
            <a:off x="3368824" y="4077072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まず端の情報を交換</a:t>
            </a:r>
            <a:endParaRPr kumimoji="1" lang="ja-JP" altLang="en-US"/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E1AE3BC0-0EEE-CE4F-A901-D0FA4D1C865C}"/>
              </a:ext>
            </a:extLst>
          </p:cNvPr>
          <p:cNvSpPr txBox="1"/>
          <p:nvPr/>
        </p:nvSpPr>
        <p:spPr>
          <a:xfrm>
            <a:off x="658942" y="4941168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t</a:t>
            </a:r>
            <a:endParaRPr kumimoji="1" lang="ja-JP" altLang="en-US"/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8356DE46-9C78-5D41-88F8-E4AE90854C3A}"/>
              </a:ext>
            </a:extLst>
          </p:cNvPr>
          <p:cNvSpPr txBox="1"/>
          <p:nvPr/>
        </p:nvSpPr>
        <p:spPr>
          <a:xfrm>
            <a:off x="560512" y="5733256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t+1</a:t>
            </a:r>
            <a:endParaRPr kumimoji="1" lang="ja-JP" altLang="en-US"/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A457A18C-5641-944E-A5A4-AD66300AA43C}"/>
              </a:ext>
            </a:extLst>
          </p:cNvPr>
          <p:cNvSpPr/>
          <p:nvPr/>
        </p:nvSpPr>
        <p:spPr>
          <a:xfrm>
            <a:off x="1568624" y="5733256"/>
            <a:ext cx="360040" cy="36004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9952D1B5-1036-0F44-B4C3-F6DD5A17AF43}"/>
              </a:ext>
            </a:extLst>
          </p:cNvPr>
          <p:cNvSpPr/>
          <p:nvPr/>
        </p:nvSpPr>
        <p:spPr>
          <a:xfrm>
            <a:off x="2000672" y="5733256"/>
            <a:ext cx="360040" cy="36004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6D5D536A-5854-7B43-A84E-14CE7D9C4E59}"/>
              </a:ext>
            </a:extLst>
          </p:cNvPr>
          <p:cNvSpPr/>
          <p:nvPr/>
        </p:nvSpPr>
        <p:spPr>
          <a:xfrm>
            <a:off x="2432720" y="5733256"/>
            <a:ext cx="360040" cy="36004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3C68AB2A-ED08-E24C-8CE1-57DB3718EF4D}"/>
              </a:ext>
            </a:extLst>
          </p:cNvPr>
          <p:cNvSpPr/>
          <p:nvPr/>
        </p:nvSpPr>
        <p:spPr>
          <a:xfrm>
            <a:off x="2864768" y="5733256"/>
            <a:ext cx="360040" cy="36004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A3D48BE5-2776-EE44-A4A3-28DDA37D3BF4}"/>
              </a:ext>
            </a:extLst>
          </p:cNvPr>
          <p:cNvSpPr/>
          <p:nvPr/>
        </p:nvSpPr>
        <p:spPr>
          <a:xfrm>
            <a:off x="3296816" y="5733256"/>
            <a:ext cx="360040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870624F0-3852-C740-9479-E5D029CEF469}"/>
              </a:ext>
            </a:extLst>
          </p:cNvPr>
          <p:cNvSpPr/>
          <p:nvPr/>
        </p:nvSpPr>
        <p:spPr>
          <a:xfrm>
            <a:off x="1136576" y="5733256"/>
            <a:ext cx="360040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853C1588-1E78-2141-BDD4-0907F2FB050B}"/>
              </a:ext>
            </a:extLst>
          </p:cNvPr>
          <p:cNvSpPr/>
          <p:nvPr/>
        </p:nvSpPr>
        <p:spPr>
          <a:xfrm>
            <a:off x="5673080" y="5733256"/>
            <a:ext cx="360040" cy="36004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0E6CAE55-B323-BB40-A548-1D8AB58430A7}"/>
              </a:ext>
            </a:extLst>
          </p:cNvPr>
          <p:cNvSpPr/>
          <p:nvPr/>
        </p:nvSpPr>
        <p:spPr>
          <a:xfrm>
            <a:off x="6105128" y="5733256"/>
            <a:ext cx="360040" cy="36004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103AB08D-2E3E-F94B-8669-F6DF47D5712C}"/>
              </a:ext>
            </a:extLst>
          </p:cNvPr>
          <p:cNvSpPr/>
          <p:nvPr/>
        </p:nvSpPr>
        <p:spPr>
          <a:xfrm>
            <a:off x="6537176" y="5733256"/>
            <a:ext cx="360040" cy="36004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BC38CDB9-F0EB-5C4D-8625-5B079E22B9CB}"/>
              </a:ext>
            </a:extLst>
          </p:cNvPr>
          <p:cNvSpPr/>
          <p:nvPr/>
        </p:nvSpPr>
        <p:spPr>
          <a:xfrm>
            <a:off x="6969224" y="5733256"/>
            <a:ext cx="360040" cy="36004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C79E214C-9344-8F4A-BB36-E10FA5F38FA7}"/>
              </a:ext>
            </a:extLst>
          </p:cNvPr>
          <p:cNvSpPr/>
          <p:nvPr/>
        </p:nvSpPr>
        <p:spPr>
          <a:xfrm>
            <a:off x="7401272" y="5733256"/>
            <a:ext cx="360040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037771F7-9091-CD48-B2B1-43CF45162F41}"/>
              </a:ext>
            </a:extLst>
          </p:cNvPr>
          <p:cNvSpPr/>
          <p:nvPr/>
        </p:nvSpPr>
        <p:spPr>
          <a:xfrm>
            <a:off x="5241032" y="5733256"/>
            <a:ext cx="360040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6CDBACEA-8D6D-5145-9336-4212840AA6AB}"/>
              </a:ext>
            </a:extLst>
          </p:cNvPr>
          <p:cNvCxnSpPr/>
          <p:nvPr/>
        </p:nvCxnSpPr>
        <p:spPr>
          <a:xfrm>
            <a:off x="3044788" y="5301208"/>
            <a:ext cx="0" cy="432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矢印コネクタ 99">
            <a:extLst>
              <a:ext uri="{FF2B5EF4-FFF2-40B4-BE49-F238E27FC236}">
                <a16:creationId xmlns:a16="http://schemas.microsoft.com/office/drawing/2014/main" id="{EF9961EA-C9C9-8246-98EA-095AE9288B78}"/>
              </a:ext>
            </a:extLst>
          </p:cNvPr>
          <p:cNvCxnSpPr>
            <a:cxnSpLocks/>
          </p:cNvCxnSpPr>
          <p:nvPr/>
        </p:nvCxnSpPr>
        <p:spPr>
          <a:xfrm flipH="1">
            <a:off x="3152800" y="5301208"/>
            <a:ext cx="252028" cy="432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2E62CBAD-82F7-E242-8C0F-0D1A63790206}"/>
              </a:ext>
            </a:extLst>
          </p:cNvPr>
          <p:cNvCxnSpPr>
            <a:cxnSpLocks/>
          </p:cNvCxnSpPr>
          <p:nvPr/>
        </p:nvCxnSpPr>
        <p:spPr>
          <a:xfrm>
            <a:off x="2684748" y="5301208"/>
            <a:ext cx="252028" cy="432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矢印コネクタ 101">
            <a:extLst>
              <a:ext uri="{FF2B5EF4-FFF2-40B4-BE49-F238E27FC236}">
                <a16:creationId xmlns:a16="http://schemas.microsoft.com/office/drawing/2014/main" id="{64A49FC3-1423-2F46-AB28-FDF164C50D43}"/>
              </a:ext>
            </a:extLst>
          </p:cNvPr>
          <p:cNvCxnSpPr/>
          <p:nvPr/>
        </p:nvCxnSpPr>
        <p:spPr>
          <a:xfrm>
            <a:off x="5853100" y="5301208"/>
            <a:ext cx="0" cy="432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C7E5C89F-E61E-B24C-BB0E-C36B848A3BB6}"/>
              </a:ext>
            </a:extLst>
          </p:cNvPr>
          <p:cNvCxnSpPr>
            <a:cxnSpLocks/>
          </p:cNvCxnSpPr>
          <p:nvPr/>
        </p:nvCxnSpPr>
        <p:spPr>
          <a:xfrm flipH="1">
            <a:off x="5961112" y="5301208"/>
            <a:ext cx="252028" cy="432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矢印コネクタ 103">
            <a:extLst>
              <a:ext uri="{FF2B5EF4-FFF2-40B4-BE49-F238E27FC236}">
                <a16:creationId xmlns:a16="http://schemas.microsoft.com/office/drawing/2014/main" id="{D0A2D758-25DA-B948-BBC1-8FEDBD3C5885}"/>
              </a:ext>
            </a:extLst>
          </p:cNvPr>
          <p:cNvCxnSpPr>
            <a:cxnSpLocks/>
          </p:cNvCxnSpPr>
          <p:nvPr/>
        </p:nvCxnSpPr>
        <p:spPr>
          <a:xfrm>
            <a:off x="5493060" y="5301208"/>
            <a:ext cx="252028" cy="432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6AF6BF48-8659-1545-A94C-E7808D137839}"/>
              </a:ext>
            </a:extLst>
          </p:cNvPr>
          <p:cNvSpPr txBox="1"/>
          <p:nvPr/>
        </p:nvSpPr>
        <p:spPr>
          <a:xfrm>
            <a:off x="1568624" y="6237312"/>
            <a:ext cx="6647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もらった情報をもとに、次の時刻の端の点の状態が計算できる</a:t>
            </a:r>
          </a:p>
        </p:txBody>
      </p:sp>
    </p:spTree>
    <p:extLst>
      <p:ext uri="{BB962C8B-B14F-4D97-AF65-F5344CB8AC3E}">
        <p14:creationId xmlns:p14="http://schemas.microsoft.com/office/powerpoint/2010/main" val="3166460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6C462CB-E053-B946-8270-83001F55D617}"/>
              </a:ext>
            </a:extLst>
          </p:cNvPr>
          <p:cNvSpPr txBox="1"/>
          <p:nvPr/>
        </p:nvSpPr>
        <p:spPr>
          <a:xfrm>
            <a:off x="2113280" y="254000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並列プログラムのファイルの吐き方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115FA73-4C70-7048-B5EE-D747BD448E6C}"/>
              </a:ext>
            </a:extLst>
          </p:cNvPr>
          <p:cNvSpPr txBox="1"/>
          <p:nvPr/>
        </p:nvSpPr>
        <p:spPr>
          <a:xfrm>
            <a:off x="142240" y="1137920"/>
            <a:ext cx="2720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1. </a:t>
            </a:r>
            <a:r>
              <a:rPr kumimoji="1" lang="ja-JP" altLang="en-US"/>
              <a:t>全プロセス勝手に吐く</a:t>
            </a: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DF9CC12F-CE98-EC4D-8A79-BCFF25957F9F}"/>
              </a:ext>
            </a:extLst>
          </p:cNvPr>
          <p:cNvGrpSpPr/>
          <p:nvPr/>
        </p:nvGrpSpPr>
        <p:grpSpPr>
          <a:xfrm>
            <a:off x="447040" y="1747520"/>
            <a:ext cx="2204720" cy="457200"/>
            <a:chOff x="396240" y="2062480"/>
            <a:chExt cx="2204720" cy="457200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8D32C5EA-26A0-6D4F-8018-441CFF59EE6F}"/>
                </a:ext>
              </a:extLst>
            </p:cNvPr>
            <p:cNvSpPr/>
            <p:nvPr/>
          </p:nvSpPr>
          <p:spPr>
            <a:xfrm>
              <a:off x="396240" y="2082800"/>
              <a:ext cx="1066800" cy="3860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tx1"/>
                  </a:solidFill>
                </a:rPr>
                <a:t>プロセス</a:t>
              </a:r>
              <a:r>
                <a:rPr kumimoji="1" lang="en-US" altLang="ja-JP" sz="1200">
                  <a:solidFill>
                    <a:schemeClr val="tx1"/>
                  </a:solidFill>
                </a:rPr>
                <a:t>1</a:t>
              </a:r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0" name="右矢印 9">
              <a:extLst>
                <a:ext uri="{FF2B5EF4-FFF2-40B4-BE49-F238E27FC236}">
                  <a16:creationId xmlns:a16="http://schemas.microsoft.com/office/drawing/2014/main" id="{D815AF72-2A7C-9446-A37E-EB9E3AF528BF}"/>
                </a:ext>
              </a:extLst>
            </p:cNvPr>
            <p:cNvSpPr/>
            <p:nvPr/>
          </p:nvSpPr>
          <p:spPr>
            <a:xfrm>
              <a:off x="1564640" y="2184400"/>
              <a:ext cx="325120" cy="23368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円柱 10">
              <a:extLst>
                <a:ext uri="{FF2B5EF4-FFF2-40B4-BE49-F238E27FC236}">
                  <a16:creationId xmlns:a16="http://schemas.microsoft.com/office/drawing/2014/main" id="{82CF3F62-C6FE-384E-94F0-6D24B283976D}"/>
                </a:ext>
              </a:extLst>
            </p:cNvPr>
            <p:cNvSpPr/>
            <p:nvPr/>
          </p:nvSpPr>
          <p:spPr>
            <a:xfrm>
              <a:off x="2103120" y="2062480"/>
              <a:ext cx="497840" cy="457200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233C97BA-3227-CF40-8281-16BBF1F6EA26}"/>
              </a:ext>
            </a:extLst>
          </p:cNvPr>
          <p:cNvGrpSpPr/>
          <p:nvPr/>
        </p:nvGrpSpPr>
        <p:grpSpPr>
          <a:xfrm>
            <a:off x="436880" y="2428240"/>
            <a:ext cx="2204720" cy="457200"/>
            <a:chOff x="396240" y="2062480"/>
            <a:chExt cx="2204720" cy="457200"/>
          </a:xfrm>
        </p:grpSpPr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E37C250A-70A8-F142-96B4-92663E78944E}"/>
                </a:ext>
              </a:extLst>
            </p:cNvPr>
            <p:cNvSpPr/>
            <p:nvPr/>
          </p:nvSpPr>
          <p:spPr>
            <a:xfrm>
              <a:off x="396240" y="2082800"/>
              <a:ext cx="1066800" cy="3860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tx1"/>
                  </a:solidFill>
                </a:rPr>
                <a:t>プロセス</a:t>
              </a:r>
              <a:r>
                <a:rPr kumimoji="1" lang="en-US" altLang="ja-JP" sz="1200">
                  <a:solidFill>
                    <a:schemeClr val="tx1"/>
                  </a:solidFill>
                </a:rPr>
                <a:t>2</a:t>
              </a:r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8" name="右矢印 17">
              <a:extLst>
                <a:ext uri="{FF2B5EF4-FFF2-40B4-BE49-F238E27FC236}">
                  <a16:creationId xmlns:a16="http://schemas.microsoft.com/office/drawing/2014/main" id="{5AA2856A-86CA-2646-BE7B-D8F37814AA0E}"/>
                </a:ext>
              </a:extLst>
            </p:cNvPr>
            <p:cNvSpPr/>
            <p:nvPr/>
          </p:nvSpPr>
          <p:spPr>
            <a:xfrm>
              <a:off x="1564640" y="2184400"/>
              <a:ext cx="325120" cy="23368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円柱 18">
              <a:extLst>
                <a:ext uri="{FF2B5EF4-FFF2-40B4-BE49-F238E27FC236}">
                  <a16:creationId xmlns:a16="http://schemas.microsoft.com/office/drawing/2014/main" id="{7F038B9D-EC31-7240-BA7B-A95B3E406407}"/>
                </a:ext>
              </a:extLst>
            </p:cNvPr>
            <p:cNvSpPr/>
            <p:nvPr/>
          </p:nvSpPr>
          <p:spPr>
            <a:xfrm>
              <a:off x="2103120" y="2062480"/>
              <a:ext cx="497840" cy="457200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09C32660-546C-AE44-8D70-87A9CF423689}"/>
              </a:ext>
            </a:extLst>
          </p:cNvPr>
          <p:cNvGrpSpPr/>
          <p:nvPr/>
        </p:nvGrpSpPr>
        <p:grpSpPr>
          <a:xfrm>
            <a:off x="457200" y="3108960"/>
            <a:ext cx="2204720" cy="457200"/>
            <a:chOff x="396240" y="2062480"/>
            <a:chExt cx="2204720" cy="457200"/>
          </a:xfrm>
        </p:grpSpPr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08A618E4-C125-B148-9C57-69377BD13F62}"/>
                </a:ext>
              </a:extLst>
            </p:cNvPr>
            <p:cNvSpPr/>
            <p:nvPr/>
          </p:nvSpPr>
          <p:spPr>
            <a:xfrm>
              <a:off x="396240" y="2082800"/>
              <a:ext cx="1066800" cy="3860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tx1"/>
                  </a:solidFill>
                </a:rPr>
                <a:t>プロセス</a:t>
              </a:r>
              <a:r>
                <a:rPr kumimoji="1" lang="en-US" altLang="ja-JP" sz="1200">
                  <a:solidFill>
                    <a:schemeClr val="tx1"/>
                  </a:solidFill>
                </a:rPr>
                <a:t>3</a:t>
              </a:r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22" name="右矢印 21">
              <a:extLst>
                <a:ext uri="{FF2B5EF4-FFF2-40B4-BE49-F238E27FC236}">
                  <a16:creationId xmlns:a16="http://schemas.microsoft.com/office/drawing/2014/main" id="{0C7FFE40-804D-8248-BD4A-181B04BC2B78}"/>
                </a:ext>
              </a:extLst>
            </p:cNvPr>
            <p:cNvSpPr/>
            <p:nvPr/>
          </p:nvSpPr>
          <p:spPr>
            <a:xfrm>
              <a:off x="1564640" y="2184400"/>
              <a:ext cx="325120" cy="23368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円柱 22">
              <a:extLst>
                <a:ext uri="{FF2B5EF4-FFF2-40B4-BE49-F238E27FC236}">
                  <a16:creationId xmlns:a16="http://schemas.microsoft.com/office/drawing/2014/main" id="{0509B231-6FDA-504E-84F1-B40BDEDCC038}"/>
                </a:ext>
              </a:extLst>
            </p:cNvPr>
            <p:cNvSpPr/>
            <p:nvPr/>
          </p:nvSpPr>
          <p:spPr>
            <a:xfrm>
              <a:off x="2103120" y="2062480"/>
              <a:ext cx="497840" cy="457200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EE56F33A-90E9-EB48-9880-EC6FF0F64108}"/>
              </a:ext>
            </a:extLst>
          </p:cNvPr>
          <p:cNvGrpSpPr/>
          <p:nvPr/>
        </p:nvGrpSpPr>
        <p:grpSpPr>
          <a:xfrm>
            <a:off x="447040" y="3789680"/>
            <a:ext cx="2204720" cy="457200"/>
            <a:chOff x="396240" y="2062480"/>
            <a:chExt cx="2204720" cy="457200"/>
          </a:xfrm>
        </p:grpSpPr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F3F1003B-EDE2-BC4C-8DAF-30E4007F7B31}"/>
                </a:ext>
              </a:extLst>
            </p:cNvPr>
            <p:cNvSpPr/>
            <p:nvPr/>
          </p:nvSpPr>
          <p:spPr>
            <a:xfrm>
              <a:off x="396240" y="2082800"/>
              <a:ext cx="1066800" cy="3860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tx1"/>
                  </a:solidFill>
                </a:rPr>
                <a:t>プロセス</a:t>
              </a:r>
              <a:r>
                <a:rPr kumimoji="1" lang="en-US" altLang="ja-JP" sz="1200">
                  <a:solidFill>
                    <a:schemeClr val="tx1"/>
                  </a:solidFill>
                </a:rPr>
                <a:t>4</a:t>
              </a:r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26" name="右矢印 25">
              <a:extLst>
                <a:ext uri="{FF2B5EF4-FFF2-40B4-BE49-F238E27FC236}">
                  <a16:creationId xmlns:a16="http://schemas.microsoft.com/office/drawing/2014/main" id="{B62D170E-5BC7-D247-B9C6-DE0B16CD9728}"/>
                </a:ext>
              </a:extLst>
            </p:cNvPr>
            <p:cNvSpPr/>
            <p:nvPr/>
          </p:nvSpPr>
          <p:spPr>
            <a:xfrm>
              <a:off x="1564640" y="2184400"/>
              <a:ext cx="325120" cy="23368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円柱 26">
              <a:extLst>
                <a:ext uri="{FF2B5EF4-FFF2-40B4-BE49-F238E27FC236}">
                  <a16:creationId xmlns:a16="http://schemas.microsoft.com/office/drawing/2014/main" id="{16335458-E7B4-B347-8CD5-258AAE059EF4}"/>
                </a:ext>
              </a:extLst>
            </p:cNvPr>
            <p:cNvSpPr/>
            <p:nvPr/>
          </p:nvSpPr>
          <p:spPr>
            <a:xfrm>
              <a:off x="2103120" y="2062480"/>
              <a:ext cx="497840" cy="457200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28" name="図 27">
            <a:extLst>
              <a:ext uri="{FF2B5EF4-FFF2-40B4-BE49-F238E27FC236}">
                <a16:creationId xmlns:a16="http://schemas.microsoft.com/office/drawing/2014/main" id="{ADB00824-5032-954F-86D7-BFE7C96D3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4848224"/>
            <a:ext cx="584200" cy="569595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7187F148-B783-7942-8892-B44716188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" y="5709920"/>
            <a:ext cx="554892" cy="541020"/>
          </a:xfrm>
          <a:prstGeom prst="rect">
            <a:avLst/>
          </a:prstGeom>
        </p:spPr>
      </p:pic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9F72D56-3384-6048-9B76-6C715C406CFD}"/>
              </a:ext>
            </a:extLst>
          </p:cNvPr>
          <p:cNvSpPr txBox="1"/>
          <p:nvPr/>
        </p:nvSpPr>
        <p:spPr>
          <a:xfrm>
            <a:off x="731520" y="492760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コーディングが楽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ABFAA4F4-D26C-2549-831D-910EC8663E6D}"/>
              </a:ext>
            </a:extLst>
          </p:cNvPr>
          <p:cNvSpPr txBox="1"/>
          <p:nvPr/>
        </p:nvSpPr>
        <p:spPr>
          <a:xfrm>
            <a:off x="619760" y="5740400"/>
            <a:ext cx="25186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ステップ数</a:t>
            </a:r>
            <a:r>
              <a:rPr lang="en-US" altLang="ja-JP" sz="1400"/>
              <a:t> x </a:t>
            </a:r>
            <a:r>
              <a:rPr lang="ja-JP" altLang="en-US" sz="1400"/>
              <a:t>プロセス数の</a:t>
            </a:r>
            <a:endParaRPr lang="en-US" altLang="ja-JP" sz="1400"/>
          </a:p>
          <a:p>
            <a:r>
              <a:rPr kumimoji="1" lang="ja-JP" altLang="en-US" sz="1400"/>
              <a:t>大量のファイルが出力される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4B390E9-3286-9047-A90E-BA5FEC395A7C}"/>
              </a:ext>
            </a:extLst>
          </p:cNvPr>
          <p:cNvSpPr txBox="1"/>
          <p:nvPr/>
        </p:nvSpPr>
        <p:spPr>
          <a:xfrm>
            <a:off x="3108960" y="1127760"/>
            <a:ext cx="2773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2.  </a:t>
            </a:r>
            <a:r>
              <a:rPr kumimoji="1" lang="ja-JP" altLang="en-US"/>
              <a:t>一つのファイルに</a:t>
            </a:r>
            <a:r>
              <a:rPr lang="ja-JP" altLang="en-US"/>
              <a:t>追記</a:t>
            </a:r>
            <a:endParaRPr kumimoji="1" lang="en-US" altLang="ja-JP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34F84F1A-D1B5-0D44-805E-2E1A6BF2BE28}"/>
              </a:ext>
            </a:extLst>
          </p:cNvPr>
          <p:cNvSpPr/>
          <p:nvPr/>
        </p:nvSpPr>
        <p:spPr>
          <a:xfrm>
            <a:off x="3423920" y="1950720"/>
            <a:ext cx="1066800" cy="3860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プロセス</a:t>
            </a:r>
            <a:r>
              <a:rPr kumimoji="1" lang="en-US" altLang="ja-JP" sz="1200">
                <a:solidFill>
                  <a:schemeClr val="tx1"/>
                </a:solidFill>
              </a:rPr>
              <a:t>1</a:t>
            </a:r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35" name="右矢印 34">
            <a:extLst>
              <a:ext uri="{FF2B5EF4-FFF2-40B4-BE49-F238E27FC236}">
                <a16:creationId xmlns:a16="http://schemas.microsoft.com/office/drawing/2014/main" id="{EF45AEF4-D313-D144-80A1-59A07A39FC7D}"/>
              </a:ext>
            </a:extLst>
          </p:cNvPr>
          <p:cNvSpPr/>
          <p:nvPr/>
        </p:nvSpPr>
        <p:spPr>
          <a:xfrm rot="2434354">
            <a:off x="4683760" y="2275840"/>
            <a:ext cx="325120" cy="23368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円柱 35">
            <a:extLst>
              <a:ext uri="{FF2B5EF4-FFF2-40B4-BE49-F238E27FC236}">
                <a16:creationId xmlns:a16="http://schemas.microsoft.com/office/drawing/2014/main" id="{04E4AC73-FB9D-7040-BB65-FF7F4C2D69DF}"/>
              </a:ext>
            </a:extLst>
          </p:cNvPr>
          <p:cNvSpPr/>
          <p:nvPr/>
        </p:nvSpPr>
        <p:spPr>
          <a:xfrm>
            <a:off x="5140960" y="2651760"/>
            <a:ext cx="762000" cy="74168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86A3B795-4897-594A-9383-0D06BF5EE148}"/>
              </a:ext>
            </a:extLst>
          </p:cNvPr>
          <p:cNvSpPr/>
          <p:nvPr/>
        </p:nvSpPr>
        <p:spPr>
          <a:xfrm>
            <a:off x="3423920" y="2560320"/>
            <a:ext cx="1066800" cy="3860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プロセス</a:t>
            </a:r>
            <a:r>
              <a:rPr kumimoji="1" lang="en-US" altLang="ja-JP" sz="1200">
                <a:solidFill>
                  <a:schemeClr val="tx1"/>
                </a:solidFill>
              </a:rPr>
              <a:t>2</a:t>
            </a:r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EAF3676E-7981-1947-8A3F-AD39D1483136}"/>
              </a:ext>
            </a:extLst>
          </p:cNvPr>
          <p:cNvSpPr/>
          <p:nvPr/>
        </p:nvSpPr>
        <p:spPr>
          <a:xfrm>
            <a:off x="3423920" y="3129280"/>
            <a:ext cx="1066800" cy="3860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プロセス</a:t>
            </a:r>
            <a:r>
              <a:rPr kumimoji="1" lang="en-US" altLang="ja-JP" sz="1200">
                <a:solidFill>
                  <a:schemeClr val="tx1"/>
                </a:solidFill>
              </a:rPr>
              <a:t>3</a:t>
            </a:r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9DAB8A7D-7857-6F40-9FE5-BD26AAA84648}"/>
              </a:ext>
            </a:extLst>
          </p:cNvPr>
          <p:cNvSpPr/>
          <p:nvPr/>
        </p:nvSpPr>
        <p:spPr>
          <a:xfrm>
            <a:off x="3423920" y="3738880"/>
            <a:ext cx="1066800" cy="3860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プロセス</a:t>
            </a:r>
            <a:r>
              <a:rPr kumimoji="1" lang="en-US" altLang="ja-JP" sz="1200">
                <a:solidFill>
                  <a:schemeClr val="tx1"/>
                </a:solidFill>
              </a:rPr>
              <a:t>4</a:t>
            </a:r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40" name="右矢印 39">
            <a:extLst>
              <a:ext uri="{FF2B5EF4-FFF2-40B4-BE49-F238E27FC236}">
                <a16:creationId xmlns:a16="http://schemas.microsoft.com/office/drawing/2014/main" id="{00E03DCA-B5E5-2142-B79F-F2B2427F5B60}"/>
              </a:ext>
            </a:extLst>
          </p:cNvPr>
          <p:cNvSpPr/>
          <p:nvPr/>
        </p:nvSpPr>
        <p:spPr>
          <a:xfrm rot="900000">
            <a:off x="4673600" y="2722880"/>
            <a:ext cx="325120" cy="23368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右矢印 41">
            <a:extLst>
              <a:ext uri="{FF2B5EF4-FFF2-40B4-BE49-F238E27FC236}">
                <a16:creationId xmlns:a16="http://schemas.microsoft.com/office/drawing/2014/main" id="{E4039A80-BF69-6F4C-B307-548D12AC974B}"/>
              </a:ext>
            </a:extLst>
          </p:cNvPr>
          <p:cNvSpPr/>
          <p:nvPr/>
        </p:nvSpPr>
        <p:spPr>
          <a:xfrm rot="19800000">
            <a:off x="4693921" y="3180080"/>
            <a:ext cx="325120" cy="23368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右矢印 42">
            <a:extLst>
              <a:ext uri="{FF2B5EF4-FFF2-40B4-BE49-F238E27FC236}">
                <a16:creationId xmlns:a16="http://schemas.microsoft.com/office/drawing/2014/main" id="{28F9531E-EE1E-334B-AE62-90B6BADFD0D0}"/>
              </a:ext>
            </a:extLst>
          </p:cNvPr>
          <p:cNvSpPr/>
          <p:nvPr/>
        </p:nvSpPr>
        <p:spPr>
          <a:xfrm rot="18000000">
            <a:off x="4724401" y="3637280"/>
            <a:ext cx="325120" cy="23368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4" name="図 43">
            <a:extLst>
              <a:ext uri="{FF2B5EF4-FFF2-40B4-BE49-F238E27FC236}">
                <a16:creationId xmlns:a16="http://schemas.microsoft.com/office/drawing/2014/main" id="{F5138F21-CA08-C649-8CE3-6B6B0A73B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360" y="4858384"/>
            <a:ext cx="584200" cy="569595"/>
          </a:xfrm>
          <a:prstGeom prst="rect">
            <a:avLst/>
          </a:prstGeom>
        </p:spPr>
      </p:pic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ADADA0AC-59DB-8C40-8015-EF9F9554F8C3}"/>
              </a:ext>
            </a:extLst>
          </p:cNvPr>
          <p:cNvSpPr txBox="1"/>
          <p:nvPr/>
        </p:nvSpPr>
        <p:spPr>
          <a:xfrm>
            <a:off x="4033520" y="5019040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ファイル数が減る</a:t>
            </a:r>
          </a:p>
        </p:txBody>
      </p:sp>
      <p:pic>
        <p:nvPicPr>
          <p:cNvPr id="46" name="図 45">
            <a:extLst>
              <a:ext uri="{FF2B5EF4-FFF2-40B4-BE49-F238E27FC236}">
                <a16:creationId xmlns:a16="http://schemas.microsoft.com/office/drawing/2014/main" id="{0FF766B1-5397-634A-A196-44D9F42D8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840" y="5669280"/>
            <a:ext cx="554892" cy="541020"/>
          </a:xfrm>
          <a:prstGeom prst="rect">
            <a:avLst/>
          </a:prstGeom>
        </p:spPr>
      </p:pic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CF1CBCB8-8339-D54B-96D4-C03BA7252644}"/>
              </a:ext>
            </a:extLst>
          </p:cNvPr>
          <p:cNvSpPr txBox="1"/>
          <p:nvPr/>
        </p:nvSpPr>
        <p:spPr>
          <a:xfrm>
            <a:off x="4003040" y="5791200"/>
            <a:ext cx="21595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/>
              <a:t>プロセス数が多いと遅い</a:t>
            </a:r>
            <a:endParaRPr lang="en-US" altLang="ja-JP" sz="1400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599928BA-85E2-4F43-B236-D3F7A86E9FA3}"/>
              </a:ext>
            </a:extLst>
          </p:cNvPr>
          <p:cNvSpPr txBox="1"/>
          <p:nvPr/>
        </p:nvSpPr>
        <p:spPr>
          <a:xfrm>
            <a:off x="6583680" y="1137920"/>
            <a:ext cx="2773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3.  </a:t>
            </a:r>
            <a:r>
              <a:rPr kumimoji="1" lang="ja-JP" altLang="en-US"/>
              <a:t>一度まとめてから吐く</a:t>
            </a:r>
            <a:endParaRPr kumimoji="1" lang="en-US" altLang="ja-JP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7124ECCC-BE8F-A24A-A14B-C18479E3F57D}"/>
              </a:ext>
            </a:extLst>
          </p:cNvPr>
          <p:cNvSpPr/>
          <p:nvPr/>
        </p:nvSpPr>
        <p:spPr>
          <a:xfrm>
            <a:off x="8514080" y="2550160"/>
            <a:ext cx="1066800" cy="3860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プロセス</a:t>
            </a:r>
            <a:r>
              <a:rPr kumimoji="1" lang="en-US" altLang="ja-JP" sz="1200">
                <a:solidFill>
                  <a:schemeClr val="tx1"/>
                </a:solidFill>
              </a:rPr>
              <a:t>1</a:t>
            </a:r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51" name="円柱 50">
            <a:extLst>
              <a:ext uri="{FF2B5EF4-FFF2-40B4-BE49-F238E27FC236}">
                <a16:creationId xmlns:a16="http://schemas.microsoft.com/office/drawing/2014/main" id="{C29BFBE2-8D31-6C47-9779-D20365816222}"/>
              </a:ext>
            </a:extLst>
          </p:cNvPr>
          <p:cNvSpPr/>
          <p:nvPr/>
        </p:nvSpPr>
        <p:spPr>
          <a:xfrm>
            <a:off x="8646160" y="3495040"/>
            <a:ext cx="762000" cy="74168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4BABEA00-B469-234C-A1D4-3A2E96CB5FF2}"/>
              </a:ext>
            </a:extLst>
          </p:cNvPr>
          <p:cNvSpPr/>
          <p:nvPr/>
        </p:nvSpPr>
        <p:spPr>
          <a:xfrm>
            <a:off x="6797040" y="1991360"/>
            <a:ext cx="1066800" cy="3860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プロセス</a:t>
            </a:r>
            <a:r>
              <a:rPr kumimoji="1" lang="en-US" altLang="ja-JP" sz="1200">
                <a:solidFill>
                  <a:schemeClr val="tx1"/>
                </a:solidFill>
              </a:rPr>
              <a:t>2</a:t>
            </a:r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726F9A94-9B10-D444-8D03-6DD6EB386183}"/>
              </a:ext>
            </a:extLst>
          </p:cNvPr>
          <p:cNvSpPr/>
          <p:nvPr/>
        </p:nvSpPr>
        <p:spPr>
          <a:xfrm>
            <a:off x="6797040" y="2560320"/>
            <a:ext cx="1066800" cy="3860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プロセス</a:t>
            </a:r>
            <a:r>
              <a:rPr kumimoji="1" lang="en-US" altLang="ja-JP" sz="1200">
                <a:solidFill>
                  <a:schemeClr val="tx1"/>
                </a:solidFill>
              </a:rPr>
              <a:t>3</a:t>
            </a:r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A5933B46-ADF9-9D4F-AB10-5FC27B8110CB}"/>
              </a:ext>
            </a:extLst>
          </p:cNvPr>
          <p:cNvSpPr/>
          <p:nvPr/>
        </p:nvSpPr>
        <p:spPr>
          <a:xfrm>
            <a:off x="6797040" y="3169920"/>
            <a:ext cx="1066800" cy="3860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プロセス</a:t>
            </a:r>
            <a:r>
              <a:rPr kumimoji="1" lang="en-US" altLang="ja-JP" sz="1200">
                <a:solidFill>
                  <a:schemeClr val="tx1"/>
                </a:solidFill>
              </a:rPr>
              <a:t>4</a:t>
            </a:r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55" name="右矢印 54">
            <a:extLst>
              <a:ext uri="{FF2B5EF4-FFF2-40B4-BE49-F238E27FC236}">
                <a16:creationId xmlns:a16="http://schemas.microsoft.com/office/drawing/2014/main" id="{0B9BDE25-FADF-A642-9899-FC298B92B131}"/>
              </a:ext>
            </a:extLst>
          </p:cNvPr>
          <p:cNvSpPr/>
          <p:nvPr/>
        </p:nvSpPr>
        <p:spPr>
          <a:xfrm rot="1800000">
            <a:off x="8026400" y="2143760"/>
            <a:ext cx="325120" cy="23368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右矢印 55">
            <a:extLst>
              <a:ext uri="{FF2B5EF4-FFF2-40B4-BE49-F238E27FC236}">
                <a16:creationId xmlns:a16="http://schemas.microsoft.com/office/drawing/2014/main" id="{5D9F20AE-0BF7-CF4C-8A6F-8900251881AE}"/>
              </a:ext>
            </a:extLst>
          </p:cNvPr>
          <p:cNvSpPr/>
          <p:nvPr/>
        </p:nvSpPr>
        <p:spPr>
          <a:xfrm>
            <a:off x="8067041" y="2611120"/>
            <a:ext cx="325120" cy="23368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右矢印 56">
            <a:extLst>
              <a:ext uri="{FF2B5EF4-FFF2-40B4-BE49-F238E27FC236}">
                <a16:creationId xmlns:a16="http://schemas.microsoft.com/office/drawing/2014/main" id="{2B63950E-CFBA-714A-9218-99EBC403B8AC}"/>
              </a:ext>
            </a:extLst>
          </p:cNvPr>
          <p:cNvSpPr/>
          <p:nvPr/>
        </p:nvSpPr>
        <p:spPr>
          <a:xfrm rot="18900000">
            <a:off x="8026402" y="3129280"/>
            <a:ext cx="325120" cy="23368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右矢印 57">
            <a:extLst>
              <a:ext uri="{FF2B5EF4-FFF2-40B4-BE49-F238E27FC236}">
                <a16:creationId xmlns:a16="http://schemas.microsoft.com/office/drawing/2014/main" id="{7A2D33E7-3C39-2249-8E98-CB0AAB5A9C64}"/>
              </a:ext>
            </a:extLst>
          </p:cNvPr>
          <p:cNvSpPr/>
          <p:nvPr/>
        </p:nvSpPr>
        <p:spPr>
          <a:xfrm rot="5400000">
            <a:off x="8829040" y="3058160"/>
            <a:ext cx="325120" cy="23368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9" name="図 58">
            <a:extLst>
              <a:ext uri="{FF2B5EF4-FFF2-40B4-BE49-F238E27FC236}">
                <a16:creationId xmlns:a16="http://schemas.microsoft.com/office/drawing/2014/main" id="{71C86C21-15A4-9146-BC35-65ACE64B7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720" y="4838064"/>
            <a:ext cx="584200" cy="569595"/>
          </a:xfrm>
          <a:prstGeom prst="rect">
            <a:avLst/>
          </a:prstGeom>
        </p:spPr>
      </p:pic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1CA11D8F-C2E5-A04A-BEB7-51298B052C70}"/>
              </a:ext>
            </a:extLst>
          </p:cNvPr>
          <p:cNvSpPr txBox="1"/>
          <p:nvPr/>
        </p:nvSpPr>
        <p:spPr>
          <a:xfrm>
            <a:off x="7294880" y="4876800"/>
            <a:ext cx="21595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ファイル出力がまとめて</a:t>
            </a:r>
            <a:endParaRPr kumimoji="1" lang="en-US" altLang="ja-JP" sz="1400"/>
          </a:p>
          <a:p>
            <a:r>
              <a:rPr kumimoji="1" lang="ja-JP" altLang="en-US" sz="1400"/>
              <a:t>一回なので</a:t>
            </a:r>
            <a:r>
              <a:rPr lang="ja-JP" altLang="en-US" sz="1400"/>
              <a:t>早い</a:t>
            </a:r>
            <a:endParaRPr kumimoji="1" lang="ja-JP" altLang="en-US" sz="1400"/>
          </a:p>
        </p:txBody>
      </p:sp>
      <p:pic>
        <p:nvPicPr>
          <p:cNvPr id="61" name="図 60">
            <a:extLst>
              <a:ext uri="{FF2B5EF4-FFF2-40B4-BE49-F238E27FC236}">
                <a16:creationId xmlns:a16="http://schemas.microsoft.com/office/drawing/2014/main" id="{7B7301D5-C770-FC45-BC08-C0E227A32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040" y="5618480"/>
            <a:ext cx="554892" cy="54102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16268B59-B959-274A-B8F5-430973C3AD22}"/>
              </a:ext>
            </a:extLst>
          </p:cNvPr>
          <p:cNvSpPr txBox="1"/>
          <p:nvPr/>
        </p:nvSpPr>
        <p:spPr>
          <a:xfrm>
            <a:off x="7355840" y="5720080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メモリを消費する</a:t>
            </a:r>
          </a:p>
        </p:txBody>
      </p:sp>
    </p:spTree>
    <p:extLst>
      <p:ext uri="{BB962C8B-B14F-4D97-AF65-F5344CB8AC3E}">
        <p14:creationId xmlns:p14="http://schemas.microsoft.com/office/powerpoint/2010/main" val="1439874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8F3253A-FA02-C54D-BC3F-EC868C40F13E}"/>
              </a:ext>
            </a:extLst>
          </p:cNvPr>
          <p:cNvSpPr txBox="1"/>
          <p:nvPr/>
        </p:nvSpPr>
        <p:spPr>
          <a:xfrm>
            <a:off x="5859512" y="23024"/>
            <a:ext cx="31640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/>
              <a:t>Eager</a:t>
            </a:r>
            <a:r>
              <a:rPr kumimoji="1" lang="ja-JP" altLang="en-US" sz="3200"/>
              <a:t>プロトコル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8E095A4-CC47-9749-8F85-44ED2DAA2E39}"/>
              </a:ext>
            </a:extLst>
          </p:cNvPr>
          <p:cNvSpPr txBox="1"/>
          <p:nvPr/>
        </p:nvSpPr>
        <p:spPr>
          <a:xfrm>
            <a:off x="560512" y="23024"/>
            <a:ext cx="4221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/>
              <a:t>Rendezvous</a:t>
            </a:r>
            <a:r>
              <a:rPr kumimoji="1" lang="ja-JP" altLang="en-US" sz="3200"/>
              <a:t>プロトコル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38E9EB-5F52-BC4C-AED1-7B320954B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04" y="4293096"/>
            <a:ext cx="946150" cy="127000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C417CB7-FF68-EB41-8F5B-AA8B61456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720752" y="5301208"/>
            <a:ext cx="1075314" cy="1125984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8F9204C7-3A55-A041-8DF9-D549FB789B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8784" y="2348880"/>
            <a:ext cx="851946" cy="1183258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5E57256A-2D4A-D849-8756-4F75A1EDD1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560512" y="2420888"/>
            <a:ext cx="936104" cy="1094859"/>
          </a:xfrm>
          <a:prstGeom prst="rect">
            <a:avLst/>
          </a:prstGeom>
        </p:spPr>
      </p:pic>
      <p:sp>
        <p:nvSpPr>
          <p:cNvPr id="8" name="四角形吹き出し 7">
            <a:extLst>
              <a:ext uri="{FF2B5EF4-FFF2-40B4-BE49-F238E27FC236}">
                <a16:creationId xmlns:a16="http://schemas.microsoft.com/office/drawing/2014/main" id="{CB04F354-CA57-394E-8CCA-A6EAFE02126D}"/>
              </a:ext>
            </a:extLst>
          </p:cNvPr>
          <p:cNvSpPr/>
          <p:nvPr/>
        </p:nvSpPr>
        <p:spPr>
          <a:xfrm>
            <a:off x="920552" y="1196752"/>
            <a:ext cx="2448272" cy="648072"/>
          </a:xfrm>
          <a:prstGeom prst="wedgeRectCallout">
            <a:avLst>
              <a:gd name="adj1" fmla="val -43358"/>
              <a:gd name="adj2" fmla="val 10106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今から</a:t>
            </a:r>
            <a:r>
              <a:rPr kumimoji="1" lang="en-US" altLang="ja-JP">
                <a:solidFill>
                  <a:schemeClr val="tx1"/>
                </a:solidFill>
              </a:rPr>
              <a:t>1MB</a:t>
            </a:r>
            <a:r>
              <a:rPr kumimoji="1" lang="ja-JP" altLang="en-US">
                <a:solidFill>
                  <a:schemeClr val="tx1"/>
                </a:solidFill>
              </a:rPr>
              <a:t>のデータ送っていいですか？</a:t>
            </a:r>
          </a:p>
        </p:txBody>
      </p:sp>
      <p:sp>
        <p:nvSpPr>
          <p:cNvPr id="9" name="四角形吹き出し 8">
            <a:extLst>
              <a:ext uri="{FF2B5EF4-FFF2-40B4-BE49-F238E27FC236}">
                <a16:creationId xmlns:a16="http://schemas.microsoft.com/office/drawing/2014/main" id="{43DDF873-E04A-9848-9BEA-91EE1F8974F0}"/>
              </a:ext>
            </a:extLst>
          </p:cNvPr>
          <p:cNvSpPr/>
          <p:nvPr/>
        </p:nvSpPr>
        <p:spPr>
          <a:xfrm>
            <a:off x="1640632" y="2204864"/>
            <a:ext cx="1440160" cy="432048"/>
          </a:xfrm>
          <a:prstGeom prst="wedgeRectCallout">
            <a:avLst>
              <a:gd name="adj1" fmla="val 39888"/>
              <a:gd name="adj2" fmla="val 8460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tx1"/>
                </a:solidFill>
              </a:rPr>
              <a:t>いいですよ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四角形吹き出し 9">
            <a:extLst>
              <a:ext uri="{FF2B5EF4-FFF2-40B4-BE49-F238E27FC236}">
                <a16:creationId xmlns:a16="http://schemas.microsoft.com/office/drawing/2014/main" id="{813FA8D9-857C-BD46-B490-AAF9524F3AA0}"/>
              </a:ext>
            </a:extLst>
          </p:cNvPr>
          <p:cNvSpPr/>
          <p:nvPr/>
        </p:nvSpPr>
        <p:spPr>
          <a:xfrm>
            <a:off x="1424608" y="3140968"/>
            <a:ext cx="1584176" cy="720080"/>
          </a:xfrm>
          <a:prstGeom prst="wedgeRectCallout">
            <a:avLst>
              <a:gd name="adj1" fmla="val -54646"/>
              <a:gd name="adj2" fmla="val -9176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tx1"/>
                </a:solidFill>
              </a:rPr>
              <a:t>ではこれから送ります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角丸四角形 10">
            <a:extLst>
              <a:ext uri="{FF2B5EF4-FFF2-40B4-BE49-F238E27FC236}">
                <a16:creationId xmlns:a16="http://schemas.microsoft.com/office/drawing/2014/main" id="{150DC565-223A-0944-B284-F5CF9EEE40A5}"/>
              </a:ext>
            </a:extLst>
          </p:cNvPr>
          <p:cNvSpPr/>
          <p:nvPr/>
        </p:nvSpPr>
        <p:spPr>
          <a:xfrm>
            <a:off x="344488" y="908720"/>
            <a:ext cx="3816424" cy="3168352"/>
          </a:xfrm>
          <a:prstGeom prst="round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6C0190E-94CD-7047-8A12-A6B262B6C6B1}"/>
              </a:ext>
            </a:extLst>
          </p:cNvPr>
          <p:cNvSpPr txBox="1"/>
          <p:nvPr/>
        </p:nvSpPr>
        <p:spPr>
          <a:xfrm>
            <a:off x="1352600" y="692696"/>
            <a:ext cx="180049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/>
              <a:t>ハンドシェイク</a:t>
            </a: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7CC805DA-D9C3-C24F-B405-4DF3D77B6229}"/>
              </a:ext>
            </a:extLst>
          </p:cNvPr>
          <p:cNvCxnSpPr>
            <a:endCxn id="5" idx="3"/>
          </p:cNvCxnSpPr>
          <p:nvPr/>
        </p:nvCxnSpPr>
        <p:spPr>
          <a:xfrm>
            <a:off x="1568624" y="4941168"/>
            <a:ext cx="1152128" cy="923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96C22D3-9F05-D04B-8811-AC1690B44560}"/>
              </a:ext>
            </a:extLst>
          </p:cNvPr>
          <p:cNvSpPr txBox="1"/>
          <p:nvPr/>
        </p:nvSpPr>
        <p:spPr>
          <a:xfrm>
            <a:off x="1424608" y="4509120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相手から直接データを受け取る</a:t>
            </a:r>
            <a:endParaRPr kumimoji="1" lang="ja-JP" altLang="en-US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0002F9A9-0841-4944-BE81-4D4ECB79E3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3200" y="2996952"/>
            <a:ext cx="1008112" cy="103929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5A4B7F20-69F1-3348-8D07-5570EE3C8F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6537176" y="1268760"/>
            <a:ext cx="1285376" cy="1558032"/>
          </a:xfrm>
          <a:prstGeom prst="rect">
            <a:avLst/>
          </a:prstGeom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5D046DA0-47F3-4B48-88DA-EEFFF875ED95}"/>
              </a:ext>
            </a:extLst>
          </p:cNvPr>
          <p:cNvSpPr txBox="1"/>
          <p:nvPr/>
        </p:nvSpPr>
        <p:spPr>
          <a:xfrm>
            <a:off x="5745088" y="980728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決められた場所にデータを置く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A67379DC-569C-FB44-B52D-B2D323CCE58A}"/>
              </a:ext>
            </a:extLst>
          </p:cNvPr>
          <p:cNvSpPr txBox="1"/>
          <p:nvPr/>
        </p:nvSpPr>
        <p:spPr>
          <a:xfrm>
            <a:off x="5457056" y="4149080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受信側のタイミングで受け取りに行く</a:t>
            </a:r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9A8E7B6B-A07F-5246-A06C-7255B2B7D1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5208" y="4725144"/>
            <a:ext cx="1440160" cy="1745648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BBFEE384-149A-AA4C-8BCE-03C8FE9FD66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33320" y="3068960"/>
            <a:ext cx="716133" cy="880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61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D22EA80-5E19-D744-9CD7-684C54056F60}"/>
              </a:ext>
            </a:extLst>
          </p:cNvPr>
          <p:cNvSpPr txBox="1"/>
          <p:nvPr/>
        </p:nvSpPr>
        <p:spPr>
          <a:xfrm>
            <a:off x="436880" y="193040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/>
              <a:t>Embarrassingly parallel workloads require almost no communication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F87FD5D-D921-E441-9033-6276D32E412C}"/>
              </a:ext>
            </a:extLst>
          </p:cNvPr>
          <p:cNvSpPr/>
          <p:nvPr/>
        </p:nvSpPr>
        <p:spPr>
          <a:xfrm>
            <a:off x="1483360" y="741680"/>
            <a:ext cx="101600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Initialization</a:t>
            </a: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56557B2D-BB01-5A4D-B910-605D47C8195A}"/>
              </a:ext>
            </a:extLst>
          </p:cNvPr>
          <p:cNvGrpSpPr/>
          <p:nvPr/>
        </p:nvGrpSpPr>
        <p:grpSpPr>
          <a:xfrm>
            <a:off x="243840" y="1676400"/>
            <a:ext cx="1066800" cy="3017520"/>
            <a:chOff x="243840" y="1676400"/>
            <a:chExt cx="1066800" cy="3017520"/>
          </a:xfrm>
        </p:grpSpPr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D603537B-264E-824C-AED1-BB0B60839DD0}"/>
                </a:ext>
              </a:extLst>
            </p:cNvPr>
            <p:cNvSpPr/>
            <p:nvPr/>
          </p:nvSpPr>
          <p:spPr>
            <a:xfrm>
              <a:off x="243840" y="1676400"/>
              <a:ext cx="1066800" cy="30175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3600">
                <a:solidFill>
                  <a:schemeClr val="tx1"/>
                </a:solidFill>
              </a:endParaRPr>
            </a:p>
          </p:txBody>
        </p: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F3AA942F-4F74-CB48-9957-EC6FE83672D0}"/>
                </a:ext>
              </a:extLst>
            </p:cNvPr>
            <p:cNvSpPr txBox="1"/>
            <p:nvPr/>
          </p:nvSpPr>
          <p:spPr>
            <a:xfrm>
              <a:off x="243840" y="1696720"/>
              <a:ext cx="105664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600"/>
                <a:t>Process</a:t>
              </a:r>
            </a:p>
          </p:txBody>
        </p:sp>
      </p:grp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DDE8AD3C-0D9B-E94B-AEC0-2DA044F4F6CB}"/>
              </a:ext>
            </a:extLst>
          </p:cNvPr>
          <p:cNvGrpSpPr/>
          <p:nvPr/>
        </p:nvGrpSpPr>
        <p:grpSpPr>
          <a:xfrm>
            <a:off x="1463040" y="1676400"/>
            <a:ext cx="1066800" cy="3017520"/>
            <a:chOff x="243840" y="1676400"/>
            <a:chExt cx="1066800" cy="3017520"/>
          </a:xfrm>
        </p:grpSpPr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id="{9852A2C2-AA61-1B43-A774-C149C74E8E7F}"/>
                </a:ext>
              </a:extLst>
            </p:cNvPr>
            <p:cNvSpPr/>
            <p:nvPr/>
          </p:nvSpPr>
          <p:spPr>
            <a:xfrm>
              <a:off x="243840" y="1676400"/>
              <a:ext cx="1066800" cy="30175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3600">
                <a:solidFill>
                  <a:schemeClr val="tx1"/>
                </a:solidFill>
              </a:endParaRPr>
            </a:p>
          </p:txBody>
        </p:sp>
        <p:sp>
          <p:nvSpPr>
            <p:cNvPr id="49" name="テキスト ボックス 48">
              <a:extLst>
                <a:ext uri="{FF2B5EF4-FFF2-40B4-BE49-F238E27FC236}">
                  <a16:creationId xmlns:a16="http://schemas.microsoft.com/office/drawing/2014/main" id="{41743384-34F7-5245-A1D1-C42E1B18A80C}"/>
                </a:ext>
              </a:extLst>
            </p:cNvPr>
            <p:cNvSpPr txBox="1"/>
            <p:nvPr/>
          </p:nvSpPr>
          <p:spPr>
            <a:xfrm>
              <a:off x="243840" y="1696720"/>
              <a:ext cx="105664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600"/>
                <a:t>Process</a:t>
              </a:r>
            </a:p>
          </p:txBody>
        </p:sp>
      </p:grpSp>
      <p:grpSp>
        <p:nvGrpSpPr>
          <p:cNvPr id="50" name="グループ化 49">
            <a:extLst>
              <a:ext uri="{FF2B5EF4-FFF2-40B4-BE49-F238E27FC236}">
                <a16:creationId xmlns:a16="http://schemas.microsoft.com/office/drawing/2014/main" id="{153FC698-6050-BB48-A906-4F181FA8128A}"/>
              </a:ext>
            </a:extLst>
          </p:cNvPr>
          <p:cNvGrpSpPr/>
          <p:nvPr/>
        </p:nvGrpSpPr>
        <p:grpSpPr>
          <a:xfrm>
            <a:off x="2692400" y="1676400"/>
            <a:ext cx="1066800" cy="3017520"/>
            <a:chOff x="243840" y="1676400"/>
            <a:chExt cx="1066800" cy="3017520"/>
          </a:xfrm>
        </p:grpSpPr>
        <p:sp>
          <p:nvSpPr>
            <p:cNvPr id="51" name="正方形/長方形 50">
              <a:extLst>
                <a:ext uri="{FF2B5EF4-FFF2-40B4-BE49-F238E27FC236}">
                  <a16:creationId xmlns:a16="http://schemas.microsoft.com/office/drawing/2014/main" id="{F5B9504F-CA7B-3249-A78C-D901218DADB6}"/>
                </a:ext>
              </a:extLst>
            </p:cNvPr>
            <p:cNvSpPr/>
            <p:nvPr/>
          </p:nvSpPr>
          <p:spPr>
            <a:xfrm>
              <a:off x="243840" y="1676400"/>
              <a:ext cx="1066800" cy="30175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3600">
                <a:solidFill>
                  <a:schemeClr val="tx1"/>
                </a:solidFill>
              </a:endParaRPr>
            </a:p>
          </p:txBody>
        </p:sp>
        <p:sp>
          <p:nvSpPr>
            <p:cNvPr id="52" name="テキスト ボックス 51">
              <a:extLst>
                <a:ext uri="{FF2B5EF4-FFF2-40B4-BE49-F238E27FC236}">
                  <a16:creationId xmlns:a16="http://schemas.microsoft.com/office/drawing/2014/main" id="{DA70F40F-E389-724D-9D1C-4778CA04ACB9}"/>
                </a:ext>
              </a:extLst>
            </p:cNvPr>
            <p:cNvSpPr txBox="1"/>
            <p:nvPr/>
          </p:nvSpPr>
          <p:spPr>
            <a:xfrm>
              <a:off x="243840" y="1696720"/>
              <a:ext cx="105664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600"/>
                <a:t>Process</a:t>
              </a:r>
            </a:p>
          </p:txBody>
        </p:sp>
      </p:grp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305A9580-1E91-7C4B-8B3B-33A1014FA9D6}"/>
              </a:ext>
            </a:extLst>
          </p:cNvPr>
          <p:cNvCxnSpPr>
            <a:stCxn id="10" idx="2"/>
            <a:endCxn id="36" idx="0"/>
          </p:cNvCxnSpPr>
          <p:nvPr/>
        </p:nvCxnSpPr>
        <p:spPr>
          <a:xfrm flipH="1">
            <a:off x="772160" y="1107440"/>
            <a:ext cx="1219200" cy="589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87EA6460-3D4B-2241-97E8-63DD1359C913}"/>
              </a:ext>
            </a:extLst>
          </p:cNvPr>
          <p:cNvCxnSpPr>
            <a:stCxn id="10" idx="2"/>
            <a:endCxn id="49" idx="0"/>
          </p:cNvCxnSpPr>
          <p:nvPr/>
        </p:nvCxnSpPr>
        <p:spPr>
          <a:xfrm>
            <a:off x="1991360" y="1107440"/>
            <a:ext cx="0" cy="589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D7084129-8ED2-FA4F-AAD4-11359BE40ECE}"/>
              </a:ext>
            </a:extLst>
          </p:cNvPr>
          <p:cNvCxnSpPr>
            <a:stCxn id="10" idx="2"/>
            <a:endCxn id="51" idx="0"/>
          </p:cNvCxnSpPr>
          <p:nvPr/>
        </p:nvCxnSpPr>
        <p:spPr>
          <a:xfrm>
            <a:off x="1991360" y="1107440"/>
            <a:ext cx="1234440" cy="568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75FEA925-4FAE-1E48-8B44-50F3927BF668}"/>
              </a:ext>
            </a:extLst>
          </p:cNvPr>
          <p:cNvSpPr txBox="1"/>
          <p:nvPr/>
        </p:nvSpPr>
        <p:spPr>
          <a:xfrm>
            <a:off x="589280" y="4876800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No communication except during initialization</a:t>
            </a: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3D86F1F8-6062-1A44-B3D0-187BD1E68DB9}"/>
              </a:ext>
            </a:extLst>
          </p:cNvPr>
          <p:cNvSpPr txBox="1"/>
          <p:nvPr/>
        </p:nvSpPr>
        <p:spPr>
          <a:xfrm>
            <a:off x="5100320" y="182880"/>
            <a:ext cx="3005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/>
              <a:t>Embarrassingly parallel workloads do not require reliability</a:t>
            </a:r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746EF78D-2791-AA43-91D7-D2399978E9C3}"/>
              </a:ext>
            </a:extLst>
          </p:cNvPr>
          <p:cNvSpPr/>
          <p:nvPr/>
        </p:nvSpPr>
        <p:spPr>
          <a:xfrm>
            <a:off x="6167120" y="741680"/>
            <a:ext cx="101600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Initialization</a:t>
            </a:r>
          </a:p>
        </p:txBody>
      </p:sp>
      <p:grpSp>
        <p:nvGrpSpPr>
          <p:cNvPr id="62" name="グループ化 61">
            <a:extLst>
              <a:ext uri="{FF2B5EF4-FFF2-40B4-BE49-F238E27FC236}">
                <a16:creationId xmlns:a16="http://schemas.microsoft.com/office/drawing/2014/main" id="{DAF55151-53AA-3042-91AE-70E80DA2F2C3}"/>
              </a:ext>
            </a:extLst>
          </p:cNvPr>
          <p:cNvGrpSpPr/>
          <p:nvPr/>
        </p:nvGrpSpPr>
        <p:grpSpPr>
          <a:xfrm>
            <a:off x="4927600" y="1676400"/>
            <a:ext cx="1066800" cy="3017520"/>
            <a:chOff x="243840" y="1676400"/>
            <a:chExt cx="1066800" cy="3017520"/>
          </a:xfrm>
        </p:grpSpPr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1CA5FE4A-5F9E-4F45-81F9-31BC691130E0}"/>
                </a:ext>
              </a:extLst>
            </p:cNvPr>
            <p:cNvSpPr/>
            <p:nvPr/>
          </p:nvSpPr>
          <p:spPr>
            <a:xfrm>
              <a:off x="243840" y="1676400"/>
              <a:ext cx="1066800" cy="30175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3600">
                <a:solidFill>
                  <a:schemeClr val="tx1"/>
                </a:solidFill>
              </a:endParaRPr>
            </a:p>
          </p:txBody>
        </p:sp>
        <p:sp>
          <p:nvSpPr>
            <p:cNvPr id="64" name="テキスト ボックス 63">
              <a:extLst>
                <a:ext uri="{FF2B5EF4-FFF2-40B4-BE49-F238E27FC236}">
                  <a16:creationId xmlns:a16="http://schemas.microsoft.com/office/drawing/2014/main" id="{48E17921-BE19-7445-85B4-70F3F94760B5}"/>
                </a:ext>
              </a:extLst>
            </p:cNvPr>
            <p:cNvSpPr txBox="1"/>
            <p:nvPr/>
          </p:nvSpPr>
          <p:spPr>
            <a:xfrm>
              <a:off x="243840" y="1696720"/>
              <a:ext cx="105664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600"/>
                <a:t>Process</a:t>
              </a:r>
            </a:p>
          </p:txBody>
        </p:sp>
      </p:grp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0125AE15-9D09-214F-935D-18EDA3F602AB}"/>
              </a:ext>
            </a:extLst>
          </p:cNvPr>
          <p:cNvSpPr/>
          <p:nvPr/>
        </p:nvSpPr>
        <p:spPr>
          <a:xfrm>
            <a:off x="6146800" y="1676400"/>
            <a:ext cx="1066800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600">
              <a:solidFill>
                <a:schemeClr val="tx1"/>
              </a:solidFill>
            </a:endParaRP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03A3B944-BED7-0F4C-9655-E26E8BF54502}"/>
              </a:ext>
            </a:extLst>
          </p:cNvPr>
          <p:cNvSpPr txBox="1"/>
          <p:nvPr/>
        </p:nvSpPr>
        <p:spPr>
          <a:xfrm>
            <a:off x="6146800" y="1696720"/>
            <a:ext cx="1056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/>
              <a:t>Process</a:t>
            </a:r>
          </a:p>
        </p:txBody>
      </p:sp>
      <p:grpSp>
        <p:nvGrpSpPr>
          <p:cNvPr id="68" name="グループ化 67">
            <a:extLst>
              <a:ext uri="{FF2B5EF4-FFF2-40B4-BE49-F238E27FC236}">
                <a16:creationId xmlns:a16="http://schemas.microsoft.com/office/drawing/2014/main" id="{BF441782-2BC4-6240-9911-970E6A662254}"/>
              </a:ext>
            </a:extLst>
          </p:cNvPr>
          <p:cNvGrpSpPr/>
          <p:nvPr/>
        </p:nvGrpSpPr>
        <p:grpSpPr>
          <a:xfrm>
            <a:off x="7376160" y="1676400"/>
            <a:ext cx="1066800" cy="3017520"/>
            <a:chOff x="243840" y="1676400"/>
            <a:chExt cx="1066800" cy="3017520"/>
          </a:xfrm>
        </p:grpSpPr>
        <p:sp>
          <p:nvSpPr>
            <p:cNvPr id="69" name="正方形/長方形 68">
              <a:extLst>
                <a:ext uri="{FF2B5EF4-FFF2-40B4-BE49-F238E27FC236}">
                  <a16:creationId xmlns:a16="http://schemas.microsoft.com/office/drawing/2014/main" id="{DC099374-2F8F-5041-B1E4-D3F898168C2E}"/>
                </a:ext>
              </a:extLst>
            </p:cNvPr>
            <p:cNvSpPr/>
            <p:nvPr/>
          </p:nvSpPr>
          <p:spPr>
            <a:xfrm>
              <a:off x="243840" y="1676400"/>
              <a:ext cx="1066800" cy="30175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3600">
                <a:solidFill>
                  <a:schemeClr val="tx1"/>
                </a:solidFill>
              </a:endParaRPr>
            </a:p>
          </p:txBody>
        </p:sp>
        <p:sp>
          <p:nvSpPr>
            <p:cNvPr id="70" name="テキスト ボックス 69">
              <a:extLst>
                <a:ext uri="{FF2B5EF4-FFF2-40B4-BE49-F238E27FC236}">
                  <a16:creationId xmlns:a16="http://schemas.microsoft.com/office/drawing/2014/main" id="{30C4B388-77AF-CE46-8471-3D4629DA9EA8}"/>
                </a:ext>
              </a:extLst>
            </p:cNvPr>
            <p:cNvSpPr txBox="1"/>
            <p:nvPr/>
          </p:nvSpPr>
          <p:spPr>
            <a:xfrm>
              <a:off x="243840" y="1696720"/>
              <a:ext cx="105664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600"/>
                <a:t>Process</a:t>
              </a:r>
            </a:p>
          </p:txBody>
        </p:sp>
      </p:grp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56FEF82B-9B5E-7947-B6BB-AC4449DC22BF}"/>
              </a:ext>
            </a:extLst>
          </p:cNvPr>
          <p:cNvCxnSpPr>
            <a:stCxn id="61" idx="2"/>
            <a:endCxn id="64" idx="0"/>
          </p:cNvCxnSpPr>
          <p:nvPr/>
        </p:nvCxnSpPr>
        <p:spPr>
          <a:xfrm flipH="1">
            <a:off x="5455920" y="1107440"/>
            <a:ext cx="1219200" cy="589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矢印コネクタ 71">
            <a:extLst>
              <a:ext uri="{FF2B5EF4-FFF2-40B4-BE49-F238E27FC236}">
                <a16:creationId xmlns:a16="http://schemas.microsoft.com/office/drawing/2014/main" id="{3C4370ED-9E94-534B-A3B0-BA1B0F0931EF}"/>
              </a:ext>
            </a:extLst>
          </p:cNvPr>
          <p:cNvCxnSpPr>
            <a:stCxn id="61" idx="2"/>
            <a:endCxn id="67" idx="0"/>
          </p:cNvCxnSpPr>
          <p:nvPr/>
        </p:nvCxnSpPr>
        <p:spPr>
          <a:xfrm>
            <a:off x="6675120" y="1107440"/>
            <a:ext cx="0" cy="589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8B0C4765-52FF-744C-96F1-EC6AE3640208}"/>
              </a:ext>
            </a:extLst>
          </p:cNvPr>
          <p:cNvCxnSpPr>
            <a:stCxn id="61" idx="2"/>
            <a:endCxn id="69" idx="0"/>
          </p:cNvCxnSpPr>
          <p:nvPr/>
        </p:nvCxnSpPr>
        <p:spPr>
          <a:xfrm>
            <a:off x="6675120" y="1107440"/>
            <a:ext cx="1234440" cy="568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爆発 2 73">
            <a:extLst>
              <a:ext uri="{FF2B5EF4-FFF2-40B4-BE49-F238E27FC236}">
                <a16:creationId xmlns:a16="http://schemas.microsoft.com/office/drawing/2014/main" id="{22CAEA63-72D8-0D4B-9908-77088137EC5E}"/>
              </a:ext>
            </a:extLst>
          </p:cNvPr>
          <p:cNvSpPr/>
          <p:nvPr/>
        </p:nvSpPr>
        <p:spPr>
          <a:xfrm>
            <a:off x="6299200" y="2225040"/>
            <a:ext cx="782320" cy="782320"/>
          </a:xfrm>
          <a:prstGeom prst="irregularSeal2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3745A1F8-BA07-F54B-A25E-321B6B0D59E0}"/>
              </a:ext>
            </a:extLst>
          </p:cNvPr>
          <p:cNvSpPr txBox="1"/>
          <p:nvPr/>
        </p:nvSpPr>
        <p:spPr>
          <a:xfrm>
            <a:off x="6004560" y="292608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Node failure</a:t>
            </a:r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2B711898-29E3-8B48-9055-8A9C6D022E92}"/>
              </a:ext>
            </a:extLst>
          </p:cNvPr>
          <p:cNvSpPr txBox="1"/>
          <p:nvPr/>
        </p:nvSpPr>
        <p:spPr>
          <a:xfrm>
            <a:off x="4998720" y="4886960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Only the failed calculation needs to be rerun</a:t>
            </a:r>
          </a:p>
        </p:txBody>
      </p:sp>
    </p:spTree>
    <p:extLst>
      <p:ext uri="{BB962C8B-B14F-4D97-AF65-F5344CB8AC3E}">
        <p14:creationId xmlns:p14="http://schemas.microsoft.com/office/powerpoint/2010/main" val="2411882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95DBD851-4D7D-1C45-BC56-FA9662D82E99}"/>
              </a:ext>
            </a:extLst>
          </p:cNvPr>
          <p:cNvGrpSpPr/>
          <p:nvPr/>
        </p:nvGrpSpPr>
        <p:grpSpPr>
          <a:xfrm>
            <a:off x="660400" y="2499360"/>
            <a:ext cx="4521200" cy="386080"/>
            <a:chOff x="457200" y="2346960"/>
            <a:chExt cx="4521200" cy="386080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C4CA4FD5-5118-B340-8768-ADB786A7CEE0}"/>
                </a:ext>
              </a:extLst>
            </p:cNvPr>
            <p:cNvSpPr/>
            <p:nvPr/>
          </p:nvSpPr>
          <p:spPr>
            <a:xfrm>
              <a:off x="457200" y="2346960"/>
              <a:ext cx="1066800" cy="3860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tx1"/>
                  </a:solidFill>
                </a:rPr>
                <a:t>Process 1</a:t>
              </a:r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CBF206DD-C725-2146-88DF-709F158B13FE}"/>
                </a:ext>
              </a:extLst>
            </p:cNvPr>
            <p:cNvSpPr/>
            <p:nvPr/>
          </p:nvSpPr>
          <p:spPr>
            <a:xfrm>
              <a:off x="1608667" y="2346960"/>
              <a:ext cx="1066800" cy="3860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tx1"/>
                  </a:solidFill>
                </a:rPr>
                <a:t>Process 2</a:t>
              </a:r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8E648D4A-AFA9-9646-8CE5-29FF8D86CD21}"/>
                </a:ext>
              </a:extLst>
            </p:cNvPr>
            <p:cNvSpPr/>
            <p:nvPr/>
          </p:nvSpPr>
          <p:spPr>
            <a:xfrm>
              <a:off x="2760134" y="2346960"/>
              <a:ext cx="1066800" cy="3860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tx1"/>
                  </a:solidFill>
                </a:rPr>
                <a:t>Process 3</a:t>
              </a:r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9F8195F4-8A98-6943-94A3-A44A27347730}"/>
                </a:ext>
              </a:extLst>
            </p:cNvPr>
            <p:cNvSpPr/>
            <p:nvPr/>
          </p:nvSpPr>
          <p:spPr>
            <a:xfrm>
              <a:off x="3911600" y="2346960"/>
              <a:ext cx="1066800" cy="3860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tx1"/>
                  </a:solidFill>
                </a:rPr>
                <a:t>Process 4</a:t>
              </a:r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66534C36-7B37-D244-B8AF-15C97B1F7B09}"/>
              </a:ext>
            </a:extLst>
          </p:cNvPr>
          <p:cNvGrpSpPr/>
          <p:nvPr/>
        </p:nvGrpSpPr>
        <p:grpSpPr>
          <a:xfrm>
            <a:off x="660400" y="1859280"/>
            <a:ext cx="4521200" cy="386080"/>
            <a:chOff x="457200" y="2346960"/>
            <a:chExt cx="4521200" cy="386080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D3FA8B2C-EBDC-D145-B021-D91F7C31A6BE}"/>
                </a:ext>
              </a:extLst>
            </p:cNvPr>
            <p:cNvSpPr/>
            <p:nvPr/>
          </p:nvSpPr>
          <p:spPr>
            <a:xfrm>
              <a:off x="457200" y="2346960"/>
              <a:ext cx="1066800" cy="3860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tx1"/>
                  </a:solidFill>
                </a:rPr>
                <a:t>Process 1</a:t>
              </a:r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EFB3668D-6453-B540-BBFE-8B173E8EC084}"/>
                </a:ext>
              </a:extLst>
            </p:cNvPr>
            <p:cNvSpPr/>
            <p:nvPr/>
          </p:nvSpPr>
          <p:spPr>
            <a:xfrm>
              <a:off x="1608667" y="2346960"/>
              <a:ext cx="1066800" cy="3860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tx1"/>
                  </a:solidFill>
                </a:rPr>
                <a:t>Process 2</a:t>
              </a:r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77E9D86E-4F49-A54A-984A-1CCB87A35FB9}"/>
                </a:ext>
              </a:extLst>
            </p:cNvPr>
            <p:cNvSpPr/>
            <p:nvPr/>
          </p:nvSpPr>
          <p:spPr>
            <a:xfrm>
              <a:off x="2760134" y="2346960"/>
              <a:ext cx="1066800" cy="3860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tx1"/>
                  </a:solidFill>
                </a:rPr>
                <a:t>Process 3</a:t>
              </a:r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87D65A94-17B9-9147-986D-3AC582407516}"/>
                </a:ext>
              </a:extLst>
            </p:cNvPr>
            <p:cNvSpPr/>
            <p:nvPr/>
          </p:nvSpPr>
          <p:spPr>
            <a:xfrm>
              <a:off x="3911600" y="2346960"/>
              <a:ext cx="1066800" cy="3860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tx1"/>
                  </a:solidFill>
                </a:rPr>
                <a:t>Process 4</a:t>
              </a:r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781237D2-1E61-EE47-86B4-54EB090C4A61}"/>
              </a:ext>
            </a:extLst>
          </p:cNvPr>
          <p:cNvGrpSpPr/>
          <p:nvPr/>
        </p:nvGrpSpPr>
        <p:grpSpPr>
          <a:xfrm>
            <a:off x="660400" y="1219200"/>
            <a:ext cx="4521200" cy="386080"/>
            <a:chOff x="457200" y="2346960"/>
            <a:chExt cx="4521200" cy="386080"/>
          </a:xfrm>
        </p:grpSpPr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48319863-8162-BB47-9591-C33CCC6D6652}"/>
                </a:ext>
              </a:extLst>
            </p:cNvPr>
            <p:cNvSpPr/>
            <p:nvPr/>
          </p:nvSpPr>
          <p:spPr>
            <a:xfrm>
              <a:off x="457200" y="2346960"/>
              <a:ext cx="1066800" cy="3860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tx1"/>
                  </a:solidFill>
                </a:rPr>
                <a:t>Process 1</a:t>
              </a:r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EC6C9E34-5F1F-7548-A0F0-4FC127A14534}"/>
                </a:ext>
              </a:extLst>
            </p:cNvPr>
            <p:cNvSpPr/>
            <p:nvPr/>
          </p:nvSpPr>
          <p:spPr>
            <a:xfrm>
              <a:off x="1608667" y="2346960"/>
              <a:ext cx="1066800" cy="3860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tx1"/>
                  </a:solidFill>
                </a:rPr>
                <a:t>Process 2</a:t>
              </a:r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69426179-54EB-1448-8D6C-DE0CEFFC5BF7}"/>
                </a:ext>
              </a:extLst>
            </p:cNvPr>
            <p:cNvSpPr/>
            <p:nvPr/>
          </p:nvSpPr>
          <p:spPr>
            <a:xfrm>
              <a:off x="2760134" y="2346960"/>
              <a:ext cx="1066800" cy="3860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tx1"/>
                  </a:solidFill>
                </a:rPr>
                <a:t>Process 3</a:t>
              </a:r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4849C85A-D23F-BB40-ACB0-89F6301349BC}"/>
                </a:ext>
              </a:extLst>
            </p:cNvPr>
            <p:cNvSpPr/>
            <p:nvPr/>
          </p:nvSpPr>
          <p:spPr>
            <a:xfrm>
              <a:off x="3911600" y="2346960"/>
              <a:ext cx="1066800" cy="3860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tx1"/>
                  </a:solidFill>
                </a:rPr>
                <a:t>Process 4</a:t>
              </a:r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</p:grp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16D3D4A0-BE42-F448-93D1-D4A9F8862F50}"/>
              </a:ext>
            </a:extLst>
          </p:cNvPr>
          <p:cNvCxnSpPr>
            <a:stCxn id="2" idx="0"/>
            <a:endCxn id="15" idx="2"/>
          </p:cNvCxnSpPr>
          <p:nvPr/>
        </p:nvCxnSpPr>
        <p:spPr>
          <a:xfrm flipV="1">
            <a:off x="1193800" y="2245360"/>
            <a:ext cx="1151467" cy="25400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B2E3AB4E-9392-B949-8D4B-A3404C221325}"/>
              </a:ext>
            </a:extLst>
          </p:cNvPr>
          <p:cNvCxnSpPr>
            <a:cxnSpLocks/>
            <a:stCxn id="14" idx="2"/>
            <a:endCxn id="4" idx="0"/>
          </p:cNvCxnSpPr>
          <p:nvPr/>
        </p:nvCxnSpPr>
        <p:spPr>
          <a:xfrm>
            <a:off x="1193800" y="2245360"/>
            <a:ext cx="1151467" cy="25400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6C074660-83E8-784D-98CA-6AC6062D1C06}"/>
              </a:ext>
            </a:extLst>
          </p:cNvPr>
          <p:cNvCxnSpPr>
            <a:cxnSpLocks/>
            <a:stCxn id="5" idx="0"/>
            <a:endCxn id="17" idx="2"/>
          </p:cNvCxnSpPr>
          <p:nvPr/>
        </p:nvCxnSpPr>
        <p:spPr>
          <a:xfrm flipV="1">
            <a:off x="3496734" y="2245360"/>
            <a:ext cx="1151466" cy="25400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961B9A34-5C2C-E543-952A-5658C7EA5017}"/>
              </a:ext>
            </a:extLst>
          </p:cNvPr>
          <p:cNvCxnSpPr>
            <a:cxnSpLocks/>
            <a:stCxn id="16" idx="2"/>
            <a:endCxn id="6" idx="0"/>
          </p:cNvCxnSpPr>
          <p:nvPr/>
        </p:nvCxnSpPr>
        <p:spPr>
          <a:xfrm>
            <a:off x="3496734" y="2245360"/>
            <a:ext cx="1151466" cy="25400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5A951744-D1D8-DF44-AF7C-2E2AD7705945}"/>
              </a:ext>
            </a:extLst>
          </p:cNvPr>
          <p:cNvCxnSpPr>
            <a:cxnSpLocks/>
            <a:stCxn id="14" idx="0"/>
            <a:endCxn id="21" idx="2"/>
          </p:cNvCxnSpPr>
          <p:nvPr/>
        </p:nvCxnSpPr>
        <p:spPr>
          <a:xfrm flipV="1">
            <a:off x="1193800" y="1605280"/>
            <a:ext cx="2302934" cy="25400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A6AA6F65-7123-3E48-A9FE-845783D42EE3}"/>
              </a:ext>
            </a:extLst>
          </p:cNvPr>
          <p:cNvCxnSpPr>
            <a:cxnSpLocks/>
            <a:stCxn id="19" idx="2"/>
            <a:endCxn id="16" idx="0"/>
          </p:cNvCxnSpPr>
          <p:nvPr/>
        </p:nvCxnSpPr>
        <p:spPr>
          <a:xfrm>
            <a:off x="1193800" y="1605280"/>
            <a:ext cx="2302934" cy="25400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85B69278-BC33-8344-AC77-0E2F80B02CCB}"/>
              </a:ext>
            </a:extLst>
          </p:cNvPr>
          <p:cNvCxnSpPr>
            <a:cxnSpLocks/>
            <a:stCxn id="15" idx="0"/>
            <a:endCxn id="22" idx="2"/>
          </p:cNvCxnSpPr>
          <p:nvPr/>
        </p:nvCxnSpPr>
        <p:spPr>
          <a:xfrm flipV="1">
            <a:off x="2345267" y="1605280"/>
            <a:ext cx="2302933" cy="25400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73A54862-D7FC-7A4E-9B6E-FA4289411C3D}"/>
              </a:ext>
            </a:extLst>
          </p:cNvPr>
          <p:cNvCxnSpPr>
            <a:cxnSpLocks/>
            <a:stCxn id="20" idx="2"/>
            <a:endCxn id="17" idx="0"/>
          </p:cNvCxnSpPr>
          <p:nvPr/>
        </p:nvCxnSpPr>
        <p:spPr>
          <a:xfrm>
            <a:off x="2345267" y="1605280"/>
            <a:ext cx="2302933" cy="25400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CBBA18AC-4356-8B46-8E68-99B642AA1C05}"/>
              </a:ext>
            </a:extLst>
          </p:cNvPr>
          <p:cNvSpPr txBox="1"/>
          <p:nvPr/>
        </p:nvSpPr>
        <p:spPr>
          <a:xfrm>
            <a:off x="1574800" y="335280"/>
            <a:ext cx="2456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Non-trivial parallelism</a:t>
            </a:r>
            <a:endParaRPr kumimoji="1" lang="ja-JP" altLang="en-US"/>
          </a:p>
          <a:p>
            <a:r>
              <a:rPr kumimoji="1" lang="ja-JP" altLang="en-US"/>
              <a:t>(global communication)</a:t>
            </a:r>
            <a:endParaRPr kumimoji="1" lang="ja-JP" altLang="en-US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E6DAAD30-4026-EC4A-8081-A28F91E7278B}"/>
              </a:ext>
            </a:extLst>
          </p:cNvPr>
          <p:cNvSpPr txBox="1"/>
          <p:nvPr/>
        </p:nvSpPr>
        <p:spPr>
          <a:xfrm>
            <a:off x="6593840" y="314960"/>
            <a:ext cx="2456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Non-trivial parallelism</a:t>
            </a:r>
            <a:endParaRPr kumimoji="1" lang="ja-JP" altLang="en-US"/>
          </a:p>
          <a:p>
            <a:r>
              <a:rPr kumimoji="1" lang="ja-JP" altLang="en-US"/>
              <a:t>(local communication)</a:t>
            </a:r>
            <a:endParaRPr kumimoji="1" lang="ja-JP" altLang="en-US"/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1EDC25DB-8254-C149-AFA8-C5C8689F5639}"/>
              </a:ext>
            </a:extLst>
          </p:cNvPr>
          <p:cNvSpPr txBox="1"/>
          <p:nvPr/>
        </p:nvSpPr>
        <p:spPr>
          <a:xfrm rot="16200000">
            <a:off x="-305921" y="1859281"/>
            <a:ext cx="1225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1 step</a:t>
            </a: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12D3CA35-2DFB-0E46-9064-26F67C5D5A09}"/>
              </a:ext>
            </a:extLst>
          </p:cNvPr>
          <p:cNvSpPr txBox="1"/>
          <p:nvPr/>
        </p:nvSpPr>
        <p:spPr>
          <a:xfrm>
            <a:off x="1219200" y="3200400"/>
            <a:ext cx="2957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Fast Fourier transform (FFT), etc.</a:t>
            </a:r>
            <a:endParaRPr kumimoji="1" lang="ja-JP" altLang="en-US"/>
          </a:p>
        </p:txBody>
      </p:sp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4CC4D47C-712A-A04E-B948-A51843C484ED}"/>
              </a:ext>
            </a:extLst>
          </p:cNvPr>
          <p:cNvGrpSpPr/>
          <p:nvPr/>
        </p:nvGrpSpPr>
        <p:grpSpPr>
          <a:xfrm>
            <a:off x="6543040" y="1209040"/>
            <a:ext cx="2783840" cy="386080"/>
            <a:chOff x="6543040" y="1209040"/>
            <a:chExt cx="2783840" cy="386080"/>
          </a:xfrm>
        </p:grpSpPr>
        <p:sp>
          <p:nvSpPr>
            <p:cNvPr id="59" name="正方形/長方形 58">
              <a:extLst>
                <a:ext uri="{FF2B5EF4-FFF2-40B4-BE49-F238E27FC236}">
                  <a16:creationId xmlns:a16="http://schemas.microsoft.com/office/drawing/2014/main" id="{F35AB3FF-4392-564C-8F3B-A6783902FE1E}"/>
                </a:ext>
              </a:extLst>
            </p:cNvPr>
            <p:cNvSpPr/>
            <p:nvPr/>
          </p:nvSpPr>
          <p:spPr>
            <a:xfrm>
              <a:off x="6543040" y="1209040"/>
              <a:ext cx="1066800" cy="3860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tx1"/>
                  </a:solidFill>
                </a:rPr>
                <a:t>Process 1</a:t>
              </a:r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60" name="正方形/長方形 59">
              <a:extLst>
                <a:ext uri="{FF2B5EF4-FFF2-40B4-BE49-F238E27FC236}">
                  <a16:creationId xmlns:a16="http://schemas.microsoft.com/office/drawing/2014/main" id="{3BBE7F2D-60A3-1E40-8C47-7A30F854A072}"/>
                </a:ext>
              </a:extLst>
            </p:cNvPr>
            <p:cNvSpPr/>
            <p:nvPr/>
          </p:nvSpPr>
          <p:spPr>
            <a:xfrm>
              <a:off x="8260080" y="1209040"/>
              <a:ext cx="1066800" cy="3860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tx1"/>
                  </a:solidFill>
                </a:rPr>
                <a:t>Process 2</a:t>
              </a:r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</p:grpSp>
      <p:grpSp>
        <p:nvGrpSpPr>
          <p:cNvPr id="64" name="グループ化 63">
            <a:extLst>
              <a:ext uri="{FF2B5EF4-FFF2-40B4-BE49-F238E27FC236}">
                <a16:creationId xmlns:a16="http://schemas.microsoft.com/office/drawing/2014/main" id="{8E24F799-B746-C44D-8FFE-D6B452CE2359}"/>
              </a:ext>
            </a:extLst>
          </p:cNvPr>
          <p:cNvGrpSpPr/>
          <p:nvPr/>
        </p:nvGrpSpPr>
        <p:grpSpPr>
          <a:xfrm>
            <a:off x="6543040" y="2214880"/>
            <a:ext cx="2783840" cy="386080"/>
            <a:chOff x="6543040" y="1209040"/>
            <a:chExt cx="2783840" cy="386080"/>
          </a:xfrm>
        </p:grpSpPr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id="{14A3090C-ADF4-8148-8C8F-9237D43FBB97}"/>
                </a:ext>
              </a:extLst>
            </p:cNvPr>
            <p:cNvSpPr/>
            <p:nvPr/>
          </p:nvSpPr>
          <p:spPr>
            <a:xfrm>
              <a:off x="6543040" y="1209040"/>
              <a:ext cx="1066800" cy="3860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tx1"/>
                  </a:solidFill>
                </a:rPr>
                <a:t>Process 3</a:t>
              </a:r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66" name="正方形/長方形 65">
              <a:extLst>
                <a:ext uri="{FF2B5EF4-FFF2-40B4-BE49-F238E27FC236}">
                  <a16:creationId xmlns:a16="http://schemas.microsoft.com/office/drawing/2014/main" id="{99EA9510-A7AF-064B-B5DB-3F697DD485A0}"/>
                </a:ext>
              </a:extLst>
            </p:cNvPr>
            <p:cNvSpPr/>
            <p:nvPr/>
          </p:nvSpPr>
          <p:spPr>
            <a:xfrm>
              <a:off x="8260080" y="1209040"/>
              <a:ext cx="1066800" cy="3860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tx1"/>
                  </a:solidFill>
                </a:rPr>
                <a:t>Process 4</a:t>
              </a:r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</p:grpSp>
      <p:cxnSp>
        <p:nvCxnSpPr>
          <p:cNvPr id="70" name="直線矢印コネクタ 69">
            <a:extLst>
              <a:ext uri="{FF2B5EF4-FFF2-40B4-BE49-F238E27FC236}">
                <a16:creationId xmlns:a16="http://schemas.microsoft.com/office/drawing/2014/main" id="{94D0125A-E56B-014D-A955-0760D532C553}"/>
              </a:ext>
            </a:extLst>
          </p:cNvPr>
          <p:cNvCxnSpPr/>
          <p:nvPr/>
        </p:nvCxnSpPr>
        <p:spPr>
          <a:xfrm>
            <a:off x="518160" y="1209040"/>
            <a:ext cx="0" cy="168656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E185F8E7-7F54-0D4B-B2DE-B3838958B844}"/>
              </a:ext>
            </a:extLst>
          </p:cNvPr>
          <p:cNvCxnSpPr>
            <a:cxnSpLocks/>
            <a:stCxn id="59" idx="2"/>
            <a:endCxn id="65" idx="0"/>
          </p:cNvCxnSpPr>
          <p:nvPr/>
        </p:nvCxnSpPr>
        <p:spPr>
          <a:xfrm>
            <a:off x="7076440" y="1595120"/>
            <a:ext cx="0" cy="61976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矢印コネクタ 73">
            <a:extLst>
              <a:ext uri="{FF2B5EF4-FFF2-40B4-BE49-F238E27FC236}">
                <a16:creationId xmlns:a16="http://schemas.microsoft.com/office/drawing/2014/main" id="{834044C4-576C-8D4E-8C44-7A546C47DD6B}"/>
              </a:ext>
            </a:extLst>
          </p:cNvPr>
          <p:cNvCxnSpPr>
            <a:cxnSpLocks/>
            <a:stCxn id="60" idx="2"/>
            <a:endCxn id="66" idx="0"/>
          </p:cNvCxnSpPr>
          <p:nvPr/>
        </p:nvCxnSpPr>
        <p:spPr>
          <a:xfrm>
            <a:off x="8793480" y="1595120"/>
            <a:ext cx="0" cy="61976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6FD19453-7694-314E-BD4B-C645161E551C}"/>
              </a:ext>
            </a:extLst>
          </p:cNvPr>
          <p:cNvCxnSpPr>
            <a:cxnSpLocks/>
            <a:stCxn id="60" idx="1"/>
            <a:endCxn id="59" idx="3"/>
          </p:cNvCxnSpPr>
          <p:nvPr/>
        </p:nvCxnSpPr>
        <p:spPr>
          <a:xfrm flipH="1">
            <a:off x="7609840" y="1402080"/>
            <a:ext cx="650240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矢印コネクタ 79">
            <a:extLst>
              <a:ext uri="{FF2B5EF4-FFF2-40B4-BE49-F238E27FC236}">
                <a16:creationId xmlns:a16="http://schemas.microsoft.com/office/drawing/2014/main" id="{3189F919-8861-194C-A9DC-7661B34A0BA7}"/>
              </a:ext>
            </a:extLst>
          </p:cNvPr>
          <p:cNvCxnSpPr>
            <a:cxnSpLocks/>
            <a:stCxn id="66" idx="1"/>
            <a:endCxn id="65" idx="3"/>
          </p:cNvCxnSpPr>
          <p:nvPr/>
        </p:nvCxnSpPr>
        <p:spPr>
          <a:xfrm flipH="1">
            <a:off x="7609840" y="2407920"/>
            <a:ext cx="650240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679CD9E4-31C3-A542-941C-8BEFC06F969F}"/>
              </a:ext>
            </a:extLst>
          </p:cNvPr>
          <p:cNvSpPr txBox="1"/>
          <p:nvPr/>
        </p:nvSpPr>
        <p:spPr>
          <a:xfrm rot="16200000">
            <a:off x="5404000" y="1767842"/>
            <a:ext cx="1225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1 step</a:t>
            </a:r>
          </a:p>
        </p:txBody>
      </p:sp>
      <p:cxnSp>
        <p:nvCxnSpPr>
          <p:cNvPr id="84" name="直線矢印コネクタ 83">
            <a:extLst>
              <a:ext uri="{FF2B5EF4-FFF2-40B4-BE49-F238E27FC236}">
                <a16:creationId xmlns:a16="http://schemas.microsoft.com/office/drawing/2014/main" id="{68E6E82B-E2E6-E645-A67D-E1CDD2F32A13}"/>
              </a:ext>
            </a:extLst>
          </p:cNvPr>
          <p:cNvCxnSpPr>
            <a:cxnSpLocks/>
          </p:cNvCxnSpPr>
          <p:nvPr/>
        </p:nvCxnSpPr>
        <p:spPr>
          <a:xfrm>
            <a:off x="6319520" y="1178561"/>
            <a:ext cx="0" cy="146303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FEA373B5-DABB-7F4D-BC01-8EEAE7C447ED}"/>
              </a:ext>
            </a:extLst>
          </p:cNvPr>
          <p:cNvSpPr txBox="1"/>
          <p:nvPr/>
        </p:nvSpPr>
        <p:spPr>
          <a:xfrm>
            <a:off x="6969760" y="320040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Domain decomposition, etc.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2604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DCD1655-18F9-A34F-ACD8-6A14465E7AE2}"/>
              </a:ext>
            </a:extLst>
          </p:cNvPr>
          <p:cNvSpPr/>
          <p:nvPr/>
        </p:nvSpPr>
        <p:spPr>
          <a:xfrm>
            <a:off x="152399" y="2169623"/>
            <a:ext cx="4257040" cy="497840"/>
          </a:xfrm>
          <a:prstGeom prst="rect">
            <a:avLst/>
          </a:prstGeom>
          <a:gradFill flip="none" rotWithShape="1">
            <a:gsLst>
              <a:gs pos="50000">
                <a:srgbClr val="FF0000"/>
              </a:gs>
              <a:gs pos="0">
                <a:schemeClr val="bg1"/>
              </a:gs>
              <a:gs pos="100000">
                <a:schemeClr val="bg1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7A33A85D-36E6-AE4C-9ECD-784A4D1E5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8809" y="2576946"/>
            <a:ext cx="675410" cy="675410"/>
          </a:xfrm>
          <a:prstGeom prst="rect">
            <a:avLst/>
          </a:prstGeom>
        </p:spPr>
      </p:pic>
      <p:sp>
        <p:nvSpPr>
          <p:cNvPr id="8" name="ドーナツ 7">
            <a:extLst>
              <a:ext uri="{FF2B5EF4-FFF2-40B4-BE49-F238E27FC236}">
                <a16:creationId xmlns:a16="http://schemas.microsoft.com/office/drawing/2014/main" id="{F55B69BD-0AB1-6F4D-83F9-2C1D4C7C1475}"/>
              </a:ext>
            </a:extLst>
          </p:cNvPr>
          <p:cNvSpPr/>
          <p:nvPr/>
        </p:nvSpPr>
        <p:spPr>
          <a:xfrm>
            <a:off x="5500255" y="2036618"/>
            <a:ext cx="3352800" cy="1233055"/>
          </a:xfrm>
          <a:prstGeom prst="donut">
            <a:avLst/>
          </a:prstGeom>
          <a:gradFill>
            <a:gsLst>
              <a:gs pos="0">
                <a:srgbClr val="FF0000"/>
              </a:gs>
              <a:gs pos="100000">
                <a:srgbClr val="00B0F0"/>
              </a:gs>
            </a:gsLst>
            <a:lin ang="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6BC54D7-18C9-9D47-8426-9E6C4DE82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527" y="2341419"/>
            <a:ext cx="1278009" cy="1105478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3F971B4C-B9BE-5941-9D09-27CDBE7BC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28" y="2729346"/>
            <a:ext cx="564574" cy="564574"/>
          </a:xfrm>
          <a:prstGeom prst="rect">
            <a:avLst/>
          </a:prstGeom>
        </p:spPr>
      </p:pic>
      <p:sp>
        <p:nvSpPr>
          <p:cNvPr id="11" name="フリーフォーム 10">
            <a:extLst>
              <a:ext uri="{FF2B5EF4-FFF2-40B4-BE49-F238E27FC236}">
                <a16:creationId xmlns:a16="http://schemas.microsoft.com/office/drawing/2014/main" id="{F91C4196-5362-B94A-AE04-990E3F98C040}"/>
              </a:ext>
            </a:extLst>
          </p:cNvPr>
          <p:cNvSpPr/>
          <p:nvPr/>
        </p:nvSpPr>
        <p:spPr>
          <a:xfrm>
            <a:off x="5749454" y="1343892"/>
            <a:ext cx="3034327" cy="540326"/>
          </a:xfrm>
          <a:custGeom>
            <a:avLst/>
            <a:gdLst>
              <a:gd name="connsiteX0" fmla="*/ 2106073 w 4379969"/>
              <a:gd name="connsiteY0" fmla="*/ 1399828 h 1399828"/>
              <a:gd name="connsiteX1" fmla="*/ 182 w 4379969"/>
              <a:gd name="connsiteY1" fmla="*/ 582410 h 1399828"/>
              <a:gd name="connsiteX2" fmla="*/ 2203055 w 4379969"/>
              <a:gd name="connsiteY2" fmla="*/ 519 h 1399828"/>
              <a:gd name="connsiteX3" fmla="*/ 4378218 w 4379969"/>
              <a:gd name="connsiteY3" fmla="*/ 679392 h 1399828"/>
              <a:gd name="connsiteX4" fmla="*/ 2494000 w 4379969"/>
              <a:gd name="connsiteY4" fmla="*/ 1344410 h 1399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79969" h="1399828">
                <a:moveTo>
                  <a:pt x="2106073" y="1399828"/>
                </a:moveTo>
                <a:cubicBezTo>
                  <a:pt x="1045045" y="1107728"/>
                  <a:pt x="-15982" y="815628"/>
                  <a:pt x="182" y="582410"/>
                </a:cubicBezTo>
                <a:cubicBezTo>
                  <a:pt x="16346" y="349192"/>
                  <a:pt x="1473382" y="-15645"/>
                  <a:pt x="2203055" y="519"/>
                </a:cubicBezTo>
                <a:cubicBezTo>
                  <a:pt x="2932728" y="16683"/>
                  <a:pt x="4329727" y="455410"/>
                  <a:pt x="4378218" y="679392"/>
                </a:cubicBezTo>
                <a:cubicBezTo>
                  <a:pt x="4426709" y="903374"/>
                  <a:pt x="3460354" y="1123892"/>
                  <a:pt x="2494000" y="134441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C742CBC-C8A2-204C-9DD5-9189A2130FDE}"/>
              </a:ext>
            </a:extLst>
          </p:cNvPr>
          <p:cNvSpPr txBox="1"/>
          <p:nvPr/>
        </p:nvSpPr>
        <p:spPr>
          <a:xfrm>
            <a:off x="7232074" y="1704109"/>
            <a:ext cx="191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/>
              <a:t>x</a:t>
            </a:r>
            <a:endParaRPr kumimoji="1" lang="ja-JP" altLang="en-US"/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B1228DD5-1246-4148-A004-E1C8DEADDCC7}"/>
              </a:ext>
            </a:extLst>
          </p:cNvPr>
          <p:cNvCxnSpPr/>
          <p:nvPr/>
        </p:nvCxnSpPr>
        <p:spPr>
          <a:xfrm>
            <a:off x="166254" y="1981200"/>
            <a:ext cx="42533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3C37485-62D4-E14E-9872-463DF3B3FAB9}"/>
              </a:ext>
            </a:extLst>
          </p:cNvPr>
          <p:cNvSpPr txBox="1"/>
          <p:nvPr/>
        </p:nvSpPr>
        <p:spPr>
          <a:xfrm>
            <a:off x="4433455" y="1787236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x</a:t>
            </a:r>
            <a:endParaRPr kumimoji="1" lang="ja-JP" altLang="en-US"/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6761E557-1A46-8847-9B29-32F697FB5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810" y="2757056"/>
            <a:ext cx="564574" cy="564574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B5CB5D5C-6838-F74A-B0E0-27F23BD76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865" y="2784765"/>
            <a:ext cx="564574" cy="564574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6DC6B13-5DA8-3C4F-9DC2-94A723BDEC48}"/>
              </a:ext>
            </a:extLst>
          </p:cNvPr>
          <p:cNvSpPr txBox="1"/>
          <p:nvPr/>
        </p:nvSpPr>
        <p:spPr>
          <a:xfrm>
            <a:off x="1163781" y="110836"/>
            <a:ext cx="207620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/>
              <a:t>Uniform heating</a:t>
            </a:r>
            <a:endParaRPr kumimoji="1" lang="en-US" altLang="ja-JP" sz="3200"/>
          </a:p>
          <a:p>
            <a:r>
              <a:rPr kumimoji="1" lang="ja-JP" altLang="en-US" sz="3200"/>
              <a:t>(fixed boundary)</a:t>
            </a:r>
            <a:endParaRPr kumimoji="1" lang="en-US" altLang="ja-JP" sz="320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ED0678B0-8091-1E45-BFA9-8A5D334EC5D8}"/>
              </a:ext>
            </a:extLst>
          </p:cNvPr>
          <p:cNvSpPr txBox="1"/>
          <p:nvPr/>
        </p:nvSpPr>
        <p:spPr>
          <a:xfrm>
            <a:off x="6179126" y="124690"/>
            <a:ext cx="207620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/>
              <a:t>Fixed temperature</a:t>
            </a:r>
            <a:endParaRPr kumimoji="1" lang="en-US" altLang="ja-JP" sz="3200"/>
          </a:p>
          <a:p>
            <a:r>
              <a:rPr kumimoji="1" lang="ja-JP" altLang="en-US" sz="3200"/>
              <a:t>(periodic boundary)</a:t>
            </a:r>
            <a:endParaRPr kumimoji="1" lang="en-US" altLang="ja-JP" sz="320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BD4E71E-D458-E04A-8E69-2CBBB64C3CBA}"/>
              </a:ext>
            </a:extLst>
          </p:cNvPr>
          <p:cNvSpPr txBox="1"/>
          <p:nvPr/>
        </p:nvSpPr>
        <p:spPr>
          <a:xfrm>
            <a:off x="831273" y="3574473"/>
            <a:ext cx="30075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Heat the entire rod</a:t>
            </a:r>
            <a:endParaRPr kumimoji="1" lang="en-US" altLang="ja-JP"/>
          </a:p>
          <a:p>
            <a:r>
              <a:rPr kumimoji="1" lang="ja-JP" altLang="en-US"/>
              <a:t>Fix both ends at the same temperature</a:t>
            </a:r>
            <a:endParaRPr kumimoji="1" lang="en-US" altLang="ja-JP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E62CD793-C1F0-8143-9804-B340F4A44522}"/>
              </a:ext>
            </a:extLst>
          </p:cNvPr>
          <p:cNvSpPr txBox="1"/>
          <p:nvPr/>
        </p:nvSpPr>
        <p:spPr>
          <a:xfrm>
            <a:off x="4987637" y="3560619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Fix the left side of a metal ring at high temperature and the right side at low temperature</a:t>
            </a:r>
            <a:endParaRPr kumimoji="1" lang="en-US" altLang="ja-JP"/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2B866937-231A-2E43-8596-782D00B7436D}"/>
              </a:ext>
            </a:extLst>
          </p:cNvPr>
          <p:cNvCxnSpPr/>
          <p:nvPr/>
        </p:nvCxnSpPr>
        <p:spPr>
          <a:xfrm>
            <a:off x="152400" y="6502523"/>
            <a:ext cx="42533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2CC81159-5BC6-AC45-87CE-E653C209EB53}"/>
              </a:ext>
            </a:extLst>
          </p:cNvPr>
          <p:cNvSpPr txBox="1"/>
          <p:nvPr/>
        </p:nvSpPr>
        <p:spPr>
          <a:xfrm>
            <a:off x="9116292" y="567124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Coordinate</a:t>
            </a: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839758AA-CA0A-994F-8521-479F4CD9D24E}"/>
              </a:ext>
            </a:extLst>
          </p:cNvPr>
          <p:cNvCxnSpPr>
            <a:cxnSpLocks/>
          </p:cNvCxnSpPr>
          <p:nvPr/>
        </p:nvCxnSpPr>
        <p:spPr>
          <a:xfrm flipV="1">
            <a:off x="332509" y="4807527"/>
            <a:ext cx="0" cy="19305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C79C112F-C3C3-4F45-8C15-59F0B36D64E0}"/>
              </a:ext>
            </a:extLst>
          </p:cNvPr>
          <p:cNvSpPr txBox="1"/>
          <p:nvPr/>
        </p:nvSpPr>
        <p:spPr>
          <a:xfrm>
            <a:off x="0" y="441960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Temperature</a:t>
            </a:r>
            <a:endParaRPr kumimoji="1" lang="ja-JP" altLang="en-US"/>
          </a:p>
        </p:txBody>
      </p:sp>
      <p:sp>
        <p:nvSpPr>
          <p:cNvPr id="29" name="フリーフォーム 28">
            <a:extLst>
              <a:ext uri="{FF2B5EF4-FFF2-40B4-BE49-F238E27FC236}">
                <a16:creationId xmlns:a16="http://schemas.microsoft.com/office/drawing/2014/main" id="{94FA6680-87AC-4D48-87B2-2E8FFB66BCAA}"/>
              </a:ext>
            </a:extLst>
          </p:cNvPr>
          <p:cNvSpPr/>
          <p:nvPr/>
        </p:nvSpPr>
        <p:spPr>
          <a:xfrm>
            <a:off x="332509" y="4987631"/>
            <a:ext cx="3560618" cy="1510151"/>
          </a:xfrm>
          <a:custGeom>
            <a:avLst/>
            <a:gdLst>
              <a:gd name="connsiteX0" fmla="*/ 0 w 3560618"/>
              <a:gd name="connsiteY0" fmla="*/ 1496296 h 1510151"/>
              <a:gd name="connsiteX1" fmla="*/ 1828800 w 3560618"/>
              <a:gd name="connsiteY1" fmla="*/ 5 h 1510151"/>
              <a:gd name="connsiteX2" fmla="*/ 3560618 w 3560618"/>
              <a:gd name="connsiteY2" fmla="*/ 1510151 h 1510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60618" h="1510151">
                <a:moveTo>
                  <a:pt x="0" y="1496296"/>
                </a:moveTo>
                <a:cubicBezTo>
                  <a:pt x="617682" y="746996"/>
                  <a:pt x="1235364" y="-2304"/>
                  <a:pt x="1828800" y="5"/>
                </a:cubicBezTo>
                <a:cubicBezTo>
                  <a:pt x="2422236" y="2314"/>
                  <a:pt x="2991427" y="756232"/>
                  <a:pt x="3560618" y="1510151"/>
                </a:cubicBezTo>
              </a:path>
            </a:pathLst>
          </a:cu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FEC2061A-C31D-3247-B053-545D27AC246A}"/>
              </a:ext>
            </a:extLst>
          </p:cNvPr>
          <p:cNvCxnSpPr>
            <a:cxnSpLocks/>
          </p:cNvCxnSpPr>
          <p:nvPr/>
        </p:nvCxnSpPr>
        <p:spPr>
          <a:xfrm>
            <a:off x="5347854" y="5782088"/>
            <a:ext cx="356061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87663D4C-EC96-2943-BF89-10FF4B95B632}"/>
              </a:ext>
            </a:extLst>
          </p:cNvPr>
          <p:cNvCxnSpPr>
            <a:cxnSpLocks/>
          </p:cNvCxnSpPr>
          <p:nvPr/>
        </p:nvCxnSpPr>
        <p:spPr>
          <a:xfrm flipV="1">
            <a:off x="5597236" y="4724400"/>
            <a:ext cx="0" cy="19305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FCD94677-B6F4-B542-8F99-E1248CE38818}"/>
              </a:ext>
            </a:extLst>
          </p:cNvPr>
          <p:cNvSpPr txBox="1"/>
          <p:nvPr/>
        </p:nvSpPr>
        <p:spPr>
          <a:xfrm>
            <a:off x="5250873" y="433647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Temperature</a:t>
            </a:r>
            <a:endParaRPr kumimoji="1" lang="ja-JP" altLang="en-US"/>
          </a:p>
        </p:txBody>
      </p: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174DBB2B-C06F-C74A-A837-376F64A139BF}"/>
              </a:ext>
            </a:extLst>
          </p:cNvPr>
          <p:cNvCxnSpPr/>
          <p:nvPr/>
        </p:nvCxnSpPr>
        <p:spPr>
          <a:xfrm flipV="1">
            <a:off x="5624945" y="5056909"/>
            <a:ext cx="706582" cy="706582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8E0CE6B0-D450-0B4C-AED6-1F7C51AFC782}"/>
              </a:ext>
            </a:extLst>
          </p:cNvPr>
          <p:cNvCxnSpPr/>
          <p:nvPr/>
        </p:nvCxnSpPr>
        <p:spPr>
          <a:xfrm flipV="1">
            <a:off x="7716981" y="5763491"/>
            <a:ext cx="706582" cy="706582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063C8FAE-6EAB-1B41-ACC8-466EE5D94325}"/>
              </a:ext>
            </a:extLst>
          </p:cNvPr>
          <p:cNvCxnSpPr>
            <a:cxnSpLocks/>
          </p:cNvCxnSpPr>
          <p:nvPr/>
        </p:nvCxnSpPr>
        <p:spPr>
          <a:xfrm>
            <a:off x="6331526" y="5043055"/>
            <a:ext cx="1385456" cy="1440872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2BFEAD2F-FF2A-104E-9536-A9EC7D233E32}"/>
              </a:ext>
            </a:extLst>
          </p:cNvPr>
          <p:cNvSpPr txBox="1"/>
          <p:nvPr/>
        </p:nvSpPr>
        <p:spPr>
          <a:xfrm>
            <a:off x="3740728" y="4932218"/>
            <a:ext cx="1620957" cy="523220"/>
          </a:xfrm>
          <a:prstGeom prst="rect">
            <a:avLst/>
          </a:prstGeom>
          <a:noFill/>
          <a:ln w="22225"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Steady state</a:t>
            </a:r>
          </a:p>
        </p:txBody>
      </p:sp>
    </p:spTree>
    <p:extLst>
      <p:ext uri="{BB962C8B-B14F-4D97-AF65-F5344CB8AC3E}">
        <p14:creationId xmlns:p14="http://schemas.microsoft.com/office/powerpoint/2010/main" val="1382605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FA90FEC-3311-544E-A788-3F2D29D80BD7}"/>
              </a:ext>
            </a:extLst>
          </p:cNvPr>
          <p:cNvSpPr/>
          <p:nvPr/>
        </p:nvSpPr>
        <p:spPr>
          <a:xfrm>
            <a:off x="1280592" y="548680"/>
            <a:ext cx="36004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D50D792-C427-F949-A4DD-B581AED48F68}"/>
              </a:ext>
            </a:extLst>
          </p:cNvPr>
          <p:cNvSpPr/>
          <p:nvPr/>
        </p:nvSpPr>
        <p:spPr>
          <a:xfrm>
            <a:off x="1640632" y="548680"/>
            <a:ext cx="36004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389DAFA-7128-854C-8E99-5E28ABAD6FBF}"/>
              </a:ext>
            </a:extLst>
          </p:cNvPr>
          <p:cNvSpPr/>
          <p:nvPr/>
        </p:nvSpPr>
        <p:spPr>
          <a:xfrm>
            <a:off x="2000672" y="548680"/>
            <a:ext cx="36004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8E088B8-4F52-9643-A65F-576DA3DE7EB2}"/>
              </a:ext>
            </a:extLst>
          </p:cNvPr>
          <p:cNvSpPr/>
          <p:nvPr/>
        </p:nvSpPr>
        <p:spPr>
          <a:xfrm>
            <a:off x="2360712" y="548680"/>
            <a:ext cx="360040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72E0406-6775-5C4C-A097-E96D0E3446C2}"/>
              </a:ext>
            </a:extLst>
          </p:cNvPr>
          <p:cNvSpPr/>
          <p:nvPr/>
        </p:nvSpPr>
        <p:spPr>
          <a:xfrm>
            <a:off x="920552" y="548680"/>
            <a:ext cx="360040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71E3141-595E-5544-9C6E-62BEF0B17F94}"/>
              </a:ext>
            </a:extLst>
          </p:cNvPr>
          <p:cNvSpPr/>
          <p:nvPr/>
        </p:nvSpPr>
        <p:spPr>
          <a:xfrm>
            <a:off x="1280592" y="1340768"/>
            <a:ext cx="360040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71657D1-094C-A34B-9C7F-60EBEE15AF15}"/>
              </a:ext>
            </a:extLst>
          </p:cNvPr>
          <p:cNvSpPr/>
          <p:nvPr/>
        </p:nvSpPr>
        <p:spPr>
          <a:xfrm>
            <a:off x="1640632" y="1340768"/>
            <a:ext cx="360040" cy="360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C785987-4A61-A249-B5B5-A6F09F0F0403}"/>
              </a:ext>
            </a:extLst>
          </p:cNvPr>
          <p:cNvSpPr/>
          <p:nvPr/>
        </p:nvSpPr>
        <p:spPr>
          <a:xfrm>
            <a:off x="2000672" y="1340768"/>
            <a:ext cx="360040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964DE1C-BAF8-0C4B-9B54-30F8E8494D7D}"/>
              </a:ext>
            </a:extLst>
          </p:cNvPr>
          <p:cNvSpPr/>
          <p:nvPr/>
        </p:nvSpPr>
        <p:spPr>
          <a:xfrm>
            <a:off x="2360712" y="1340768"/>
            <a:ext cx="360040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9A9724A-4597-4F47-A346-F20840344877}"/>
              </a:ext>
            </a:extLst>
          </p:cNvPr>
          <p:cNvSpPr/>
          <p:nvPr/>
        </p:nvSpPr>
        <p:spPr>
          <a:xfrm>
            <a:off x="920552" y="1340768"/>
            <a:ext cx="360040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A77E2A9-0EB8-6044-B6A9-AF264EED02D4}"/>
              </a:ext>
            </a:extLst>
          </p:cNvPr>
          <p:cNvSpPr txBox="1"/>
          <p:nvPr/>
        </p:nvSpPr>
        <p:spPr>
          <a:xfrm>
            <a:off x="442918" y="548680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t</a:t>
            </a:r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E6B5527-D3E5-644A-8B15-D5204B3DB2EB}"/>
              </a:ext>
            </a:extLst>
          </p:cNvPr>
          <p:cNvSpPr txBox="1"/>
          <p:nvPr/>
        </p:nvSpPr>
        <p:spPr>
          <a:xfrm>
            <a:off x="344488" y="1340768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t+1</a:t>
            </a:r>
            <a:endParaRPr kumimoji="1" lang="ja-JP" altLang="en-US"/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B8BEE15E-EE65-7D43-8D3C-E27FAF213DBA}"/>
              </a:ext>
            </a:extLst>
          </p:cNvPr>
          <p:cNvCxnSpPr>
            <a:stCxn id="3" idx="2"/>
            <a:endCxn id="8" idx="0"/>
          </p:cNvCxnSpPr>
          <p:nvPr/>
        </p:nvCxnSpPr>
        <p:spPr>
          <a:xfrm>
            <a:off x="1820652" y="908720"/>
            <a:ext cx="0" cy="432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BCD72001-B89B-7E46-BC5A-95F56BA2BC40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1928664" y="908720"/>
            <a:ext cx="252028" cy="432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EBCA4A69-B782-DA42-9648-06DB4C759B5C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1460612" y="908720"/>
            <a:ext cx="252028" cy="432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21DAD823-1FAD-674F-866C-064A287EE53C}"/>
              </a:ext>
            </a:extLst>
          </p:cNvPr>
          <p:cNvSpPr txBox="1"/>
          <p:nvPr/>
        </p:nvSpPr>
        <p:spPr>
          <a:xfrm>
            <a:off x="3152800" y="764704"/>
            <a:ext cx="48013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To compute the next-time state of a point,</a:t>
            </a:r>
            <a:endParaRPr kumimoji="1" lang="en-US" altLang="ja-JP"/>
          </a:p>
          <a:p>
            <a:r>
              <a:rPr kumimoji="1" lang="ja-JP" altLang="en-US"/>
              <a:t>information from both neighboring points is needed</a:t>
            </a:r>
            <a:endParaRPr kumimoji="1" lang="en-US" altLang="ja-JP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1C25455B-0D28-0C45-9761-51071C0B1A29}"/>
              </a:ext>
            </a:extLst>
          </p:cNvPr>
          <p:cNvSpPr/>
          <p:nvPr/>
        </p:nvSpPr>
        <p:spPr>
          <a:xfrm>
            <a:off x="2792760" y="2708920"/>
            <a:ext cx="360040" cy="36004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9F242A2C-1498-ED44-8369-5AF8838E2A0C}"/>
              </a:ext>
            </a:extLst>
          </p:cNvPr>
          <p:cNvSpPr/>
          <p:nvPr/>
        </p:nvSpPr>
        <p:spPr>
          <a:xfrm>
            <a:off x="3224808" y="2708920"/>
            <a:ext cx="360040" cy="36004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6F2B89A4-5851-1547-B36C-D0F0F2A321EA}"/>
              </a:ext>
            </a:extLst>
          </p:cNvPr>
          <p:cNvSpPr/>
          <p:nvPr/>
        </p:nvSpPr>
        <p:spPr>
          <a:xfrm>
            <a:off x="3656856" y="2708920"/>
            <a:ext cx="360040" cy="36004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D3D5C961-90B9-7E45-8F92-E59379B98D31}"/>
              </a:ext>
            </a:extLst>
          </p:cNvPr>
          <p:cNvSpPr/>
          <p:nvPr/>
        </p:nvSpPr>
        <p:spPr>
          <a:xfrm>
            <a:off x="4088904" y="2708920"/>
            <a:ext cx="360040" cy="36004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66679E91-354F-844B-B5EE-94FD0E6A8668}"/>
              </a:ext>
            </a:extLst>
          </p:cNvPr>
          <p:cNvSpPr/>
          <p:nvPr/>
        </p:nvSpPr>
        <p:spPr>
          <a:xfrm>
            <a:off x="4520952" y="2708920"/>
            <a:ext cx="360040" cy="36004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CAD0387D-F3B3-064F-A65B-7A74569BCAE7}"/>
              </a:ext>
            </a:extLst>
          </p:cNvPr>
          <p:cNvSpPr/>
          <p:nvPr/>
        </p:nvSpPr>
        <p:spPr>
          <a:xfrm>
            <a:off x="4953000" y="2708920"/>
            <a:ext cx="360040" cy="36004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1F8850D5-95EF-CC44-B214-2B86A54F78C1}"/>
              </a:ext>
            </a:extLst>
          </p:cNvPr>
          <p:cNvSpPr/>
          <p:nvPr/>
        </p:nvSpPr>
        <p:spPr>
          <a:xfrm>
            <a:off x="5385048" y="2708920"/>
            <a:ext cx="360040" cy="36004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8A6A84B1-9178-BE4A-9CEF-B8D595E59E34}"/>
              </a:ext>
            </a:extLst>
          </p:cNvPr>
          <p:cNvSpPr/>
          <p:nvPr/>
        </p:nvSpPr>
        <p:spPr>
          <a:xfrm>
            <a:off x="5817096" y="2708920"/>
            <a:ext cx="360040" cy="36004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A1DAC848-982C-5B43-8675-B7BD13011DF1}"/>
              </a:ext>
            </a:extLst>
          </p:cNvPr>
          <p:cNvSpPr txBox="1"/>
          <p:nvPr/>
        </p:nvSpPr>
        <p:spPr>
          <a:xfrm>
            <a:off x="3368824" y="1988840"/>
            <a:ext cx="21723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/>
              <a:t>Original world</a:t>
            </a:r>
            <a:endParaRPr kumimoji="1" lang="en-US" altLang="ja-JP"/>
          </a:p>
          <a:p>
            <a:pPr algn="ctr"/>
            <a:r>
              <a:rPr kumimoji="1" lang="ja-JP" altLang="en-US"/>
              <a:t>(global data)</a:t>
            </a:r>
            <a:endParaRPr kumimoji="1" lang="en-US" altLang="ja-JP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91ED7E59-2632-FB46-86CC-1A393509454C}"/>
              </a:ext>
            </a:extLst>
          </p:cNvPr>
          <p:cNvSpPr/>
          <p:nvPr/>
        </p:nvSpPr>
        <p:spPr>
          <a:xfrm>
            <a:off x="1640632" y="3645024"/>
            <a:ext cx="360040" cy="36004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B1151093-4A26-034F-B2E5-4F70C2AA8763}"/>
              </a:ext>
            </a:extLst>
          </p:cNvPr>
          <p:cNvSpPr/>
          <p:nvPr/>
        </p:nvSpPr>
        <p:spPr>
          <a:xfrm>
            <a:off x="2072680" y="3645024"/>
            <a:ext cx="360040" cy="36004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928B45CA-9CCA-BF4D-A738-7543DE4314B2}"/>
              </a:ext>
            </a:extLst>
          </p:cNvPr>
          <p:cNvSpPr/>
          <p:nvPr/>
        </p:nvSpPr>
        <p:spPr>
          <a:xfrm>
            <a:off x="2504728" y="3645024"/>
            <a:ext cx="360040" cy="36004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30C99AC6-B020-E348-A562-7555DC41FDF0}"/>
              </a:ext>
            </a:extLst>
          </p:cNvPr>
          <p:cNvSpPr/>
          <p:nvPr/>
        </p:nvSpPr>
        <p:spPr>
          <a:xfrm>
            <a:off x="2936776" y="3645024"/>
            <a:ext cx="360040" cy="36004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D099698C-76FE-4144-9A9E-45CEAD461780}"/>
              </a:ext>
            </a:extLst>
          </p:cNvPr>
          <p:cNvSpPr/>
          <p:nvPr/>
        </p:nvSpPr>
        <p:spPr>
          <a:xfrm>
            <a:off x="3368824" y="3645024"/>
            <a:ext cx="360040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4310F876-07AF-B84D-806B-E06DE95212FA}"/>
              </a:ext>
            </a:extLst>
          </p:cNvPr>
          <p:cNvSpPr/>
          <p:nvPr/>
        </p:nvSpPr>
        <p:spPr>
          <a:xfrm>
            <a:off x="1208584" y="3645024"/>
            <a:ext cx="360040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4A2EF17A-3267-8047-9FAE-90A2917407E6}"/>
              </a:ext>
            </a:extLst>
          </p:cNvPr>
          <p:cNvSpPr/>
          <p:nvPr/>
        </p:nvSpPr>
        <p:spPr>
          <a:xfrm>
            <a:off x="5673080" y="3645024"/>
            <a:ext cx="360040" cy="36004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0AFF6B31-296B-774D-8591-5303F5A0A8B3}"/>
              </a:ext>
            </a:extLst>
          </p:cNvPr>
          <p:cNvSpPr/>
          <p:nvPr/>
        </p:nvSpPr>
        <p:spPr>
          <a:xfrm>
            <a:off x="6105128" y="3645024"/>
            <a:ext cx="360040" cy="36004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191F6B36-7B24-5E4C-A7B1-B7714F7083B9}"/>
              </a:ext>
            </a:extLst>
          </p:cNvPr>
          <p:cNvSpPr/>
          <p:nvPr/>
        </p:nvSpPr>
        <p:spPr>
          <a:xfrm>
            <a:off x="6537176" y="3645024"/>
            <a:ext cx="360040" cy="36004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01F85F7C-4628-E342-A381-EF0E5408E40D}"/>
              </a:ext>
            </a:extLst>
          </p:cNvPr>
          <p:cNvSpPr/>
          <p:nvPr/>
        </p:nvSpPr>
        <p:spPr>
          <a:xfrm>
            <a:off x="6969224" y="3645024"/>
            <a:ext cx="360040" cy="36004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05D6E1AD-987F-7747-8932-CA81C557C006}"/>
              </a:ext>
            </a:extLst>
          </p:cNvPr>
          <p:cNvSpPr/>
          <p:nvPr/>
        </p:nvSpPr>
        <p:spPr>
          <a:xfrm>
            <a:off x="7401272" y="3645024"/>
            <a:ext cx="360040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9127B5CB-33C6-6445-87B5-AFF0DB7E0536}"/>
              </a:ext>
            </a:extLst>
          </p:cNvPr>
          <p:cNvSpPr/>
          <p:nvPr/>
        </p:nvSpPr>
        <p:spPr>
          <a:xfrm>
            <a:off x="5241032" y="3645024"/>
            <a:ext cx="360040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F56DDA63-D90A-D743-BBEF-A0DB8E8ED1DB}"/>
              </a:ext>
            </a:extLst>
          </p:cNvPr>
          <p:cNvCxnSpPr>
            <a:cxnSpLocks/>
          </p:cNvCxnSpPr>
          <p:nvPr/>
        </p:nvCxnSpPr>
        <p:spPr>
          <a:xfrm flipH="1">
            <a:off x="2936776" y="3139440"/>
            <a:ext cx="680184" cy="3615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031D0855-4CCD-0045-9157-EF9C52AC3A6A}"/>
              </a:ext>
            </a:extLst>
          </p:cNvPr>
          <p:cNvCxnSpPr>
            <a:cxnSpLocks/>
          </p:cNvCxnSpPr>
          <p:nvPr/>
        </p:nvCxnSpPr>
        <p:spPr>
          <a:xfrm>
            <a:off x="5385048" y="3140968"/>
            <a:ext cx="648072" cy="3600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49C16C4C-BA83-0C4D-83E2-02CEF66651D0}"/>
              </a:ext>
            </a:extLst>
          </p:cNvPr>
          <p:cNvSpPr txBox="1"/>
          <p:nvPr/>
        </p:nvSpPr>
        <p:spPr>
          <a:xfrm>
            <a:off x="5673080" y="3068960"/>
            <a:ext cx="318548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ja-JP" altLang="en-US"/>
              <a:t>Domain decomposition with halos</a:t>
            </a: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F0ECC09C-E5C2-984B-AEF6-71EE28619D2C}"/>
              </a:ext>
            </a:extLst>
          </p:cNvPr>
          <p:cNvSpPr/>
          <p:nvPr/>
        </p:nvSpPr>
        <p:spPr>
          <a:xfrm>
            <a:off x="1568624" y="4941168"/>
            <a:ext cx="360040" cy="36004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0DA0E982-0DC1-1449-A13D-A6D83D274F90}"/>
              </a:ext>
            </a:extLst>
          </p:cNvPr>
          <p:cNvSpPr/>
          <p:nvPr/>
        </p:nvSpPr>
        <p:spPr>
          <a:xfrm>
            <a:off x="2000672" y="4941168"/>
            <a:ext cx="360040" cy="36004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F74062DB-05F2-1349-ABF2-6B6CF393CF9F}"/>
              </a:ext>
            </a:extLst>
          </p:cNvPr>
          <p:cNvSpPr/>
          <p:nvPr/>
        </p:nvSpPr>
        <p:spPr>
          <a:xfrm>
            <a:off x="2432720" y="4941168"/>
            <a:ext cx="360040" cy="36004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B247E025-6EB6-3A43-9914-A92A8389A2C0}"/>
              </a:ext>
            </a:extLst>
          </p:cNvPr>
          <p:cNvSpPr/>
          <p:nvPr/>
        </p:nvSpPr>
        <p:spPr>
          <a:xfrm>
            <a:off x="2864768" y="4941168"/>
            <a:ext cx="360040" cy="36004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24BA4915-04A0-EC4C-95BB-B04F69559B1E}"/>
              </a:ext>
            </a:extLst>
          </p:cNvPr>
          <p:cNvSpPr/>
          <p:nvPr/>
        </p:nvSpPr>
        <p:spPr>
          <a:xfrm>
            <a:off x="3296816" y="4941168"/>
            <a:ext cx="360040" cy="360040"/>
          </a:xfrm>
          <a:prstGeom prst="rect">
            <a:avLst/>
          </a:prstGeom>
          <a:solidFill>
            <a:srgbClr val="00B050"/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601F66FC-2F7B-2843-9DDB-28ABD2CB2D54}"/>
              </a:ext>
            </a:extLst>
          </p:cNvPr>
          <p:cNvSpPr/>
          <p:nvPr/>
        </p:nvSpPr>
        <p:spPr>
          <a:xfrm>
            <a:off x="1136576" y="4941168"/>
            <a:ext cx="360040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241F6608-6CC9-7943-9A7C-5568EDD5C07B}"/>
              </a:ext>
            </a:extLst>
          </p:cNvPr>
          <p:cNvSpPr/>
          <p:nvPr/>
        </p:nvSpPr>
        <p:spPr>
          <a:xfrm>
            <a:off x="5673080" y="4941168"/>
            <a:ext cx="360040" cy="36004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296F2FA8-F63E-074C-B220-926EEBC5EDB1}"/>
              </a:ext>
            </a:extLst>
          </p:cNvPr>
          <p:cNvSpPr/>
          <p:nvPr/>
        </p:nvSpPr>
        <p:spPr>
          <a:xfrm>
            <a:off x="6105128" y="4941168"/>
            <a:ext cx="360040" cy="36004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0305915E-0155-D241-8D56-A319CEC1CC4F}"/>
              </a:ext>
            </a:extLst>
          </p:cNvPr>
          <p:cNvSpPr/>
          <p:nvPr/>
        </p:nvSpPr>
        <p:spPr>
          <a:xfrm>
            <a:off x="6537176" y="4941168"/>
            <a:ext cx="360040" cy="36004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D521ECBC-4032-734D-A51F-47A3F2D6BE76}"/>
              </a:ext>
            </a:extLst>
          </p:cNvPr>
          <p:cNvSpPr/>
          <p:nvPr/>
        </p:nvSpPr>
        <p:spPr>
          <a:xfrm>
            <a:off x="6969224" y="4941168"/>
            <a:ext cx="360040" cy="36004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70551D40-BB50-E740-B57B-5C13D1C4FC27}"/>
              </a:ext>
            </a:extLst>
          </p:cNvPr>
          <p:cNvSpPr/>
          <p:nvPr/>
        </p:nvSpPr>
        <p:spPr>
          <a:xfrm>
            <a:off x="7401272" y="4941168"/>
            <a:ext cx="360040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4A9902BD-0DB7-AB4D-B402-6C45EC6E19A5}"/>
              </a:ext>
            </a:extLst>
          </p:cNvPr>
          <p:cNvSpPr/>
          <p:nvPr/>
        </p:nvSpPr>
        <p:spPr>
          <a:xfrm>
            <a:off x="5241032" y="4941168"/>
            <a:ext cx="360040" cy="360040"/>
          </a:xfrm>
          <a:prstGeom prst="rect">
            <a:avLst/>
          </a:prstGeom>
          <a:solidFill>
            <a:srgbClr val="FF0000"/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3" name="カギ線コネクタ 72">
            <a:extLst>
              <a:ext uri="{FF2B5EF4-FFF2-40B4-BE49-F238E27FC236}">
                <a16:creationId xmlns:a16="http://schemas.microsoft.com/office/drawing/2014/main" id="{C8AF2208-B94B-B942-9E33-72651C8CFB1B}"/>
              </a:ext>
            </a:extLst>
          </p:cNvPr>
          <p:cNvCxnSpPr>
            <a:cxnSpLocks/>
            <a:stCxn id="65" idx="0"/>
            <a:endCxn id="63" idx="0"/>
          </p:cNvCxnSpPr>
          <p:nvPr/>
        </p:nvCxnSpPr>
        <p:spPr>
          <a:xfrm rot="16200000" flipV="1">
            <a:off x="4664968" y="3753036"/>
            <a:ext cx="12700" cy="2376264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カギ線コネクタ 76">
            <a:extLst>
              <a:ext uri="{FF2B5EF4-FFF2-40B4-BE49-F238E27FC236}">
                <a16:creationId xmlns:a16="http://schemas.microsoft.com/office/drawing/2014/main" id="{1A19567B-8278-9A4B-A2FA-A3A27AF68124}"/>
              </a:ext>
            </a:extLst>
          </p:cNvPr>
          <p:cNvCxnSpPr>
            <a:cxnSpLocks/>
            <a:stCxn id="62" idx="0"/>
            <a:endCxn id="70" idx="0"/>
          </p:cNvCxnSpPr>
          <p:nvPr/>
        </p:nvCxnSpPr>
        <p:spPr>
          <a:xfrm rot="5400000" flipH="1" flipV="1">
            <a:off x="4232920" y="3753036"/>
            <a:ext cx="12700" cy="2376264"/>
          </a:xfrm>
          <a:prstGeom prst="bentConnector3">
            <a:avLst>
              <a:gd name="adj1" fmla="val 34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DFE0AE4A-6D85-4143-AFD1-AF444A9B4277}"/>
              </a:ext>
            </a:extLst>
          </p:cNvPr>
          <p:cNvSpPr txBox="1"/>
          <p:nvPr/>
        </p:nvSpPr>
        <p:spPr>
          <a:xfrm>
            <a:off x="3368824" y="4077072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First exchange boundary information</a:t>
            </a:r>
            <a:endParaRPr kumimoji="1" lang="ja-JP" altLang="en-US"/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E1AE3BC0-0EEE-CE4F-A901-D0FA4D1C865C}"/>
              </a:ext>
            </a:extLst>
          </p:cNvPr>
          <p:cNvSpPr txBox="1"/>
          <p:nvPr/>
        </p:nvSpPr>
        <p:spPr>
          <a:xfrm>
            <a:off x="658942" y="4941168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t</a:t>
            </a:r>
            <a:endParaRPr kumimoji="1" lang="ja-JP" altLang="en-US"/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8356DE46-9C78-5D41-88F8-E4AE90854C3A}"/>
              </a:ext>
            </a:extLst>
          </p:cNvPr>
          <p:cNvSpPr txBox="1"/>
          <p:nvPr/>
        </p:nvSpPr>
        <p:spPr>
          <a:xfrm>
            <a:off x="560512" y="5733256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t+1</a:t>
            </a:r>
            <a:endParaRPr kumimoji="1" lang="ja-JP" altLang="en-US"/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A457A18C-5641-944E-A5A4-AD66300AA43C}"/>
              </a:ext>
            </a:extLst>
          </p:cNvPr>
          <p:cNvSpPr/>
          <p:nvPr/>
        </p:nvSpPr>
        <p:spPr>
          <a:xfrm>
            <a:off x="1568624" y="5733256"/>
            <a:ext cx="360040" cy="36004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9952D1B5-1036-0F44-B4C3-F6DD5A17AF43}"/>
              </a:ext>
            </a:extLst>
          </p:cNvPr>
          <p:cNvSpPr/>
          <p:nvPr/>
        </p:nvSpPr>
        <p:spPr>
          <a:xfrm>
            <a:off x="2000672" y="5733256"/>
            <a:ext cx="360040" cy="36004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6D5D536A-5854-7B43-A84E-14CE7D9C4E59}"/>
              </a:ext>
            </a:extLst>
          </p:cNvPr>
          <p:cNvSpPr/>
          <p:nvPr/>
        </p:nvSpPr>
        <p:spPr>
          <a:xfrm>
            <a:off x="2432720" y="5733256"/>
            <a:ext cx="360040" cy="36004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3C68AB2A-ED08-E24C-8CE1-57DB3718EF4D}"/>
              </a:ext>
            </a:extLst>
          </p:cNvPr>
          <p:cNvSpPr/>
          <p:nvPr/>
        </p:nvSpPr>
        <p:spPr>
          <a:xfrm>
            <a:off x="2864768" y="5733256"/>
            <a:ext cx="360040" cy="36004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A3D48BE5-2776-EE44-A4A3-28DDA37D3BF4}"/>
              </a:ext>
            </a:extLst>
          </p:cNvPr>
          <p:cNvSpPr/>
          <p:nvPr/>
        </p:nvSpPr>
        <p:spPr>
          <a:xfrm>
            <a:off x="3296816" y="5733256"/>
            <a:ext cx="360040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870624F0-3852-C740-9479-E5D029CEF469}"/>
              </a:ext>
            </a:extLst>
          </p:cNvPr>
          <p:cNvSpPr/>
          <p:nvPr/>
        </p:nvSpPr>
        <p:spPr>
          <a:xfrm>
            <a:off x="1136576" y="5733256"/>
            <a:ext cx="360040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853C1588-1E78-2141-BDD4-0907F2FB050B}"/>
              </a:ext>
            </a:extLst>
          </p:cNvPr>
          <p:cNvSpPr/>
          <p:nvPr/>
        </p:nvSpPr>
        <p:spPr>
          <a:xfrm>
            <a:off x="5673080" y="5733256"/>
            <a:ext cx="360040" cy="36004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0E6CAE55-B323-BB40-A548-1D8AB58430A7}"/>
              </a:ext>
            </a:extLst>
          </p:cNvPr>
          <p:cNvSpPr/>
          <p:nvPr/>
        </p:nvSpPr>
        <p:spPr>
          <a:xfrm>
            <a:off x="6105128" y="5733256"/>
            <a:ext cx="360040" cy="36004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103AB08D-2E3E-F94B-8669-F6DF47D5712C}"/>
              </a:ext>
            </a:extLst>
          </p:cNvPr>
          <p:cNvSpPr/>
          <p:nvPr/>
        </p:nvSpPr>
        <p:spPr>
          <a:xfrm>
            <a:off x="6537176" y="5733256"/>
            <a:ext cx="360040" cy="36004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BC38CDB9-F0EB-5C4D-8625-5B079E22B9CB}"/>
              </a:ext>
            </a:extLst>
          </p:cNvPr>
          <p:cNvSpPr/>
          <p:nvPr/>
        </p:nvSpPr>
        <p:spPr>
          <a:xfrm>
            <a:off x="6969224" y="5733256"/>
            <a:ext cx="360040" cy="36004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C79E214C-9344-8F4A-BB36-E10FA5F38FA7}"/>
              </a:ext>
            </a:extLst>
          </p:cNvPr>
          <p:cNvSpPr/>
          <p:nvPr/>
        </p:nvSpPr>
        <p:spPr>
          <a:xfrm>
            <a:off x="7401272" y="5733256"/>
            <a:ext cx="360040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037771F7-9091-CD48-B2B1-43CF45162F41}"/>
              </a:ext>
            </a:extLst>
          </p:cNvPr>
          <p:cNvSpPr/>
          <p:nvPr/>
        </p:nvSpPr>
        <p:spPr>
          <a:xfrm>
            <a:off x="5241032" y="5733256"/>
            <a:ext cx="360040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6CDBACEA-8D6D-5145-9336-4212840AA6AB}"/>
              </a:ext>
            </a:extLst>
          </p:cNvPr>
          <p:cNvCxnSpPr/>
          <p:nvPr/>
        </p:nvCxnSpPr>
        <p:spPr>
          <a:xfrm>
            <a:off x="3044788" y="5301208"/>
            <a:ext cx="0" cy="432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矢印コネクタ 99">
            <a:extLst>
              <a:ext uri="{FF2B5EF4-FFF2-40B4-BE49-F238E27FC236}">
                <a16:creationId xmlns:a16="http://schemas.microsoft.com/office/drawing/2014/main" id="{EF9961EA-C9C9-8246-98EA-095AE9288B78}"/>
              </a:ext>
            </a:extLst>
          </p:cNvPr>
          <p:cNvCxnSpPr>
            <a:cxnSpLocks/>
          </p:cNvCxnSpPr>
          <p:nvPr/>
        </p:nvCxnSpPr>
        <p:spPr>
          <a:xfrm flipH="1">
            <a:off x="3152800" y="5301208"/>
            <a:ext cx="252028" cy="432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2E62CBAD-82F7-E242-8C0F-0D1A63790206}"/>
              </a:ext>
            </a:extLst>
          </p:cNvPr>
          <p:cNvCxnSpPr>
            <a:cxnSpLocks/>
          </p:cNvCxnSpPr>
          <p:nvPr/>
        </p:nvCxnSpPr>
        <p:spPr>
          <a:xfrm>
            <a:off x="2684748" y="5301208"/>
            <a:ext cx="252028" cy="432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矢印コネクタ 101">
            <a:extLst>
              <a:ext uri="{FF2B5EF4-FFF2-40B4-BE49-F238E27FC236}">
                <a16:creationId xmlns:a16="http://schemas.microsoft.com/office/drawing/2014/main" id="{64A49FC3-1423-2F46-AB28-FDF164C50D43}"/>
              </a:ext>
            </a:extLst>
          </p:cNvPr>
          <p:cNvCxnSpPr/>
          <p:nvPr/>
        </p:nvCxnSpPr>
        <p:spPr>
          <a:xfrm>
            <a:off x="5853100" y="5301208"/>
            <a:ext cx="0" cy="432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C7E5C89F-E61E-B24C-BB0E-C36B848A3BB6}"/>
              </a:ext>
            </a:extLst>
          </p:cNvPr>
          <p:cNvCxnSpPr>
            <a:cxnSpLocks/>
          </p:cNvCxnSpPr>
          <p:nvPr/>
        </p:nvCxnSpPr>
        <p:spPr>
          <a:xfrm flipH="1">
            <a:off x="5961112" y="5301208"/>
            <a:ext cx="252028" cy="432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矢印コネクタ 103">
            <a:extLst>
              <a:ext uri="{FF2B5EF4-FFF2-40B4-BE49-F238E27FC236}">
                <a16:creationId xmlns:a16="http://schemas.microsoft.com/office/drawing/2014/main" id="{D0A2D758-25DA-B948-BBC1-8FEDBD3C5885}"/>
              </a:ext>
            </a:extLst>
          </p:cNvPr>
          <p:cNvCxnSpPr>
            <a:cxnSpLocks/>
          </p:cNvCxnSpPr>
          <p:nvPr/>
        </p:nvCxnSpPr>
        <p:spPr>
          <a:xfrm>
            <a:off x="5493060" y="5301208"/>
            <a:ext cx="252028" cy="432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6AF6BF48-8659-1545-A94C-E7808D137839}"/>
              </a:ext>
            </a:extLst>
          </p:cNvPr>
          <p:cNvSpPr txBox="1"/>
          <p:nvPr/>
        </p:nvSpPr>
        <p:spPr>
          <a:xfrm>
            <a:off x="1568624" y="6237312"/>
            <a:ext cx="6647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Using the received information, the next-time state of the boundary points can be computed</a:t>
            </a:r>
          </a:p>
        </p:txBody>
      </p:sp>
    </p:spTree>
    <p:extLst>
      <p:ext uri="{BB962C8B-B14F-4D97-AF65-F5344CB8AC3E}">
        <p14:creationId xmlns:p14="http://schemas.microsoft.com/office/powerpoint/2010/main" val="3166460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6C462CB-E053-B946-8270-83001F55D617}"/>
              </a:ext>
            </a:extLst>
          </p:cNvPr>
          <p:cNvSpPr txBox="1"/>
          <p:nvPr/>
        </p:nvSpPr>
        <p:spPr>
          <a:xfrm>
            <a:off x="2113280" y="254000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Ways for a parallel program to write files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115FA73-4C70-7048-B5EE-D747BD448E6C}"/>
              </a:ext>
            </a:extLst>
          </p:cNvPr>
          <p:cNvSpPr txBox="1"/>
          <p:nvPr/>
        </p:nvSpPr>
        <p:spPr>
          <a:xfrm>
            <a:off x="142240" y="1137920"/>
            <a:ext cx="2720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1. Each process writes independently</a:t>
            </a: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DF9CC12F-CE98-EC4D-8A79-BCFF25957F9F}"/>
              </a:ext>
            </a:extLst>
          </p:cNvPr>
          <p:cNvGrpSpPr/>
          <p:nvPr/>
        </p:nvGrpSpPr>
        <p:grpSpPr>
          <a:xfrm>
            <a:off x="447040" y="1747520"/>
            <a:ext cx="2204720" cy="457200"/>
            <a:chOff x="396240" y="2062480"/>
            <a:chExt cx="2204720" cy="457200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8D32C5EA-26A0-6D4F-8018-441CFF59EE6F}"/>
                </a:ext>
              </a:extLst>
            </p:cNvPr>
            <p:cNvSpPr/>
            <p:nvPr/>
          </p:nvSpPr>
          <p:spPr>
            <a:xfrm>
              <a:off x="396240" y="2082800"/>
              <a:ext cx="1066800" cy="3860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tx1"/>
                  </a:solidFill>
                </a:rPr>
                <a:t>Process 1</a:t>
              </a:r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0" name="右矢印 9">
              <a:extLst>
                <a:ext uri="{FF2B5EF4-FFF2-40B4-BE49-F238E27FC236}">
                  <a16:creationId xmlns:a16="http://schemas.microsoft.com/office/drawing/2014/main" id="{D815AF72-2A7C-9446-A37E-EB9E3AF528BF}"/>
                </a:ext>
              </a:extLst>
            </p:cNvPr>
            <p:cNvSpPr/>
            <p:nvPr/>
          </p:nvSpPr>
          <p:spPr>
            <a:xfrm>
              <a:off x="1564640" y="2184400"/>
              <a:ext cx="325120" cy="23368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円柱 10">
              <a:extLst>
                <a:ext uri="{FF2B5EF4-FFF2-40B4-BE49-F238E27FC236}">
                  <a16:creationId xmlns:a16="http://schemas.microsoft.com/office/drawing/2014/main" id="{82CF3F62-C6FE-384E-94F0-6D24B283976D}"/>
                </a:ext>
              </a:extLst>
            </p:cNvPr>
            <p:cNvSpPr/>
            <p:nvPr/>
          </p:nvSpPr>
          <p:spPr>
            <a:xfrm>
              <a:off x="2103120" y="2062480"/>
              <a:ext cx="497840" cy="457200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233C97BA-3227-CF40-8281-16BBF1F6EA26}"/>
              </a:ext>
            </a:extLst>
          </p:cNvPr>
          <p:cNvGrpSpPr/>
          <p:nvPr/>
        </p:nvGrpSpPr>
        <p:grpSpPr>
          <a:xfrm>
            <a:off x="436880" y="2428240"/>
            <a:ext cx="2204720" cy="457200"/>
            <a:chOff x="396240" y="2062480"/>
            <a:chExt cx="2204720" cy="457200"/>
          </a:xfrm>
        </p:grpSpPr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E37C250A-70A8-F142-96B4-92663E78944E}"/>
                </a:ext>
              </a:extLst>
            </p:cNvPr>
            <p:cNvSpPr/>
            <p:nvPr/>
          </p:nvSpPr>
          <p:spPr>
            <a:xfrm>
              <a:off x="396240" y="2082800"/>
              <a:ext cx="1066800" cy="3860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tx1"/>
                  </a:solidFill>
                </a:rPr>
                <a:t>Process 2</a:t>
              </a:r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8" name="右矢印 17">
              <a:extLst>
                <a:ext uri="{FF2B5EF4-FFF2-40B4-BE49-F238E27FC236}">
                  <a16:creationId xmlns:a16="http://schemas.microsoft.com/office/drawing/2014/main" id="{5AA2856A-86CA-2646-BE7B-D8F37814AA0E}"/>
                </a:ext>
              </a:extLst>
            </p:cNvPr>
            <p:cNvSpPr/>
            <p:nvPr/>
          </p:nvSpPr>
          <p:spPr>
            <a:xfrm>
              <a:off x="1564640" y="2184400"/>
              <a:ext cx="325120" cy="23368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円柱 18">
              <a:extLst>
                <a:ext uri="{FF2B5EF4-FFF2-40B4-BE49-F238E27FC236}">
                  <a16:creationId xmlns:a16="http://schemas.microsoft.com/office/drawing/2014/main" id="{7F038B9D-EC31-7240-BA7B-A95B3E406407}"/>
                </a:ext>
              </a:extLst>
            </p:cNvPr>
            <p:cNvSpPr/>
            <p:nvPr/>
          </p:nvSpPr>
          <p:spPr>
            <a:xfrm>
              <a:off x="2103120" y="2062480"/>
              <a:ext cx="497840" cy="457200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09C32660-546C-AE44-8D70-87A9CF423689}"/>
              </a:ext>
            </a:extLst>
          </p:cNvPr>
          <p:cNvGrpSpPr/>
          <p:nvPr/>
        </p:nvGrpSpPr>
        <p:grpSpPr>
          <a:xfrm>
            <a:off x="457200" y="3108960"/>
            <a:ext cx="2204720" cy="457200"/>
            <a:chOff x="396240" y="2062480"/>
            <a:chExt cx="2204720" cy="457200"/>
          </a:xfrm>
        </p:grpSpPr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08A618E4-C125-B148-9C57-69377BD13F62}"/>
                </a:ext>
              </a:extLst>
            </p:cNvPr>
            <p:cNvSpPr/>
            <p:nvPr/>
          </p:nvSpPr>
          <p:spPr>
            <a:xfrm>
              <a:off x="396240" y="2082800"/>
              <a:ext cx="1066800" cy="3860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tx1"/>
                  </a:solidFill>
                </a:rPr>
                <a:t>Process 3</a:t>
              </a:r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22" name="右矢印 21">
              <a:extLst>
                <a:ext uri="{FF2B5EF4-FFF2-40B4-BE49-F238E27FC236}">
                  <a16:creationId xmlns:a16="http://schemas.microsoft.com/office/drawing/2014/main" id="{0C7FFE40-804D-8248-BD4A-181B04BC2B78}"/>
                </a:ext>
              </a:extLst>
            </p:cNvPr>
            <p:cNvSpPr/>
            <p:nvPr/>
          </p:nvSpPr>
          <p:spPr>
            <a:xfrm>
              <a:off x="1564640" y="2184400"/>
              <a:ext cx="325120" cy="23368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円柱 22">
              <a:extLst>
                <a:ext uri="{FF2B5EF4-FFF2-40B4-BE49-F238E27FC236}">
                  <a16:creationId xmlns:a16="http://schemas.microsoft.com/office/drawing/2014/main" id="{0509B231-6FDA-504E-84F1-B40BDEDCC038}"/>
                </a:ext>
              </a:extLst>
            </p:cNvPr>
            <p:cNvSpPr/>
            <p:nvPr/>
          </p:nvSpPr>
          <p:spPr>
            <a:xfrm>
              <a:off x="2103120" y="2062480"/>
              <a:ext cx="497840" cy="457200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EE56F33A-90E9-EB48-9880-EC6FF0F64108}"/>
              </a:ext>
            </a:extLst>
          </p:cNvPr>
          <p:cNvGrpSpPr/>
          <p:nvPr/>
        </p:nvGrpSpPr>
        <p:grpSpPr>
          <a:xfrm>
            <a:off x="447040" y="3789680"/>
            <a:ext cx="2204720" cy="457200"/>
            <a:chOff x="396240" y="2062480"/>
            <a:chExt cx="2204720" cy="457200"/>
          </a:xfrm>
        </p:grpSpPr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F3F1003B-EDE2-BC4C-8DAF-30E4007F7B31}"/>
                </a:ext>
              </a:extLst>
            </p:cNvPr>
            <p:cNvSpPr/>
            <p:nvPr/>
          </p:nvSpPr>
          <p:spPr>
            <a:xfrm>
              <a:off x="396240" y="2082800"/>
              <a:ext cx="1066800" cy="3860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>
                  <a:solidFill>
                    <a:schemeClr val="tx1"/>
                  </a:solidFill>
                </a:rPr>
                <a:t>Process 4</a:t>
              </a:r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26" name="右矢印 25">
              <a:extLst>
                <a:ext uri="{FF2B5EF4-FFF2-40B4-BE49-F238E27FC236}">
                  <a16:creationId xmlns:a16="http://schemas.microsoft.com/office/drawing/2014/main" id="{B62D170E-5BC7-D247-B9C6-DE0B16CD9728}"/>
                </a:ext>
              </a:extLst>
            </p:cNvPr>
            <p:cNvSpPr/>
            <p:nvPr/>
          </p:nvSpPr>
          <p:spPr>
            <a:xfrm>
              <a:off x="1564640" y="2184400"/>
              <a:ext cx="325120" cy="23368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円柱 26">
              <a:extLst>
                <a:ext uri="{FF2B5EF4-FFF2-40B4-BE49-F238E27FC236}">
                  <a16:creationId xmlns:a16="http://schemas.microsoft.com/office/drawing/2014/main" id="{16335458-E7B4-B347-8CD5-258AAE059EF4}"/>
                </a:ext>
              </a:extLst>
            </p:cNvPr>
            <p:cNvSpPr/>
            <p:nvPr/>
          </p:nvSpPr>
          <p:spPr>
            <a:xfrm>
              <a:off x="2103120" y="2062480"/>
              <a:ext cx="497840" cy="457200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28" name="図 27">
            <a:extLst>
              <a:ext uri="{FF2B5EF4-FFF2-40B4-BE49-F238E27FC236}">
                <a16:creationId xmlns:a16="http://schemas.microsoft.com/office/drawing/2014/main" id="{ADB00824-5032-954F-86D7-BFE7C96D3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4848224"/>
            <a:ext cx="584200" cy="569595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7187F148-B783-7942-8892-B44716188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" y="5709920"/>
            <a:ext cx="554892" cy="541020"/>
          </a:xfrm>
          <a:prstGeom prst="rect">
            <a:avLst/>
          </a:prstGeom>
        </p:spPr>
      </p:pic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9F72D56-3384-6048-9B76-6C715C406CFD}"/>
              </a:ext>
            </a:extLst>
          </p:cNvPr>
          <p:cNvSpPr txBox="1"/>
          <p:nvPr/>
        </p:nvSpPr>
        <p:spPr>
          <a:xfrm>
            <a:off x="731520" y="492760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Easy to code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ABFAA4F4-D26C-2549-831D-910EC8663E6D}"/>
              </a:ext>
            </a:extLst>
          </p:cNvPr>
          <p:cNvSpPr txBox="1"/>
          <p:nvPr/>
        </p:nvSpPr>
        <p:spPr>
          <a:xfrm>
            <a:off x="619760" y="5740400"/>
            <a:ext cx="25186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A large number of files are output:</a:t>
            </a:r>
            <a:endParaRPr lang="en-US" altLang="ja-JP" sz="1400"/>
          </a:p>
          <a:p>
            <a:r>
              <a:rPr kumimoji="1" lang="ja-JP" altLang="en-US" sz="1400"/>
              <a:t>steps x processes</a:t>
            </a:r>
            <a:endParaRPr lang="en-US" altLang="ja-JP" sz="140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4B390E9-3286-9047-A90E-BA5FEC395A7C}"/>
              </a:ext>
            </a:extLst>
          </p:cNvPr>
          <p:cNvSpPr txBox="1"/>
          <p:nvPr/>
        </p:nvSpPr>
        <p:spPr>
          <a:xfrm>
            <a:off x="3108960" y="1127760"/>
            <a:ext cx="2773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2. Append to a single file</a:t>
            </a:r>
            <a:endParaRPr kumimoji="1" lang="en-US" altLang="ja-JP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34F84F1A-D1B5-0D44-805E-2E1A6BF2BE28}"/>
              </a:ext>
            </a:extLst>
          </p:cNvPr>
          <p:cNvSpPr/>
          <p:nvPr/>
        </p:nvSpPr>
        <p:spPr>
          <a:xfrm>
            <a:off x="3423920" y="1950720"/>
            <a:ext cx="1066800" cy="3860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Process 1</a:t>
            </a:r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35" name="右矢印 34">
            <a:extLst>
              <a:ext uri="{FF2B5EF4-FFF2-40B4-BE49-F238E27FC236}">
                <a16:creationId xmlns:a16="http://schemas.microsoft.com/office/drawing/2014/main" id="{EF45AEF4-D313-D144-80A1-59A07A39FC7D}"/>
              </a:ext>
            </a:extLst>
          </p:cNvPr>
          <p:cNvSpPr/>
          <p:nvPr/>
        </p:nvSpPr>
        <p:spPr>
          <a:xfrm rot="2434354">
            <a:off x="4683760" y="2275840"/>
            <a:ext cx="325120" cy="23368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円柱 35">
            <a:extLst>
              <a:ext uri="{FF2B5EF4-FFF2-40B4-BE49-F238E27FC236}">
                <a16:creationId xmlns:a16="http://schemas.microsoft.com/office/drawing/2014/main" id="{04E4AC73-FB9D-7040-BB65-FF7F4C2D69DF}"/>
              </a:ext>
            </a:extLst>
          </p:cNvPr>
          <p:cNvSpPr/>
          <p:nvPr/>
        </p:nvSpPr>
        <p:spPr>
          <a:xfrm>
            <a:off x="5140960" y="2651760"/>
            <a:ext cx="762000" cy="74168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86A3B795-4897-594A-9383-0D06BF5EE148}"/>
              </a:ext>
            </a:extLst>
          </p:cNvPr>
          <p:cNvSpPr/>
          <p:nvPr/>
        </p:nvSpPr>
        <p:spPr>
          <a:xfrm>
            <a:off x="3423920" y="2560320"/>
            <a:ext cx="1066800" cy="3860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Process 2</a:t>
            </a:r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EAF3676E-7981-1947-8A3F-AD39D1483136}"/>
              </a:ext>
            </a:extLst>
          </p:cNvPr>
          <p:cNvSpPr/>
          <p:nvPr/>
        </p:nvSpPr>
        <p:spPr>
          <a:xfrm>
            <a:off x="3423920" y="3129280"/>
            <a:ext cx="1066800" cy="3860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Process 3</a:t>
            </a:r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9DAB8A7D-7857-6F40-9FE5-BD26AAA84648}"/>
              </a:ext>
            </a:extLst>
          </p:cNvPr>
          <p:cNvSpPr/>
          <p:nvPr/>
        </p:nvSpPr>
        <p:spPr>
          <a:xfrm>
            <a:off x="3423920" y="3738880"/>
            <a:ext cx="1066800" cy="3860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Process 4</a:t>
            </a:r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40" name="右矢印 39">
            <a:extLst>
              <a:ext uri="{FF2B5EF4-FFF2-40B4-BE49-F238E27FC236}">
                <a16:creationId xmlns:a16="http://schemas.microsoft.com/office/drawing/2014/main" id="{00E03DCA-B5E5-2142-B79F-F2B2427F5B60}"/>
              </a:ext>
            </a:extLst>
          </p:cNvPr>
          <p:cNvSpPr/>
          <p:nvPr/>
        </p:nvSpPr>
        <p:spPr>
          <a:xfrm rot="900000">
            <a:off x="4673600" y="2722880"/>
            <a:ext cx="325120" cy="23368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右矢印 41">
            <a:extLst>
              <a:ext uri="{FF2B5EF4-FFF2-40B4-BE49-F238E27FC236}">
                <a16:creationId xmlns:a16="http://schemas.microsoft.com/office/drawing/2014/main" id="{E4039A80-BF69-6F4C-B307-548D12AC974B}"/>
              </a:ext>
            </a:extLst>
          </p:cNvPr>
          <p:cNvSpPr/>
          <p:nvPr/>
        </p:nvSpPr>
        <p:spPr>
          <a:xfrm rot="19800000">
            <a:off x="4693921" y="3180080"/>
            <a:ext cx="325120" cy="23368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右矢印 42">
            <a:extLst>
              <a:ext uri="{FF2B5EF4-FFF2-40B4-BE49-F238E27FC236}">
                <a16:creationId xmlns:a16="http://schemas.microsoft.com/office/drawing/2014/main" id="{28F9531E-EE1E-334B-AE62-90B6BADFD0D0}"/>
              </a:ext>
            </a:extLst>
          </p:cNvPr>
          <p:cNvSpPr/>
          <p:nvPr/>
        </p:nvSpPr>
        <p:spPr>
          <a:xfrm rot="18000000">
            <a:off x="4724401" y="3637280"/>
            <a:ext cx="325120" cy="23368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4" name="図 43">
            <a:extLst>
              <a:ext uri="{FF2B5EF4-FFF2-40B4-BE49-F238E27FC236}">
                <a16:creationId xmlns:a16="http://schemas.microsoft.com/office/drawing/2014/main" id="{F5138F21-CA08-C649-8CE3-6B6B0A73B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360" y="4858384"/>
            <a:ext cx="584200" cy="569595"/>
          </a:xfrm>
          <a:prstGeom prst="rect">
            <a:avLst/>
          </a:prstGeom>
        </p:spPr>
      </p:pic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ADADA0AC-59DB-8C40-8015-EF9F9554F8C3}"/>
              </a:ext>
            </a:extLst>
          </p:cNvPr>
          <p:cNvSpPr txBox="1"/>
          <p:nvPr/>
        </p:nvSpPr>
        <p:spPr>
          <a:xfrm>
            <a:off x="4033520" y="5019040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Fewer files</a:t>
            </a:r>
          </a:p>
        </p:txBody>
      </p:sp>
      <p:pic>
        <p:nvPicPr>
          <p:cNvPr id="46" name="図 45">
            <a:extLst>
              <a:ext uri="{FF2B5EF4-FFF2-40B4-BE49-F238E27FC236}">
                <a16:creationId xmlns:a16="http://schemas.microsoft.com/office/drawing/2014/main" id="{0FF766B1-5397-634A-A196-44D9F42D8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840" y="5669280"/>
            <a:ext cx="554892" cy="541020"/>
          </a:xfrm>
          <a:prstGeom prst="rect">
            <a:avLst/>
          </a:prstGeom>
        </p:spPr>
      </p:pic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CF1CBCB8-8339-D54B-96D4-C03BA7252644}"/>
              </a:ext>
            </a:extLst>
          </p:cNvPr>
          <p:cNvSpPr txBox="1"/>
          <p:nvPr/>
        </p:nvSpPr>
        <p:spPr>
          <a:xfrm>
            <a:off x="4003040" y="5791200"/>
            <a:ext cx="21595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/>
              <a:t>Slow with many processes</a:t>
            </a:r>
            <a:endParaRPr lang="en-US" altLang="ja-JP" sz="1400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599928BA-85E2-4F43-B236-D3F7A86E9FA3}"/>
              </a:ext>
            </a:extLst>
          </p:cNvPr>
          <p:cNvSpPr txBox="1"/>
          <p:nvPr/>
        </p:nvSpPr>
        <p:spPr>
          <a:xfrm>
            <a:off x="6583680" y="1137920"/>
            <a:ext cx="2773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3. Gather once, then write</a:t>
            </a:r>
            <a:endParaRPr kumimoji="1" lang="en-US" altLang="ja-JP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7124ECCC-BE8F-A24A-A14B-C18479E3F57D}"/>
              </a:ext>
            </a:extLst>
          </p:cNvPr>
          <p:cNvSpPr/>
          <p:nvPr/>
        </p:nvSpPr>
        <p:spPr>
          <a:xfrm>
            <a:off x="8514080" y="2550160"/>
            <a:ext cx="1066800" cy="3860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Process 1</a:t>
            </a:r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51" name="円柱 50">
            <a:extLst>
              <a:ext uri="{FF2B5EF4-FFF2-40B4-BE49-F238E27FC236}">
                <a16:creationId xmlns:a16="http://schemas.microsoft.com/office/drawing/2014/main" id="{C29BFBE2-8D31-6C47-9779-D20365816222}"/>
              </a:ext>
            </a:extLst>
          </p:cNvPr>
          <p:cNvSpPr/>
          <p:nvPr/>
        </p:nvSpPr>
        <p:spPr>
          <a:xfrm>
            <a:off x="8646160" y="3495040"/>
            <a:ext cx="762000" cy="74168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4BABEA00-B469-234C-A1D4-3A2E96CB5FF2}"/>
              </a:ext>
            </a:extLst>
          </p:cNvPr>
          <p:cNvSpPr/>
          <p:nvPr/>
        </p:nvSpPr>
        <p:spPr>
          <a:xfrm>
            <a:off x="6797040" y="1991360"/>
            <a:ext cx="1066800" cy="3860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Process 2</a:t>
            </a:r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726F9A94-9B10-D444-8D03-6DD6EB386183}"/>
              </a:ext>
            </a:extLst>
          </p:cNvPr>
          <p:cNvSpPr/>
          <p:nvPr/>
        </p:nvSpPr>
        <p:spPr>
          <a:xfrm>
            <a:off x="6797040" y="2560320"/>
            <a:ext cx="1066800" cy="3860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Process 3</a:t>
            </a:r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A5933B46-ADF9-9D4F-AB10-5FC27B8110CB}"/>
              </a:ext>
            </a:extLst>
          </p:cNvPr>
          <p:cNvSpPr/>
          <p:nvPr/>
        </p:nvSpPr>
        <p:spPr>
          <a:xfrm>
            <a:off x="6797040" y="3169920"/>
            <a:ext cx="1066800" cy="3860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Process 4</a:t>
            </a:r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55" name="右矢印 54">
            <a:extLst>
              <a:ext uri="{FF2B5EF4-FFF2-40B4-BE49-F238E27FC236}">
                <a16:creationId xmlns:a16="http://schemas.microsoft.com/office/drawing/2014/main" id="{0B9BDE25-FADF-A642-9899-FC298B92B131}"/>
              </a:ext>
            </a:extLst>
          </p:cNvPr>
          <p:cNvSpPr/>
          <p:nvPr/>
        </p:nvSpPr>
        <p:spPr>
          <a:xfrm rot="1800000">
            <a:off x="8026400" y="2143760"/>
            <a:ext cx="325120" cy="23368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右矢印 55">
            <a:extLst>
              <a:ext uri="{FF2B5EF4-FFF2-40B4-BE49-F238E27FC236}">
                <a16:creationId xmlns:a16="http://schemas.microsoft.com/office/drawing/2014/main" id="{5D9F20AE-0BF7-CF4C-8A6F-8900251881AE}"/>
              </a:ext>
            </a:extLst>
          </p:cNvPr>
          <p:cNvSpPr/>
          <p:nvPr/>
        </p:nvSpPr>
        <p:spPr>
          <a:xfrm>
            <a:off x="8067041" y="2611120"/>
            <a:ext cx="325120" cy="23368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右矢印 56">
            <a:extLst>
              <a:ext uri="{FF2B5EF4-FFF2-40B4-BE49-F238E27FC236}">
                <a16:creationId xmlns:a16="http://schemas.microsoft.com/office/drawing/2014/main" id="{2B63950E-CFBA-714A-9218-99EBC403B8AC}"/>
              </a:ext>
            </a:extLst>
          </p:cNvPr>
          <p:cNvSpPr/>
          <p:nvPr/>
        </p:nvSpPr>
        <p:spPr>
          <a:xfrm rot="18900000">
            <a:off x="8026402" y="3129280"/>
            <a:ext cx="325120" cy="23368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右矢印 57">
            <a:extLst>
              <a:ext uri="{FF2B5EF4-FFF2-40B4-BE49-F238E27FC236}">
                <a16:creationId xmlns:a16="http://schemas.microsoft.com/office/drawing/2014/main" id="{7A2D33E7-3C39-2249-8E98-CB0AAB5A9C64}"/>
              </a:ext>
            </a:extLst>
          </p:cNvPr>
          <p:cNvSpPr/>
          <p:nvPr/>
        </p:nvSpPr>
        <p:spPr>
          <a:xfrm rot="5400000">
            <a:off x="8829040" y="3058160"/>
            <a:ext cx="325120" cy="23368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9" name="図 58">
            <a:extLst>
              <a:ext uri="{FF2B5EF4-FFF2-40B4-BE49-F238E27FC236}">
                <a16:creationId xmlns:a16="http://schemas.microsoft.com/office/drawing/2014/main" id="{71C86C21-15A4-9146-BC35-65ACE64B7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720" y="4838064"/>
            <a:ext cx="584200" cy="569595"/>
          </a:xfrm>
          <a:prstGeom prst="rect">
            <a:avLst/>
          </a:prstGeom>
        </p:spPr>
      </p:pic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1CA11D8F-C2E5-A04A-BEB7-51298B052C70}"/>
              </a:ext>
            </a:extLst>
          </p:cNvPr>
          <p:cNvSpPr txBox="1"/>
          <p:nvPr/>
        </p:nvSpPr>
        <p:spPr>
          <a:xfrm>
            <a:off x="7294880" y="4876800"/>
            <a:ext cx="21595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File output is gathered</a:t>
            </a:r>
            <a:endParaRPr kumimoji="1" lang="en-US" altLang="ja-JP" sz="1400"/>
          </a:p>
          <a:p>
            <a:r>
              <a:rPr kumimoji="1" lang="ja-JP" altLang="en-US" sz="1400"/>
              <a:t>and done once, so it is fast</a:t>
            </a:r>
            <a:endParaRPr kumimoji="1" lang="en-US" altLang="ja-JP" sz="1400"/>
          </a:p>
        </p:txBody>
      </p:sp>
      <p:pic>
        <p:nvPicPr>
          <p:cNvPr id="61" name="図 60">
            <a:extLst>
              <a:ext uri="{FF2B5EF4-FFF2-40B4-BE49-F238E27FC236}">
                <a16:creationId xmlns:a16="http://schemas.microsoft.com/office/drawing/2014/main" id="{7B7301D5-C770-FC45-BC08-C0E227A32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040" y="5618480"/>
            <a:ext cx="554892" cy="541020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16268B59-B959-274A-B8F5-430973C3AD22}"/>
              </a:ext>
            </a:extLst>
          </p:cNvPr>
          <p:cNvSpPr txBox="1"/>
          <p:nvPr/>
        </p:nvSpPr>
        <p:spPr>
          <a:xfrm>
            <a:off x="7355840" y="5720080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Consumes memory</a:t>
            </a:r>
          </a:p>
        </p:txBody>
      </p:sp>
    </p:spTree>
    <p:extLst>
      <p:ext uri="{BB962C8B-B14F-4D97-AF65-F5344CB8AC3E}">
        <p14:creationId xmlns:p14="http://schemas.microsoft.com/office/powerpoint/2010/main" val="1439874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8F3253A-FA02-C54D-BC3F-EC868C40F13E}"/>
              </a:ext>
            </a:extLst>
          </p:cNvPr>
          <p:cNvSpPr txBox="1"/>
          <p:nvPr/>
        </p:nvSpPr>
        <p:spPr>
          <a:xfrm>
            <a:off x="5859512" y="23024"/>
            <a:ext cx="31640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/>
              <a:t>Eager protocol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8E095A4-CC47-9749-8F85-44ED2DAA2E39}"/>
              </a:ext>
            </a:extLst>
          </p:cNvPr>
          <p:cNvSpPr txBox="1"/>
          <p:nvPr/>
        </p:nvSpPr>
        <p:spPr>
          <a:xfrm>
            <a:off x="560512" y="23024"/>
            <a:ext cx="4221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/>
              <a:t>Rendezvous protocol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38E9EB-5F52-BC4C-AED1-7B320954B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04" y="4293096"/>
            <a:ext cx="946150" cy="127000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C417CB7-FF68-EB41-8F5B-AA8B61456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720752" y="5301208"/>
            <a:ext cx="1075314" cy="1125984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8F9204C7-3A55-A041-8DF9-D549FB789B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8784" y="2348880"/>
            <a:ext cx="851946" cy="1183258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5E57256A-2D4A-D849-8756-4F75A1EDD1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560512" y="2420888"/>
            <a:ext cx="936104" cy="1094859"/>
          </a:xfrm>
          <a:prstGeom prst="rect">
            <a:avLst/>
          </a:prstGeom>
        </p:spPr>
      </p:pic>
      <p:sp>
        <p:nvSpPr>
          <p:cNvPr id="8" name="四角形吹き出し 7">
            <a:extLst>
              <a:ext uri="{FF2B5EF4-FFF2-40B4-BE49-F238E27FC236}">
                <a16:creationId xmlns:a16="http://schemas.microsoft.com/office/drawing/2014/main" id="{CB04F354-CA57-394E-8CCA-A6EAFE02126D}"/>
              </a:ext>
            </a:extLst>
          </p:cNvPr>
          <p:cNvSpPr/>
          <p:nvPr/>
        </p:nvSpPr>
        <p:spPr>
          <a:xfrm>
            <a:off x="920552" y="1196752"/>
            <a:ext cx="2448272" cy="648072"/>
          </a:xfrm>
          <a:prstGeom prst="wedgeRectCallout">
            <a:avLst>
              <a:gd name="adj1" fmla="val -43358"/>
              <a:gd name="adj2" fmla="val 10106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May I send 1 MB of data now?</a:t>
            </a:r>
          </a:p>
        </p:txBody>
      </p:sp>
      <p:sp>
        <p:nvSpPr>
          <p:cNvPr id="9" name="四角形吹き出し 8">
            <a:extLst>
              <a:ext uri="{FF2B5EF4-FFF2-40B4-BE49-F238E27FC236}">
                <a16:creationId xmlns:a16="http://schemas.microsoft.com/office/drawing/2014/main" id="{43DDF873-E04A-9848-9BEA-91EE1F8974F0}"/>
              </a:ext>
            </a:extLst>
          </p:cNvPr>
          <p:cNvSpPr/>
          <p:nvPr/>
        </p:nvSpPr>
        <p:spPr>
          <a:xfrm>
            <a:off x="1640632" y="2204864"/>
            <a:ext cx="1440160" cy="432048"/>
          </a:xfrm>
          <a:prstGeom prst="wedgeRectCallout">
            <a:avLst>
              <a:gd name="adj1" fmla="val 39888"/>
              <a:gd name="adj2" fmla="val 8460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tx1"/>
                </a:solidFill>
              </a:rPr>
              <a:t>Go ahead.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四角形吹き出し 9">
            <a:extLst>
              <a:ext uri="{FF2B5EF4-FFF2-40B4-BE49-F238E27FC236}">
                <a16:creationId xmlns:a16="http://schemas.microsoft.com/office/drawing/2014/main" id="{813FA8D9-857C-BD46-B490-AAF9524F3AA0}"/>
              </a:ext>
            </a:extLst>
          </p:cNvPr>
          <p:cNvSpPr/>
          <p:nvPr/>
        </p:nvSpPr>
        <p:spPr>
          <a:xfrm>
            <a:off x="1424608" y="3140968"/>
            <a:ext cx="1584176" cy="720080"/>
          </a:xfrm>
          <a:prstGeom prst="wedgeRectCallout">
            <a:avLst>
              <a:gd name="adj1" fmla="val -54646"/>
              <a:gd name="adj2" fmla="val -9176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tx1"/>
                </a:solidFill>
              </a:rPr>
              <a:t>Then I will send it now.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角丸四角形 10">
            <a:extLst>
              <a:ext uri="{FF2B5EF4-FFF2-40B4-BE49-F238E27FC236}">
                <a16:creationId xmlns:a16="http://schemas.microsoft.com/office/drawing/2014/main" id="{150DC565-223A-0944-B284-F5CF9EEE40A5}"/>
              </a:ext>
            </a:extLst>
          </p:cNvPr>
          <p:cNvSpPr/>
          <p:nvPr/>
        </p:nvSpPr>
        <p:spPr>
          <a:xfrm>
            <a:off x="344488" y="908720"/>
            <a:ext cx="3816424" cy="3168352"/>
          </a:xfrm>
          <a:prstGeom prst="round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6C0190E-94CD-7047-8A12-A6B262B6C6B1}"/>
              </a:ext>
            </a:extLst>
          </p:cNvPr>
          <p:cNvSpPr txBox="1"/>
          <p:nvPr/>
        </p:nvSpPr>
        <p:spPr>
          <a:xfrm>
            <a:off x="1352600" y="692696"/>
            <a:ext cx="180049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/>
              <a:t>Handshake</a:t>
            </a: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7CC805DA-D9C3-C24F-B405-4DF3D77B6229}"/>
              </a:ext>
            </a:extLst>
          </p:cNvPr>
          <p:cNvCxnSpPr>
            <a:endCxn id="5" idx="3"/>
          </p:cNvCxnSpPr>
          <p:nvPr/>
        </p:nvCxnSpPr>
        <p:spPr>
          <a:xfrm>
            <a:off x="1568624" y="4941168"/>
            <a:ext cx="1152128" cy="923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96C22D3-9F05-D04B-8811-AC1690B44560}"/>
              </a:ext>
            </a:extLst>
          </p:cNvPr>
          <p:cNvSpPr txBox="1"/>
          <p:nvPr/>
        </p:nvSpPr>
        <p:spPr>
          <a:xfrm>
            <a:off x="1424608" y="4509120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Receive data directly from the sender</a:t>
            </a:r>
            <a:endParaRPr kumimoji="1" lang="ja-JP" altLang="en-US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0002F9A9-0841-4944-BE81-4D4ECB79E3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3200" y="2996952"/>
            <a:ext cx="1008112" cy="103929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5A4B7F20-69F1-3348-8D07-5570EE3C8F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6537176" y="1268760"/>
            <a:ext cx="1285376" cy="1558032"/>
          </a:xfrm>
          <a:prstGeom prst="rect">
            <a:avLst/>
          </a:prstGeom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5D046DA0-47F3-4B48-88DA-EEFFF875ED95}"/>
              </a:ext>
            </a:extLst>
          </p:cNvPr>
          <p:cNvSpPr txBox="1"/>
          <p:nvPr/>
        </p:nvSpPr>
        <p:spPr>
          <a:xfrm>
            <a:off x="5745088" y="980728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Place data in a predetermined location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A67379DC-569C-FB44-B52D-B2D323CCE58A}"/>
              </a:ext>
            </a:extLst>
          </p:cNvPr>
          <p:cNvSpPr txBox="1"/>
          <p:nvPr/>
        </p:nvSpPr>
        <p:spPr>
          <a:xfrm>
            <a:off x="5457056" y="4149080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Receive it when the receiver is ready</a:t>
            </a:r>
          </a:p>
        </p:txBody>
      </p:sp>
      <p:pic>
        <p:nvPicPr>
          <p:cNvPr id="25" name="図 24">
            <a:extLst>
              <a:ext uri="{FF2B5EF4-FFF2-40B4-BE49-F238E27FC236}">
                <a16:creationId xmlns:a16="http://schemas.microsoft.com/office/drawing/2014/main" id="{9A8E7B6B-A07F-5246-A06C-7255B2B7D1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5208" y="4725144"/>
            <a:ext cx="1440160" cy="1745648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BBFEE384-149A-AA4C-8BCE-03C8FE9FD66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33320" y="3068960"/>
            <a:ext cx="716133" cy="880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61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113</TotalTime>
  <Words>328</Words>
  <Application>Microsoft Macintosh PowerPoint</Application>
  <PresentationFormat>A4 210 x 297 mm</PresentationFormat>
  <Paragraphs>92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Arial</vt:lpstr>
      <vt:lpstr>Calibri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Microsoft Office ユーザー</dc:creator>
  <cp:lastModifiedBy>Microsoft Office ユーザー</cp:lastModifiedBy>
  <cp:revision>79</cp:revision>
  <dcterms:created xsi:type="dcterms:W3CDTF">2018-10-07T01:32:06Z</dcterms:created>
  <dcterms:modified xsi:type="dcterms:W3CDTF">2018-10-29T09:45:38Z</dcterms:modified>
</cp:coreProperties>
</file>