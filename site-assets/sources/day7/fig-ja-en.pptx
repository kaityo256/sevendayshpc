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tiff" ContentType="image/tif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5"/>
  </p:notesMasterIdLst>
  <p:sldIdLst>
    <p:sldId id="256" r:id="rId2"/>
    <p:sldId id="259" r:id="rId10"/>
    <p:sldId id="257" r:id="rId3"/>
    <p:sldId id="260" r:id="rId11"/>
    <p:sldId id="258" r:id="rId4"/>
    <p:sldId id="261" r:id="rId12"/>
  </p:sldIdLst>
  <p:sldSz cx="9906000" cy="6858000" type="A4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8"/>
    <p:restoredTop sz="94668"/>
  </p:normalViewPr>
  <p:slideViewPr>
    <p:cSldViewPr snapToObjects="1">
      <p:cViewPr varScale="1">
        <p:scale>
          <a:sx n="69" d="100"/>
          <a:sy n="69" d="100"/>
        </p:scale>
        <p:origin x="1032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Objects="1">
      <p:cViewPr varScale="1">
        <p:scale>
          <a:sx n="95" d="100"/>
          <a:sy n="95" d="100"/>
        </p:scale>
        <p:origin x="3064" y="1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3.xml"/><Relationship Id="rId4" Type="http://schemas.openxmlformats.org/officeDocument/2006/relationships/slide" Target="slides/slide5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2.xml"/><Relationship Id="rId11" Type="http://schemas.openxmlformats.org/officeDocument/2006/relationships/slide" Target="slides/slide4.xml"/><Relationship Id="rId12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4B1B89-6D29-7849-8E65-921CEBC6CA4C}" type="datetimeFigureOut">
              <a:t>2020/7/23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484BB1-ECD9-1F46-AC5B-E21A5EADE982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365034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452262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1458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tiff"/><Relationship Id="rId3" Type="http://schemas.openxmlformats.org/officeDocument/2006/relationships/image" Target="../media/image2.tif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tiff"/><Relationship Id="rId3" Type="http://schemas.openxmlformats.org/officeDocument/2006/relationships/image" Target="../media/image2.tif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1F492F3-EA16-9840-BF6B-F17F7BFF6F08}"/>
              </a:ext>
            </a:extLst>
          </p:cNvPr>
          <p:cNvSpPr txBox="1"/>
          <p:nvPr/>
        </p:nvSpPr>
        <p:spPr>
          <a:xfrm>
            <a:off x="457200" y="365760"/>
            <a:ext cx="2339102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スーパースカラ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051BBA0-954A-BA4F-BE23-34DD042C3180}"/>
              </a:ext>
            </a:extLst>
          </p:cNvPr>
          <p:cNvSpPr txBox="1"/>
          <p:nvPr/>
        </p:nvSpPr>
        <p:spPr>
          <a:xfrm>
            <a:off x="111760" y="1056640"/>
            <a:ext cx="2852063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kumimoji="1" lang="ja-JP" altLang="en-US" sz="1600" b="1" dirty="0">
                <a:solidFill>
                  <a:srgbClr val="FF0000"/>
                </a:solidFill>
              </a:rPr>
              <a:t>ハードウェア</a:t>
            </a:r>
            <a:r>
              <a:rPr kumimoji="1" lang="ja-JP" altLang="en-US" sz="1600" dirty="0"/>
              <a:t>にがんばらせる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75A6943-B583-9C49-850F-A11CDB81BD43}"/>
              </a:ext>
            </a:extLst>
          </p:cNvPr>
          <p:cNvSpPr txBox="1"/>
          <p:nvPr/>
        </p:nvSpPr>
        <p:spPr>
          <a:xfrm>
            <a:off x="4361284" y="325120"/>
            <a:ext cx="84029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400"/>
              <a:t>VLIW</a:t>
            </a:r>
            <a:endParaRPr kumimoji="1" lang="ja-JP" altLang="en-US" sz="240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155F947-E83E-8344-B2E8-5B00AEB31904}"/>
              </a:ext>
            </a:extLst>
          </p:cNvPr>
          <p:cNvSpPr txBox="1"/>
          <p:nvPr/>
        </p:nvSpPr>
        <p:spPr>
          <a:xfrm>
            <a:off x="3484880" y="1016000"/>
            <a:ext cx="2646878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kumimoji="1" lang="ja-JP" altLang="en-US" sz="1600" b="1" dirty="0">
                <a:solidFill>
                  <a:srgbClr val="FF0000"/>
                </a:solidFill>
              </a:rPr>
              <a:t>コンパイラ</a:t>
            </a:r>
            <a:r>
              <a:rPr kumimoji="1" lang="ja-JP" altLang="en-US" sz="1600" dirty="0"/>
              <a:t>にがんばらせる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36C4897-F8AE-F341-95E3-F0142750F2F1}"/>
              </a:ext>
            </a:extLst>
          </p:cNvPr>
          <p:cNvSpPr txBox="1"/>
          <p:nvPr/>
        </p:nvSpPr>
        <p:spPr>
          <a:xfrm>
            <a:off x="7620000" y="304800"/>
            <a:ext cx="85472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400"/>
              <a:t>SIMD</a:t>
            </a:r>
            <a:endParaRPr kumimoji="1" lang="ja-JP" altLang="en-US" sz="240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3E2A7F9-3F02-3E42-AC3E-C3C27164A771}"/>
              </a:ext>
            </a:extLst>
          </p:cNvPr>
          <p:cNvSpPr txBox="1"/>
          <p:nvPr/>
        </p:nvSpPr>
        <p:spPr>
          <a:xfrm>
            <a:off x="6797040" y="995680"/>
            <a:ext cx="2646878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kumimoji="1" lang="ja-JP" altLang="en-US" sz="1600" b="1" dirty="0">
                <a:solidFill>
                  <a:srgbClr val="FF0000"/>
                </a:solidFill>
              </a:rPr>
              <a:t>プログラマ</a:t>
            </a:r>
            <a:r>
              <a:rPr kumimoji="1" lang="ja-JP" altLang="en-US" sz="1600" dirty="0"/>
              <a:t>にがんばらせる</a:t>
            </a:r>
          </a:p>
        </p:txBody>
      </p:sp>
      <p:sp>
        <p:nvSpPr>
          <p:cNvPr id="9" name="角丸四角形 8">
            <a:extLst>
              <a:ext uri="{FF2B5EF4-FFF2-40B4-BE49-F238E27FC236}">
                <a16:creationId xmlns:a16="http://schemas.microsoft.com/office/drawing/2014/main" id="{16B706E8-71B3-F54F-B6D3-5195D7B3CF23}"/>
              </a:ext>
            </a:extLst>
          </p:cNvPr>
          <p:cNvSpPr/>
          <p:nvPr/>
        </p:nvSpPr>
        <p:spPr>
          <a:xfrm>
            <a:off x="2123440" y="1983740"/>
            <a:ext cx="1046480" cy="4161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実行</a:t>
            </a:r>
            <a:endParaRPr kumimoji="1" lang="en-US" altLang="ja-JP" sz="1200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ユニット</a:t>
            </a:r>
          </a:p>
        </p:txBody>
      </p:sp>
      <p:sp>
        <p:nvSpPr>
          <p:cNvPr id="10" name="角丸四角形 9">
            <a:extLst>
              <a:ext uri="{FF2B5EF4-FFF2-40B4-BE49-F238E27FC236}">
                <a16:creationId xmlns:a16="http://schemas.microsoft.com/office/drawing/2014/main" id="{F1AE55D0-F074-E646-9F94-830067ABBBB1}"/>
              </a:ext>
            </a:extLst>
          </p:cNvPr>
          <p:cNvSpPr/>
          <p:nvPr/>
        </p:nvSpPr>
        <p:spPr>
          <a:xfrm>
            <a:off x="2133600" y="2625018"/>
            <a:ext cx="1036320" cy="4161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実行</a:t>
            </a:r>
            <a:endParaRPr kumimoji="1" lang="en-US" altLang="ja-JP" sz="1200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ユニット</a:t>
            </a:r>
          </a:p>
        </p:txBody>
      </p:sp>
      <p:cxnSp>
        <p:nvCxnSpPr>
          <p:cNvPr id="11" name="カギ線コネクタ 10">
            <a:extLst>
              <a:ext uri="{FF2B5EF4-FFF2-40B4-BE49-F238E27FC236}">
                <a16:creationId xmlns:a16="http://schemas.microsoft.com/office/drawing/2014/main" id="{59846A2A-048D-204D-8AE4-FF3FB51F840C}"/>
              </a:ext>
            </a:extLst>
          </p:cNvPr>
          <p:cNvCxnSpPr>
            <a:cxnSpLocks/>
            <a:stCxn id="13" idx="3"/>
            <a:endCxn id="9" idx="1"/>
          </p:cNvCxnSpPr>
          <p:nvPr/>
        </p:nvCxnSpPr>
        <p:spPr>
          <a:xfrm flipV="1">
            <a:off x="1209040" y="2191794"/>
            <a:ext cx="914400" cy="327886"/>
          </a:xfrm>
          <a:prstGeom prst="bentConnector3">
            <a:avLst>
              <a:gd name="adj1" fmla="val 48889"/>
            </a:avLst>
          </a:prstGeom>
          <a:ln w="19050">
            <a:solidFill>
              <a:srgbClr val="FF0000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カギ線コネクタ 11">
            <a:extLst>
              <a:ext uri="{FF2B5EF4-FFF2-40B4-BE49-F238E27FC236}">
                <a16:creationId xmlns:a16="http://schemas.microsoft.com/office/drawing/2014/main" id="{1CF5CF92-D7EB-2448-B433-3FF70A8992E2}"/>
              </a:ext>
            </a:extLst>
          </p:cNvPr>
          <p:cNvCxnSpPr>
            <a:cxnSpLocks/>
            <a:stCxn id="13" idx="3"/>
            <a:endCxn id="10" idx="1"/>
          </p:cNvCxnSpPr>
          <p:nvPr/>
        </p:nvCxnSpPr>
        <p:spPr>
          <a:xfrm>
            <a:off x="1209040" y="2519680"/>
            <a:ext cx="924560" cy="313392"/>
          </a:xfrm>
          <a:prstGeom prst="bentConnector3">
            <a:avLst>
              <a:gd name="adj1" fmla="val 48901"/>
            </a:avLst>
          </a:prstGeom>
          <a:ln w="19050">
            <a:solidFill>
              <a:srgbClr val="FF0000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角丸四角形 12">
            <a:extLst>
              <a:ext uri="{FF2B5EF4-FFF2-40B4-BE49-F238E27FC236}">
                <a16:creationId xmlns:a16="http://schemas.microsoft.com/office/drawing/2014/main" id="{05614538-FE36-464E-A9D7-A32C16F5C67B}"/>
              </a:ext>
            </a:extLst>
          </p:cNvPr>
          <p:cNvSpPr/>
          <p:nvPr/>
        </p:nvSpPr>
        <p:spPr>
          <a:xfrm>
            <a:off x="487680" y="1981200"/>
            <a:ext cx="721360" cy="107695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命令キュー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26BE572B-4298-184B-8524-7A29377ED6D3}"/>
              </a:ext>
            </a:extLst>
          </p:cNvPr>
          <p:cNvSpPr txBox="1"/>
          <p:nvPr/>
        </p:nvSpPr>
        <p:spPr>
          <a:xfrm>
            <a:off x="741681" y="1665148"/>
            <a:ext cx="8087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振り分け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4D504E4A-D45E-4346-8869-A6D4580087F3}"/>
              </a:ext>
            </a:extLst>
          </p:cNvPr>
          <p:cNvSpPr txBox="1"/>
          <p:nvPr/>
        </p:nvSpPr>
        <p:spPr>
          <a:xfrm>
            <a:off x="798865" y="5695017"/>
            <a:ext cx="215956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>
                <a:solidFill>
                  <a:srgbClr val="FF0000"/>
                </a:solidFill>
              </a:rPr>
              <a:t>実行ユニットが増えると</a:t>
            </a:r>
            <a:endParaRPr kumimoji="1" lang="en-US" altLang="ja-JP" sz="1400" b="1" dirty="0">
              <a:solidFill>
                <a:srgbClr val="FF0000"/>
              </a:solidFill>
            </a:endParaRPr>
          </a:p>
          <a:p>
            <a:r>
              <a:rPr kumimoji="1" lang="ja-JP" altLang="en-US" sz="1400" b="1" dirty="0">
                <a:solidFill>
                  <a:srgbClr val="FF0000"/>
                </a:solidFill>
              </a:rPr>
              <a:t>命令振り分けで死ぬ</a:t>
            </a:r>
            <a:endParaRPr kumimoji="1" lang="en-US" altLang="ja-JP" sz="1400" b="1" dirty="0">
              <a:solidFill>
                <a:srgbClr val="FF0000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F57E9AB9-8E76-6A47-AFC5-EFA81D236582}"/>
              </a:ext>
            </a:extLst>
          </p:cNvPr>
          <p:cNvSpPr txBox="1"/>
          <p:nvPr/>
        </p:nvSpPr>
        <p:spPr>
          <a:xfrm>
            <a:off x="770128" y="4821257"/>
            <a:ext cx="23791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 dirty="0"/>
              <a:t> </a:t>
            </a:r>
            <a:r>
              <a:rPr kumimoji="1" lang="ja-JP" altLang="en-US" sz="1400" dirty="0"/>
              <a:t>命令の</a:t>
            </a:r>
            <a:r>
              <a:rPr lang="ja-JP" altLang="en-US" sz="1400" dirty="0"/>
              <a:t>後方互換性を保てる</a:t>
            </a:r>
            <a:endParaRPr kumimoji="1" lang="en-US" altLang="ja-JP" sz="1400" dirty="0"/>
          </a:p>
        </p:txBody>
      </p:sp>
      <p:pic>
        <p:nvPicPr>
          <p:cNvPr id="24" name="図 23">
            <a:extLst>
              <a:ext uri="{FF2B5EF4-FFF2-40B4-BE49-F238E27FC236}">
                <a16:creationId xmlns:a16="http://schemas.microsoft.com/office/drawing/2014/main" id="{447CC45F-CAA5-194F-8B12-2F6A7B26F6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9160" y="4665344"/>
            <a:ext cx="584200" cy="569595"/>
          </a:xfrm>
          <a:prstGeom prst="rect">
            <a:avLst/>
          </a:prstGeom>
        </p:spPr>
      </p:pic>
      <p:pic>
        <p:nvPicPr>
          <p:cNvPr id="25" name="図 24">
            <a:extLst>
              <a:ext uri="{FF2B5EF4-FFF2-40B4-BE49-F238E27FC236}">
                <a16:creationId xmlns:a16="http://schemas.microsoft.com/office/drawing/2014/main" id="{78665135-5BEE-F440-AFDB-395CC70BA0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9160" y="5659119"/>
            <a:ext cx="584200" cy="569595"/>
          </a:xfrm>
          <a:prstGeom prst="rect">
            <a:avLst/>
          </a:prstGeom>
        </p:spPr>
      </p:pic>
      <p:sp>
        <p:nvSpPr>
          <p:cNvPr id="29" name="角丸四角形 28">
            <a:extLst>
              <a:ext uri="{FF2B5EF4-FFF2-40B4-BE49-F238E27FC236}">
                <a16:creationId xmlns:a16="http://schemas.microsoft.com/office/drawing/2014/main" id="{6A11AA7C-B4A8-3C4C-B8AE-43F67A10FBDC}"/>
              </a:ext>
            </a:extLst>
          </p:cNvPr>
          <p:cNvSpPr/>
          <p:nvPr/>
        </p:nvSpPr>
        <p:spPr>
          <a:xfrm>
            <a:off x="5121546" y="1855995"/>
            <a:ext cx="969374" cy="48468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>
                <a:solidFill>
                  <a:schemeClr val="tx1"/>
                </a:solidFill>
              </a:rPr>
              <a:t>実行</a:t>
            </a:r>
            <a:endParaRPr kumimoji="1" lang="en-US" altLang="ja-JP" sz="1400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sz="1400" dirty="0">
                <a:solidFill>
                  <a:schemeClr val="tx1"/>
                </a:solidFill>
              </a:rPr>
              <a:t>ユニット</a:t>
            </a:r>
          </a:p>
        </p:txBody>
      </p:sp>
      <p:sp>
        <p:nvSpPr>
          <p:cNvPr id="30" name="角丸四角形 29">
            <a:extLst>
              <a:ext uri="{FF2B5EF4-FFF2-40B4-BE49-F238E27FC236}">
                <a16:creationId xmlns:a16="http://schemas.microsoft.com/office/drawing/2014/main" id="{5FC68AB8-34CF-1D40-8414-F799436B41E4}"/>
              </a:ext>
            </a:extLst>
          </p:cNvPr>
          <p:cNvSpPr/>
          <p:nvPr/>
        </p:nvSpPr>
        <p:spPr>
          <a:xfrm>
            <a:off x="5121546" y="2344873"/>
            <a:ext cx="969374" cy="48468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>
                <a:solidFill>
                  <a:schemeClr val="tx1"/>
                </a:solidFill>
              </a:rPr>
              <a:t>実行</a:t>
            </a:r>
            <a:endParaRPr kumimoji="1" lang="en-US" altLang="ja-JP" sz="1400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sz="1400" dirty="0">
                <a:solidFill>
                  <a:schemeClr val="tx1"/>
                </a:solidFill>
              </a:rPr>
              <a:t>ユニット</a:t>
            </a: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336FF39C-A5D9-884C-9297-9573EA638016}"/>
              </a:ext>
            </a:extLst>
          </p:cNvPr>
          <p:cNvSpPr/>
          <p:nvPr/>
        </p:nvSpPr>
        <p:spPr>
          <a:xfrm>
            <a:off x="4033520" y="1915160"/>
            <a:ext cx="533400" cy="4572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dirty="0">
                <a:solidFill>
                  <a:schemeClr val="tx1"/>
                </a:solidFill>
              </a:rPr>
              <a:t>命令</a:t>
            </a:r>
            <a:r>
              <a:rPr lang="en-US" altLang="ja-JP" sz="1000" dirty="0">
                <a:solidFill>
                  <a:schemeClr val="tx1"/>
                </a:solidFill>
              </a:rPr>
              <a:t>A</a:t>
            </a:r>
            <a:endParaRPr kumimoji="1" lang="ja-JP" altLang="en-US" sz="1000" dirty="0">
              <a:solidFill>
                <a:schemeClr val="tx1"/>
              </a:solidFill>
            </a:endParaRP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C9774A07-3EC8-2D42-98B1-9FE5746B09DD}"/>
              </a:ext>
            </a:extLst>
          </p:cNvPr>
          <p:cNvSpPr/>
          <p:nvPr/>
        </p:nvSpPr>
        <p:spPr>
          <a:xfrm>
            <a:off x="4033520" y="2372360"/>
            <a:ext cx="533400" cy="4572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dirty="0">
                <a:solidFill>
                  <a:schemeClr val="tx1"/>
                </a:solidFill>
              </a:rPr>
              <a:t>命令</a:t>
            </a:r>
            <a:r>
              <a:rPr lang="en-US" altLang="ja-JP" sz="1000" dirty="0">
                <a:solidFill>
                  <a:schemeClr val="tx1"/>
                </a:solidFill>
              </a:rPr>
              <a:t>B</a:t>
            </a:r>
            <a:endParaRPr kumimoji="1" lang="ja-JP" altLang="en-US" sz="1000" dirty="0">
              <a:solidFill>
                <a:schemeClr val="tx1"/>
              </a:solidFill>
            </a:endParaRPr>
          </a:p>
        </p:txBody>
      </p:sp>
      <p:sp>
        <p:nvSpPr>
          <p:cNvPr id="33" name="角丸四角形 32">
            <a:extLst>
              <a:ext uri="{FF2B5EF4-FFF2-40B4-BE49-F238E27FC236}">
                <a16:creationId xmlns:a16="http://schemas.microsoft.com/office/drawing/2014/main" id="{089701AB-4285-6349-BA79-97B92563B5AA}"/>
              </a:ext>
            </a:extLst>
          </p:cNvPr>
          <p:cNvSpPr/>
          <p:nvPr/>
        </p:nvSpPr>
        <p:spPr>
          <a:xfrm>
            <a:off x="3952240" y="1757680"/>
            <a:ext cx="690880" cy="1229360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2B0B985A-CA7E-EA4B-8FD4-9B450FAB5D2C}"/>
              </a:ext>
            </a:extLst>
          </p:cNvPr>
          <p:cNvSpPr txBox="1"/>
          <p:nvPr/>
        </p:nvSpPr>
        <p:spPr>
          <a:xfrm>
            <a:off x="3688080" y="1452880"/>
            <a:ext cx="127951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050"/>
              <a:t>VLIW</a:t>
            </a:r>
            <a:r>
              <a:rPr kumimoji="1" lang="ja-JP" altLang="en-US" sz="1050"/>
              <a:t>の一つの命令</a:t>
            </a:r>
          </a:p>
        </p:txBody>
      </p:sp>
      <p:cxnSp>
        <p:nvCxnSpPr>
          <p:cNvPr id="36" name="直線矢印コネクタ 35">
            <a:extLst>
              <a:ext uri="{FF2B5EF4-FFF2-40B4-BE49-F238E27FC236}">
                <a16:creationId xmlns:a16="http://schemas.microsoft.com/office/drawing/2014/main" id="{5F347953-0B59-5B44-BEFD-27C17BA2F8FC}"/>
              </a:ext>
            </a:extLst>
          </p:cNvPr>
          <p:cNvCxnSpPr>
            <a:cxnSpLocks/>
            <a:endCxn id="29" idx="1"/>
          </p:cNvCxnSpPr>
          <p:nvPr/>
        </p:nvCxnSpPr>
        <p:spPr>
          <a:xfrm>
            <a:off x="4592320" y="2098339"/>
            <a:ext cx="529226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矢印コネクタ 37">
            <a:extLst>
              <a:ext uri="{FF2B5EF4-FFF2-40B4-BE49-F238E27FC236}">
                <a16:creationId xmlns:a16="http://schemas.microsoft.com/office/drawing/2014/main" id="{1002CF52-46AB-E943-9695-563F0D56656C}"/>
              </a:ext>
            </a:extLst>
          </p:cNvPr>
          <p:cNvCxnSpPr>
            <a:cxnSpLocks/>
          </p:cNvCxnSpPr>
          <p:nvPr/>
        </p:nvCxnSpPr>
        <p:spPr>
          <a:xfrm>
            <a:off x="4572000" y="2616499"/>
            <a:ext cx="529226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FB6311DC-D3F4-B748-BA53-4FFE097F7657}"/>
              </a:ext>
            </a:extLst>
          </p:cNvPr>
          <p:cNvSpPr txBox="1"/>
          <p:nvPr/>
        </p:nvSpPr>
        <p:spPr>
          <a:xfrm>
            <a:off x="4033520" y="4754880"/>
            <a:ext cx="21820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 dirty="0"/>
              <a:t>依存関係チェックが不要</a:t>
            </a:r>
            <a:endParaRPr lang="en-US" altLang="ja-JP" sz="1400" dirty="0"/>
          </a:p>
          <a:p>
            <a:r>
              <a:rPr lang="ja-JP" altLang="en-US" sz="1400" dirty="0"/>
              <a:t>→</a:t>
            </a:r>
            <a:r>
              <a:rPr lang="en-US" altLang="ja-JP" sz="1400" dirty="0"/>
              <a:t> </a:t>
            </a:r>
            <a:r>
              <a:rPr lang="ja-JP" altLang="en-US" sz="1400" dirty="0"/>
              <a:t>ハードウェアが簡単に</a:t>
            </a:r>
            <a:endParaRPr kumimoji="1" lang="ja-JP" altLang="en-US" sz="1400"/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619B4112-04B8-6A4A-B1FF-8D311471595D}"/>
              </a:ext>
            </a:extLst>
          </p:cNvPr>
          <p:cNvSpPr txBox="1"/>
          <p:nvPr/>
        </p:nvSpPr>
        <p:spPr>
          <a:xfrm>
            <a:off x="3972560" y="5709920"/>
            <a:ext cx="28777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 b="1" dirty="0">
                <a:solidFill>
                  <a:srgbClr val="FF0000"/>
                </a:solidFill>
              </a:rPr>
              <a:t>神のように賢いコンパイラが必要</a:t>
            </a:r>
            <a:endParaRPr lang="en-US" altLang="ja-JP" sz="1400" b="1" dirty="0">
              <a:solidFill>
                <a:srgbClr val="FF0000"/>
              </a:solidFill>
            </a:endParaRPr>
          </a:p>
          <a:p>
            <a:r>
              <a:rPr kumimoji="1" lang="ja-JP" altLang="en-US" sz="1400" dirty="0"/>
              <a:t>後方互換性を失う</a:t>
            </a:r>
            <a:endParaRPr kumimoji="1" lang="ja-JP" altLang="en-US" sz="1400"/>
          </a:p>
        </p:txBody>
      </p:sp>
      <p:pic>
        <p:nvPicPr>
          <p:cNvPr id="41" name="図 40">
            <a:extLst>
              <a:ext uri="{FF2B5EF4-FFF2-40B4-BE49-F238E27FC236}">
                <a16:creationId xmlns:a16="http://schemas.microsoft.com/office/drawing/2014/main" id="{DA5E1897-A7AC-7B45-8042-51CA094DD6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4685664"/>
            <a:ext cx="584200" cy="569595"/>
          </a:xfrm>
          <a:prstGeom prst="rect">
            <a:avLst/>
          </a:prstGeom>
        </p:spPr>
      </p:pic>
      <p:pic>
        <p:nvPicPr>
          <p:cNvPr id="42" name="図 41">
            <a:extLst>
              <a:ext uri="{FF2B5EF4-FFF2-40B4-BE49-F238E27FC236}">
                <a16:creationId xmlns:a16="http://schemas.microsoft.com/office/drawing/2014/main" id="{14495E7E-AF7B-FA43-A775-B4EB3900A6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5679439"/>
            <a:ext cx="584200" cy="569595"/>
          </a:xfrm>
          <a:prstGeom prst="rect">
            <a:avLst/>
          </a:prstGeom>
        </p:spPr>
      </p:pic>
      <p:sp>
        <p:nvSpPr>
          <p:cNvPr id="43" name="角丸四角形 42">
            <a:extLst>
              <a:ext uri="{FF2B5EF4-FFF2-40B4-BE49-F238E27FC236}">
                <a16:creationId xmlns:a16="http://schemas.microsoft.com/office/drawing/2014/main" id="{B3C4FBC2-DA56-F143-B1DA-6D2B7ADF7FDF}"/>
              </a:ext>
            </a:extLst>
          </p:cNvPr>
          <p:cNvSpPr/>
          <p:nvPr/>
        </p:nvSpPr>
        <p:spPr>
          <a:xfrm>
            <a:off x="8615680" y="1764555"/>
            <a:ext cx="995680" cy="1131045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>
                <a:solidFill>
                  <a:schemeClr val="tx1"/>
                </a:solidFill>
              </a:rPr>
              <a:t>実行</a:t>
            </a:r>
            <a:endParaRPr kumimoji="1" lang="en-US" altLang="ja-JP" sz="1400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sz="1400" dirty="0">
                <a:solidFill>
                  <a:schemeClr val="tx1"/>
                </a:solidFill>
              </a:rPr>
              <a:t>ユニット</a:t>
            </a:r>
          </a:p>
        </p:txBody>
      </p:sp>
      <p:pic>
        <p:nvPicPr>
          <p:cNvPr id="44" name="図 43">
            <a:extLst>
              <a:ext uri="{FF2B5EF4-FFF2-40B4-BE49-F238E27FC236}">
                <a16:creationId xmlns:a16="http://schemas.microsoft.com/office/drawing/2014/main" id="{0645FA37-29FC-1D42-8341-F8CDB40361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6120" y="4665344"/>
            <a:ext cx="584200" cy="569595"/>
          </a:xfrm>
          <a:prstGeom prst="rect">
            <a:avLst/>
          </a:prstGeom>
        </p:spPr>
      </p:pic>
      <p:pic>
        <p:nvPicPr>
          <p:cNvPr id="45" name="図 44">
            <a:extLst>
              <a:ext uri="{FF2B5EF4-FFF2-40B4-BE49-F238E27FC236}">
                <a16:creationId xmlns:a16="http://schemas.microsoft.com/office/drawing/2014/main" id="{EF4CF261-ABE1-E34D-A846-AC6F9A9BC9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6120" y="5628639"/>
            <a:ext cx="584200" cy="569595"/>
          </a:xfrm>
          <a:prstGeom prst="rect">
            <a:avLst/>
          </a:prstGeom>
        </p:spPr>
      </p:pic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3F5420BD-5D08-A84F-9B46-56EA80905771}"/>
              </a:ext>
            </a:extLst>
          </p:cNvPr>
          <p:cNvSpPr txBox="1"/>
          <p:nvPr/>
        </p:nvSpPr>
        <p:spPr>
          <a:xfrm>
            <a:off x="7680960" y="4693920"/>
            <a:ext cx="18004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 dirty="0"/>
              <a:t>ハードウェアは簡単</a:t>
            </a:r>
            <a:endParaRPr lang="en-US" altLang="ja-JP" sz="1400" dirty="0"/>
          </a:p>
          <a:p>
            <a:r>
              <a:rPr kumimoji="1" lang="ja-JP" altLang="en-US" sz="1400" dirty="0"/>
              <a:t>後方互換性も保てる</a:t>
            </a:r>
            <a:endParaRPr kumimoji="1" lang="ja-JP" altLang="en-US" sz="1400"/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FC96BEA1-A0AB-E141-BA29-6C73475B4D56}"/>
              </a:ext>
            </a:extLst>
          </p:cNvPr>
          <p:cNvSpPr txBox="1"/>
          <p:nvPr/>
        </p:nvSpPr>
        <p:spPr>
          <a:xfrm>
            <a:off x="7660640" y="5750560"/>
            <a:ext cx="16209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 b="1" dirty="0">
                <a:solidFill>
                  <a:srgbClr val="FF0000"/>
                </a:solidFill>
              </a:rPr>
              <a:t>プログラムが大変</a:t>
            </a:r>
            <a:endParaRPr kumimoji="1" lang="ja-JP" altLang="en-US" sz="1400" b="1">
              <a:solidFill>
                <a:srgbClr val="FF0000"/>
              </a:solidFill>
            </a:endParaRP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9BE190D6-416D-4A4C-9CCC-EF2644F17F38}"/>
              </a:ext>
            </a:extLst>
          </p:cNvPr>
          <p:cNvSpPr/>
          <p:nvPr/>
        </p:nvSpPr>
        <p:spPr>
          <a:xfrm>
            <a:off x="7447280" y="1793240"/>
            <a:ext cx="533400" cy="10210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 dirty="0">
              <a:solidFill>
                <a:schemeClr val="tx1"/>
              </a:solidFill>
            </a:endParaRPr>
          </a:p>
        </p:txBody>
      </p:sp>
      <p:cxnSp>
        <p:nvCxnSpPr>
          <p:cNvPr id="51" name="直線コネクタ 50">
            <a:extLst>
              <a:ext uri="{FF2B5EF4-FFF2-40B4-BE49-F238E27FC236}">
                <a16:creationId xmlns:a16="http://schemas.microsoft.com/office/drawing/2014/main" id="{4DC1D1CF-CE23-534F-AE30-1416B58E2127}"/>
              </a:ext>
            </a:extLst>
          </p:cNvPr>
          <p:cNvCxnSpPr>
            <a:stCxn id="43" idx="1"/>
            <a:endCxn id="43" idx="3"/>
          </p:cNvCxnSpPr>
          <p:nvPr/>
        </p:nvCxnSpPr>
        <p:spPr>
          <a:xfrm>
            <a:off x="8615680" y="2330078"/>
            <a:ext cx="995680" cy="0"/>
          </a:xfrm>
          <a:prstGeom prst="line">
            <a:avLst/>
          </a:prstGeom>
          <a:ln w="127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正方形/長方形 51">
            <a:extLst>
              <a:ext uri="{FF2B5EF4-FFF2-40B4-BE49-F238E27FC236}">
                <a16:creationId xmlns:a16="http://schemas.microsoft.com/office/drawing/2014/main" id="{3D4B4BE7-7C3B-3241-9969-1E74C0CF1B5E}"/>
              </a:ext>
            </a:extLst>
          </p:cNvPr>
          <p:cNvSpPr/>
          <p:nvPr/>
        </p:nvSpPr>
        <p:spPr>
          <a:xfrm>
            <a:off x="1493520" y="1630680"/>
            <a:ext cx="533400" cy="4572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dirty="0">
                <a:solidFill>
                  <a:schemeClr val="tx1"/>
                </a:solidFill>
              </a:rPr>
              <a:t>命令</a:t>
            </a:r>
            <a:r>
              <a:rPr lang="en-US" altLang="ja-JP" sz="1000" dirty="0">
                <a:solidFill>
                  <a:schemeClr val="tx1"/>
                </a:solidFill>
              </a:rPr>
              <a:t>A</a:t>
            </a:r>
            <a:endParaRPr kumimoji="1" lang="ja-JP" altLang="en-US" sz="1000" dirty="0">
              <a:solidFill>
                <a:schemeClr val="tx1"/>
              </a:solidFill>
            </a:endParaRPr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34ECD519-ED67-9C4A-BC76-0C521D1FC110}"/>
              </a:ext>
            </a:extLst>
          </p:cNvPr>
          <p:cNvSpPr/>
          <p:nvPr/>
        </p:nvSpPr>
        <p:spPr>
          <a:xfrm>
            <a:off x="1513840" y="2931160"/>
            <a:ext cx="533400" cy="4572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dirty="0">
                <a:solidFill>
                  <a:schemeClr val="tx1"/>
                </a:solidFill>
              </a:rPr>
              <a:t>命令</a:t>
            </a:r>
            <a:r>
              <a:rPr lang="en-US" altLang="ja-JP" sz="1000" dirty="0">
                <a:solidFill>
                  <a:schemeClr val="tx1"/>
                </a:solidFill>
              </a:rPr>
              <a:t>B</a:t>
            </a:r>
            <a:endParaRPr kumimoji="1" lang="ja-JP" altLang="en-US" sz="1000" dirty="0">
              <a:solidFill>
                <a:schemeClr val="tx1"/>
              </a:solidFill>
            </a:endParaRPr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1D1DB946-7D3D-0849-AEC2-0094801815E2}"/>
              </a:ext>
            </a:extLst>
          </p:cNvPr>
          <p:cNvSpPr txBox="1"/>
          <p:nvPr/>
        </p:nvSpPr>
        <p:spPr>
          <a:xfrm>
            <a:off x="528320" y="3606800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/>
              <a:t>命令を複数取ってきて、</a:t>
            </a:r>
            <a:endParaRPr kumimoji="1" lang="en-US" altLang="ja-JP" sz="1400"/>
          </a:p>
          <a:p>
            <a:r>
              <a:rPr lang="ja-JP" altLang="en-US" sz="1400"/>
              <a:t>スケジューラが振り分ける</a:t>
            </a:r>
            <a:endParaRPr kumimoji="1" lang="ja-JP" altLang="en-US" sz="1400"/>
          </a:p>
        </p:txBody>
      </p: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AA60636D-7C18-9A41-8E82-5E021712D277}"/>
              </a:ext>
            </a:extLst>
          </p:cNvPr>
          <p:cNvSpPr txBox="1"/>
          <p:nvPr/>
        </p:nvSpPr>
        <p:spPr>
          <a:xfrm>
            <a:off x="3749040" y="3596640"/>
            <a:ext cx="251863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/>
              <a:t>事前に</a:t>
            </a:r>
            <a:r>
              <a:rPr kumimoji="1" lang="ja-JP" altLang="en-US" sz="1400"/>
              <a:t>並列実行できる命令を</a:t>
            </a:r>
            <a:endParaRPr kumimoji="1" lang="en-US" altLang="ja-JP" sz="1400"/>
          </a:p>
          <a:p>
            <a:r>
              <a:rPr lang="ja-JP" altLang="en-US" sz="1400"/>
              <a:t>ひとつにまとめておく</a:t>
            </a:r>
            <a:endParaRPr kumimoji="1" lang="ja-JP" altLang="en-US" sz="1400"/>
          </a:p>
        </p:txBody>
      </p:sp>
      <p:cxnSp>
        <p:nvCxnSpPr>
          <p:cNvPr id="56" name="直線コネクタ 55">
            <a:extLst>
              <a:ext uri="{FF2B5EF4-FFF2-40B4-BE49-F238E27FC236}">
                <a16:creationId xmlns:a16="http://schemas.microsoft.com/office/drawing/2014/main" id="{EC5146C0-9DB4-7E46-B352-AE6E99971C38}"/>
              </a:ext>
            </a:extLst>
          </p:cNvPr>
          <p:cNvCxnSpPr>
            <a:cxnSpLocks/>
            <a:stCxn id="48" idx="1"/>
            <a:endCxn id="48" idx="3"/>
          </p:cNvCxnSpPr>
          <p:nvPr/>
        </p:nvCxnSpPr>
        <p:spPr>
          <a:xfrm>
            <a:off x="7447280" y="2303780"/>
            <a:ext cx="533400" cy="0"/>
          </a:xfrm>
          <a:prstGeom prst="line">
            <a:avLst/>
          </a:prstGeom>
          <a:ln w="127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テキスト ボックス 58">
            <a:extLst>
              <a:ext uri="{FF2B5EF4-FFF2-40B4-BE49-F238E27FC236}">
                <a16:creationId xmlns:a16="http://schemas.microsoft.com/office/drawing/2014/main" id="{DCF15125-6D0F-514F-B858-4219162C6030}"/>
              </a:ext>
            </a:extLst>
          </p:cNvPr>
          <p:cNvSpPr txBox="1"/>
          <p:nvPr/>
        </p:nvSpPr>
        <p:spPr>
          <a:xfrm>
            <a:off x="7386320" y="1930400"/>
            <a:ext cx="64312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000"/>
              <a:t>データ</a:t>
            </a:r>
            <a:r>
              <a:rPr lang="en-US" altLang="ja-JP" sz="1000"/>
              <a:t>A</a:t>
            </a:r>
            <a:endParaRPr kumimoji="1" lang="ja-JP" altLang="en-US" sz="1000"/>
          </a:p>
        </p:txBody>
      </p:sp>
      <p:sp>
        <p:nvSpPr>
          <p:cNvPr id="60" name="テキスト ボックス 59">
            <a:extLst>
              <a:ext uri="{FF2B5EF4-FFF2-40B4-BE49-F238E27FC236}">
                <a16:creationId xmlns:a16="http://schemas.microsoft.com/office/drawing/2014/main" id="{370B314B-33A5-6B41-919E-A5F0BF492BC3}"/>
              </a:ext>
            </a:extLst>
          </p:cNvPr>
          <p:cNvSpPr txBox="1"/>
          <p:nvPr/>
        </p:nvSpPr>
        <p:spPr>
          <a:xfrm>
            <a:off x="7406640" y="2428240"/>
            <a:ext cx="64312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000"/>
              <a:t>データ</a:t>
            </a:r>
            <a:r>
              <a:rPr lang="en-US" altLang="ja-JP" sz="1000"/>
              <a:t>B</a:t>
            </a:r>
            <a:endParaRPr kumimoji="1" lang="ja-JP" altLang="en-US" sz="1000"/>
          </a:p>
        </p:txBody>
      </p:sp>
      <p:sp>
        <p:nvSpPr>
          <p:cNvPr id="61" name="角丸四角形 60">
            <a:extLst>
              <a:ext uri="{FF2B5EF4-FFF2-40B4-BE49-F238E27FC236}">
                <a16:creationId xmlns:a16="http://schemas.microsoft.com/office/drawing/2014/main" id="{C6F9AECB-E783-C84E-866C-6E20BEF09226}"/>
              </a:ext>
            </a:extLst>
          </p:cNvPr>
          <p:cNvSpPr/>
          <p:nvPr/>
        </p:nvSpPr>
        <p:spPr>
          <a:xfrm>
            <a:off x="7376160" y="1706880"/>
            <a:ext cx="690880" cy="1229360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2" name="テキスト ボックス 61">
            <a:extLst>
              <a:ext uri="{FF2B5EF4-FFF2-40B4-BE49-F238E27FC236}">
                <a16:creationId xmlns:a16="http://schemas.microsoft.com/office/drawing/2014/main" id="{B0F9939C-CF93-E041-9434-8467EB4A0B8A}"/>
              </a:ext>
            </a:extLst>
          </p:cNvPr>
          <p:cNvSpPr txBox="1"/>
          <p:nvPr/>
        </p:nvSpPr>
        <p:spPr>
          <a:xfrm>
            <a:off x="7294880" y="1391920"/>
            <a:ext cx="74892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050"/>
              <a:t>SIMD</a:t>
            </a:r>
            <a:r>
              <a:rPr kumimoji="1" lang="ja-JP" altLang="en-US" sz="1050"/>
              <a:t>命令</a:t>
            </a:r>
          </a:p>
        </p:txBody>
      </p:sp>
      <p:sp>
        <p:nvSpPr>
          <p:cNvPr id="63" name="テキスト ボックス 62">
            <a:extLst>
              <a:ext uri="{FF2B5EF4-FFF2-40B4-BE49-F238E27FC236}">
                <a16:creationId xmlns:a16="http://schemas.microsoft.com/office/drawing/2014/main" id="{F77A8080-ED24-CC4A-A38F-1265BDC2EF78}"/>
              </a:ext>
            </a:extLst>
          </p:cNvPr>
          <p:cNvSpPr txBox="1"/>
          <p:nvPr/>
        </p:nvSpPr>
        <p:spPr>
          <a:xfrm>
            <a:off x="7051040" y="3556000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/>
              <a:t>複数のデータに同じ演算を</a:t>
            </a:r>
            <a:endParaRPr lang="en-US" altLang="ja-JP" sz="1400"/>
          </a:p>
          <a:p>
            <a:r>
              <a:rPr kumimoji="1" lang="ja-JP" altLang="en-US" sz="1400"/>
              <a:t>一度に行う</a:t>
            </a:r>
          </a:p>
        </p:txBody>
      </p:sp>
      <p:cxnSp>
        <p:nvCxnSpPr>
          <p:cNvPr id="64" name="直線矢印コネクタ 63">
            <a:extLst>
              <a:ext uri="{FF2B5EF4-FFF2-40B4-BE49-F238E27FC236}">
                <a16:creationId xmlns:a16="http://schemas.microsoft.com/office/drawing/2014/main" id="{2B0F8F8E-F928-0546-B6D3-0A74B33ED8F7}"/>
              </a:ext>
            </a:extLst>
          </p:cNvPr>
          <p:cNvCxnSpPr>
            <a:cxnSpLocks/>
          </p:cNvCxnSpPr>
          <p:nvPr/>
        </p:nvCxnSpPr>
        <p:spPr>
          <a:xfrm>
            <a:off x="8097520" y="2311699"/>
            <a:ext cx="529226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82895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1F492F3-EA16-9840-BF6B-F17F7BFF6F08}"/>
              </a:ext>
            </a:extLst>
          </p:cNvPr>
          <p:cNvSpPr txBox="1"/>
          <p:nvPr/>
        </p:nvSpPr>
        <p:spPr>
          <a:xfrm>
            <a:off x="457200" y="365760"/>
            <a:ext cx="2339102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/>
          <a:lstStyle/>
          <a:p>
            <a:pPr>
              <a:defRPr sz="2300"/>
            </a:pPr>
            <a:r>
              <a:rPr kumimoji="1" lang="ja-JP" altLang="en-US" sz="2300"/>
              <a:t>Superscalar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051BBA0-954A-BA4F-BE23-34DD042C3180}"/>
              </a:ext>
            </a:extLst>
          </p:cNvPr>
          <p:cNvSpPr txBox="1"/>
          <p:nvPr/>
        </p:nvSpPr>
        <p:spPr>
          <a:xfrm>
            <a:off x="111760" y="1056640"/>
            <a:ext cx="2852063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>
              <a:defRPr sz="1500"/>
            </a:pPr>
            <a:r>
              <a:rPr kumimoji="1" lang="ja-JP" altLang="en-US" sz="1500" b="1" dirty="0">
                <a:solidFill>
                  <a:srgbClr val="FF0000"/>
                </a:solidFill>
              </a:rPr>
              <a:t>Make the hardware work hard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75A6943-B583-9C49-850F-A11CDB81BD43}"/>
              </a:ext>
            </a:extLst>
          </p:cNvPr>
          <p:cNvSpPr txBox="1"/>
          <p:nvPr/>
        </p:nvSpPr>
        <p:spPr>
          <a:xfrm>
            <a:off x="4361284" y="325120"/>
            <a:ext cx="84029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/>
          <a:lstStyle/>
          <a:p>
            <a:pPr>
              <a:defRPr sz="2250"/>
            </a:pPr>
            <a:r>
              <a:rPr kumimoji="1" lang="en-US" altLang="ja-JP" sz="2250"/>
              <a:t>VLIW</a:t>
            </a:r>
            <a:endParaRPr kumimoji="1" lang="ja-JP" altLang="en-US" sz="240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155F947-E83E-8344-B2E8-5B00AEB31904}"/>
              </a:ext>
            </a:extLst>
          </p:cNvPr>
          <p:cNvSpPr txBox="1"/>
          <p:nvPr/>
        </p:nvSpPr>
        <p:spPr>
          <a:xfrm>
            <a:off x="3484880" y="1016000"/>
            <a:ext cx="2646878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>
              <a:defRPr sz="1400"/>
            </a:pPr>
            <a:r>
              <a:rPr kumimoji="1" lang="ja-JP" altLang="en-US" sz="1400" b="1" dirty="0">
                <a:solidFill>
                  <a:srgbClr val="FF0000"/>
                </a:solidFill>
              </a:rPr>
              <a:t>Make the compiler work hard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36C4897-F8AE-F341-95E3-F0142750F2F1}"/>
              </a:ext>
            </a:extLst>
          </p:cNvPr>
          <p:cNvSpPr txBox="1"/>
          <p:nvPr/>
        </p:nvSpPr>
        <p:spPr>
          <a:xfrm>
            <a:off x="7620000" y="304800"/>
            <a:ext cx="85472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/>
          <a:lstStyle/>
          <a:p>
            <a:pPr>
              <a:defRPr sz="2300"/>
            </a:pPr>
            <a:r>
              <a:rPr kumimoji="1" lang="en-US" altLang="ja-JP" sz="2300"/>
              <a:t>SIMD</a:t>
            </a:r>
            <a:endParaRPr kumimoji="1" lang="ja-JP" altLang="en-US" sz="240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3E2A7F9-3F02-3E42-AC3E-C3C27164A771}"/>
              </a:ext>
            </a:extLst>
          </p:cNvPr>
          <p:cNvSpPr txBox="1"/>
          <p:nvPr/>
        </p:nvSpPr>
        <p:spPr>
          <a:xfrm>
            <a:off x="6797040" y="995680"/>
            <a:ext cx="2646878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/>
          <a:lstStyle/>
          <a:p>
            <a:pPr>
              <a:defRPr sz="1300"/>
            </a:pPr>
            <a:r>
              <a:rPr kumimoji="1" lang="ja-JP" altLang="en-US" sz="1300" b="1" dirty="0">
                <a:solidFill>
                  <a:srgbClr val="FF0000"/>
                </a:solidFill>
              </a:rPr>
              <a:t>Make the programmer work hard</a:t>
            </a:r>
          </a:p>
        </p:txBody>
      </p:sp>
      <p:sp>
        <p:nvSpPr>
          <p:cNvPr id="9" name="角丸四角形 8">
            <a:extLst>
              <a:ext uri="{FF2B5EF4-FFF2-40B4-BE49-F238E27FC236}">
                <a16:creationId xmlns:a16="http://schemas.microsoft.com/office/drawing/2014/main" id="{16B706E8-71B3-F54F-B6D3-5195D7B3CF23}"/>
              </a:ext>
            </a:extLst>
          </p:cNvPr>
          <p:cNvSpPr/>
          <p:nvPr/>
        </p:nvSpPr>
        <p:spPr>
          <a:xfrm>
            <a:off x="2123440" y="1983740"/>
            <a:ext cx="1046480" cy="4161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/>
            </a:pPr>
            <a:r>
              <a:rPr kumimoji="1" lang="ja-JP" altLang="en-US" sz="1150" dirty="0">
                <a:solidFill>
                  <a:schemeClr val="tx1"/>
                </a:solidFill>
              </a:rPr>
              <a:t>Execution</a:t>
            </a:r>
            <a:endParaRPr kumimoji="1" lang="en-US" altLang="ja-JP" sz="1200" dirty="0">
              <a:solidFill>
                <a:schemeClr val="tx1"/>
              </a:solidFill>
            </a:endParaRPr>
          </a:p>
          <a:p>
            <a:pPr algn="ctr">
              <a:defRPr sz="1150"/>
            </a:pPr>
            <a:r>
              <a:rPr kumimoji="1" lang="ja-JP" altLang="en-US" sz="1150" dirty="0">
                <a:solidFill>
                  <a:schemeClr val="tx1"/>
                </a:solidFill>
              </a:rPr>
              <a:t>unit</a:t>
            </a:r>
            <a:endParaRPr kumimoji="1" lang="en-US" altLang="ja-JP" sz="1200" dirty="0">
              <a:solidFill>
                <a:schemeClr val="tx1"/>
              </a:solidFill>
            </a:endParaRPr>
          </a:p>
        </p:txBody>
      </p:sp>
      <p:sp>
        <p:nvSpPr>
          <p:cNvPr id="10" name="角丸四角形 9">
            <a:extLst>
              <a:ext uri="{FF2B5EF4-FFF2-40B4-BE49-F238E27FC236}">
                <a16:creationId xmlns:a16="http://schemas.microsoft.com/office/drawing/2014/main" id="{F1AE55D0-F074-E646-9F94-830067ABBBB1}"/>
              </a:ext>
            </a:extLst>
          </p:cNvPr>
          <p:cNvSpPr/>
          <p:nvPr/>
        </p:nvSpPr>
        <p:spPr>
          <a:xfrm>
            <a:off x="2133600" y="2625018"/>
            <a:ext cx="1036320" cy="4161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/>
            </a:pPr>
            <a:r>
              <a:rPr kumimoji="1" lang="ja-JP" altLang="en-US" sz="1150" dirty="0">
                <a:solidFill>
                  <a:schemeClr val="tx1"/>
                </a:solidFill>
              </a:rPr>
              <a:t>Execution</a:t>
            </a:r>
            <a:endParaRPr kumimoji="1" lang="en-US" altLang="ja-JP" sz="1200" dirty="0">
              <a:solidFill>
                <a:schemeClr val="tx1"/>
              </a:solidFill>
            </a:endParaRPr>
          </a:p>
          <a:p>
            <a:pPr algn="ctr">
              <a:defRPr sz="1150"/>
            </a:pPr>
            <a:r>
              <a:rPr kumimoji="1" lang="ja-JP" altLang="en-US" sz="1150" dirty="0">
                <a:solidFill>
                  <a:schemeClr val="tx1"/>
                </a:solidFill>
              </a:rPr>
              <a:t>unit</a:t>
            </a:r>
            <a:endParaRPr kumimoji="1" lang="en-US" altLang="ja-JP" sz="1200" dirty="0">
              <a:solidFill>
                <a:schemeClr val="tx1"/>
              </a:solidFill>
            </a:endParaRPr>
          </a:p>
        </p:txBody>
      </p:sp>
      <p:cxnSp>
        <p:nvCxnSpPr>
          <p:cNvPr id="11" name="カギ線コネクタ 10">
            <a:extLst>
              <a:ext uri="{FF2B5EF4-FFF2-40B4-BE49-F238E27FC236}">
                <a16:creationId xmlns:a16="http://schemas.microsoft.com/office/drawing/2014/main" id="{59846A2A-048D-204D-8AE4-FF3FB51F840C}"/>
              </a:ext>
            </a:extLst>
          </p:cNvPr>
          <p:cNvCxnSpPr>
            <a:cxnSpLocks/>
            <a:stCxn id="13" idx="3"/>
            <a:endCxn id="9" idx="1"/>
          </p:cNvCxnSpPr>
          <p:nvPr/>
        </p:nvCxnSpPr>
        <p:spPr>
          <a:xfrm flipV="1">
            <a:off x="1209040" y="2191794"/>
            <a:ext cx="914400" cy="327886"/>
          </a:xfrm>
          <a:prstGeom prst="bentConnector3">
            <a:avLst>
              <a:gd name="adj1" fmla="val 48889"/>
            </a:avLst>
          </a:prstGeom>
          <a:ln w="19050">
            <a:solidFill>
              <a:srgbClr val="FF0000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カギ線コネクタ 11">
            <a:extLst>
              <a:ext uri="{FF2B5EF4-FFF2-40B4-BE49-F238E27FC236}">
                <a16:creationId xmlns:a16="http://schemas.microsoft.com/office/drawing/2014/main" id="{1CF5CF92-D7EB-2448-B433-3FF70A8992E2}"/>
              </a:ext>
            </a:extLst>
          </p:cNvPr>
          <p:cNvCxnSpPr>
            <a:cxnSpLocks/>
            <a:stCxn id="13" idx="3"/>
            <a:endCxn id="10" idx="1"/>
          </p:cNvCxnSpPr>
          <p:nvPr/>
        </p:nvCxnSpPr>
        <p:spPr>
          <a:xfrm>
            <a:off x="1209040" y="2519680"/>
            <a:ext cx="924560" cy="313392"/>
          </a:xfrm>
          <a:prstGeom prst="bentConnector3">
            <a:avLst>
              <a:gd name="adj1" fmla="val 48901"/>
            </a:avLst>
          </a:prstGeom>
          <a:ln w="19050">
            <a:solidFill>
              <a:srgbClr val="FF0000"/>
            </a:solidFill>
            <a:headEnd type="none" w="med" len="me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角丸四角形 12">
            <a:extLst>
              <a:ext uri="{FF2B5EF4-FFF2-40B4-BE49-F238E27FC236}">
                <a16:creationId xmlns:a16="http://schemas.microsoft.com/office/drawing/2014/main" id="{05614538-FE36-464E-A9D7-A32C16F5C67B}"/>
              </a:ext>
            </a:extLst>
          </p:cNvPr>
          <p:cNvSpPr/>
          <p:nvPr/>
        </p:nvSpPr>
        <p:spPr>
          <a:xfrm>
            <a:off x="487680" y="1981200"/>
            <a:ext cx="721360" cy="107695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ja-JP" altLang="en-US" sz="1200" dirty="0">
                <a:solidFill>
                  <a:schemeClr val="tx1"/>
                </a:solidFill>
              </a:rPr>
              <a:t>Instruction queue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26BE572B-4298-184B-8524-7A29377ED6D3}"/>
              </a:ext>
            </a:extLst>
          </p:cNvPr>
          <p:cNvSpPr txBox="1"/>
          <p:nvPr/>
        </p:nvSpPr>
        <p:spPr>
          <a:xfrm>
            <a:off x="741681" y="1665148"/>
            <a:ext cx="8087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kumimoji="1" lang="ja-JP" altLang="en-US" sz="1200" dirty="0"/>
              <a:t>Dispatch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4D504E4A-D45E-4346-8869-A6D4580087F3}"/>
              </a:ext>
            </a:extLst>
          </p:cNvPr>
          <p:cNvSpPr txBox="1"/>
          <p:nvPr/>
        </p:nvSpPr>
        <p:spPr>
          <a:xfrm>
            <a:off x="798865" y="5695017"/>
            <a:ext cx="2159566" cy="523220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000"/>
            </a:pPr>
            <a:r>
              <a:rPr kumimoji="1" lang="ja-JP" altLang="en-US" sz="1000" b="1" dirty="0">
                <a:solidFill>
                  <a:srgbClr val="FF0000"/>
                </a:solidFill>
              </a:rPr>
              <a:t>As execution units increase,</a:t>
            </a:r>
            <a:endParaRPr kumimoji="1" lang="en-US" altLang="ja-JP" sz="1400" b="1" dirty="0">
              <a:solidFill>
                <a:srgbClr val="FF0000"/>
              </a:solidFill>
            </a:endParaRPr>
          </a:p>
          <a:p>
            <a:pPr>
              <a:defRPr sz="1000"/>
            </a:pPr>
            <a:r>
              <a:rPr kumimoji="1" lang="ja-JP" altLang="en-US" sz="1000" b="1" dirty="0">
                <a:solidFill>
                  <a:srgbClr val="FF0000"/>
                </a:solidFill>
              </a:rPr>
              <a:t>instruction dispatch becomes the bottleneck</a:t>
            </a:r>
            <a:endParaRPr kumimoji="1" lang="en-US" altLang="ja-JP" sz="1400" b="1" dirty="0">
              <a:solidFill>
                <a:srgbClr val="FF0000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F57E9AB9-8E76-6A47-AFC5-EFA81D236582}"/>
              </a:ext>
            </a:extLst>
          </p:cNvPr>
          <p:cNvSpPr txBox="1"/>
          <p:nvPr/>
        </p:nvSpPr>
        <p:spPr>
          <a:xfrm>
            <a:off x="770128" y="4821257"/>
            <a:ext cx="2379177" cy="307777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defRPr/>
            </a:pPr>
            <a:r>
              <a:rPr kumimoji="1" lang="en-US" altLang="ja-JP" sz="1400" dirty="0"/>
              <a:t>Instruction backward compatibility is preserved</a:t>
            </a:r>
            <a:endParaRPr kumimoji="1" lang="en-US" altLang="ja-JP" sz="1400" dirty="0"/>
          </a:p>
        </p:txBody>
      </p:sp>
      <p:pic>
        <p:nvPicPr>
          <p:cNvPr id="24" name="図 23">
            <a:extLst>
              <a:ext uri="{FF2B5EF4-FFF2-40B4-BE49-F238E27FC236}">
                <a16:creationId xmlns:a16="http://schemas.microsoft.com/office/drawing/2014/main" id="{447CC45F-CAA5-194F-8B12-2F6A7B26F6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9160" y="4665344"/>
            <a:ext cx="584200" cy="569595"/>
          </a:xfrm>
          <a:prstGeom prst="rect">
            <a:avLst/>
          </a:prstGeom>
        </p:spPr>
      </p:pic>
      <p:pic>
        <p:nvPicPr>
          <p:cNvPr id="25" name="図 24">
            <a:extLst>
              <a:ext uri="{FF2B5EF4-FFF2-40B4-BE49-F238E27FC236}">
                <a16:creationId xmlns:a16="http://schemas.microsoft.com/office/drawing/2014/main" id="{78665135-5BEE-F440-AFDB-395CC70BA0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9160" y="5659119"/>
            <a:ext cx="584200" cy="569595"/>
          </a:xfrm>
          <a:prstGeom prst="rect">
            <a:avLst/>
          </a:prstGeom>
        </p:spPr>
      </p:pic>
      <p:sp>
        <p:nvSpPr>
          <p:cNvPr id="29" name="角丸四角形 28">
            <a:extLst>
              <a:ext uri="{FF2B5EF4-FFF2-40B4-BE49-F238E27FC236}">
                <a16:creationId xmlns:a16="http://schemas.microsoft.com/office/drawing/2014/main" id="{6A11AA7C-B4A8-3C4C-B8AE-43F67A10FBDC}"/>
              </a:ext>
            </a:extLst>
          </p:cNvPr>
          <p:cNvSpPr/>
          <p:nvPr/>
        </p:nvSpPr>
        <p:spPr>
          <a:xfrm>
            <a:off x="5121546" y="1855995"/>
            <a:ext cx="969374" cy="48468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50"/>
            </a:pPr>
            <a:r>
              <a:rPr kumimoji="1" lang="ja-JP" altLang="en-US" sz="1350" dirty="0">
                <a:solidFill>
                  <a:schemeClr val="tx1"/>
                </a:solidFill>
              </a:rPr>
              <a:t>Execution</a:t>
            </a:r>
            <a:endParaRPr kumimoji="1" lang="en-US" altLang="ja-JP" sz="1400" dirty="0">
              <a:solidFill>
                <a:schemeClr val="tx1"/>
              </a:solidFill>
            </a:endParaRPr>
          </a:p>
          <a:p>
            <a:pPr algn="ctr">
              <a:defRPr sz="1350"/>
            </a:pPr>
            <a:r>
              <a:rPr kumimoji="1" lang="ja-JP" altLang="en-US" sz="1350" dirty="0">
                <a:solidFill>
                  <a:schemeClr val="tx1"/>
                </a:solidFill>
              </a:rPr>
              <a:t>unit</a:t>
            </a:r>
            <a:endParaRPr kumimoji="1" lang="en-US" altLang="ja-JP" sz="1400" dirty="0">
              <a:solidFill>
                <a:schemeClr val="tx1"/>
              </a:solidFill>
            </a:endParaRPr>
          </a:p>
        </p:txBody>
      </p:sp>
      <p:sp>
        <p:nvSpPr>
          <p:cNvPr id="30" name="角丸四角形 29">
            <a:extLst>
              <a:ext uri="{FF2B5EF4-FFF2-40B4-BE49-F238E27FC236}">
                <a16:creationId xmlns:a16="http://schemas.microsoft.com/office/drawing/2014/main" id="{5FC68AB8-34CF-1D40-8414-F799436B41E4}"/>
              </a:ext>
            </a:extLst>
          </p:cNvPr>
          <p:cNvSpPr/>
          <p:nvPr/>
        </p:nvSpPr>
        <p:spPr>
          <a:xfrm>
            <a:off x="5121546" y="2344873"/>
            <a:ext cx="969374" cy="48468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50"/>
            </a:pPr>
            <a:r>
              <a:rPr kumimoji="1" lang="ja-JP" altLang="en-US" sz="1350" dirty="0">
                <a:solidFill>
                  <a:schemeClr val="tx1"/>
                </a:solidFill>
              </a:rPr>
              <a:t>Execution</a:t>
            </a:r>
            <a:endParaRPr kumimoji="1" lang="en-US" altLang="ja-JP" sz="1400" dirty="0">
              <a:solidFill>
                <a:schemeClr val="tx1"/>
              </a:solidFill>
            </a:endParaRPr>
          </a:p>
          <a:p>
            <a:pPr algn="ctr">
              <a:defRPr sz="1350"/>
            </a:pPr>
            <a:r>
              <a:rPr kumimoji="1" lang="ja-JP" altLang="en-US" sz="1350" dirty="0">
                <a:solidFill>
                  <a:schemeClr val="tx1"/>
                </a:solidFill>
              </a:rPr>
              <a:t>unit</a:t>
            </a:r>
            <a:endParaRPr kumimoji="1" lang="en-US" altLang="ja-JP" sz="1400" dirty="0">
              <a:solidFill>
                <a:schemeClr val="tx1"/>
              </a:solidFill>
            </a:endParaRP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336FF39C-A5D9-884C-9297-9573EA638016}"/>
              </a:ext>
            </a:extLst>
          </p:cNvPr>
          <p:cNvSpPr/>
          <p:nvPr/>
        </p:nvSpPr>
        <p:spPr>
          <a:xfrm>
            <a:off x="4033520" y="1915160"/>
            <a:ext cx="533400" cy="4572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/>
            </a:pPr>
            <a:r>
              <a:rPr kumimoji="1" lang="ja-JP" altLang="en-US" sz="1000" dirty="0">
                <a:solidFill>
                  <a:schemeClr val="tx1"/>
                </a:solidFill>
              </a:rPr>
              <a:t>Instruction A</a:t>
            </a:r>
            <a:endParaRPr kumimoji="1" lang="ja-JP" altLang="en-US" sz="1000" dirty="0">
              <a:solidFill>
                <a:schemeClr val="tx1"/>
              </a:solidFill>
            </a:endParaRP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C9774A07-3EC8-2D42-98B1-9FE5746B09DD}"/>
              </a:ext>
            </a:extLst>
          </p:cNvPr>
          <p:cNvSpPr/>
          <p:nvPr/>
        </p:nvSpPr>
        <p:spPr>
          <a:xfrm>
            <a:off x="4033520" y="2372360"/>
            <a:ext cx="533400" cy="4572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/>
            </a:pPr>
            <a:r>
              <a:rPr kumimoji="1" lang="ja-JP" altLang="en-US" sz="1000" dirty="0">
                <a:solidFill>
                  <a:schemeClr val="tx1"/>
                </a:solidFill>
              </a:rPr>
              <a:t>Instruction B</a:t>
            </a:r>
            <a:endParaRPr kumimoji="1" lang="ja-JP" altLang="en-US" sz="1000" dirty="0">
              <a:solidFill>
                <a:schemeClr val="tx1"/>
              </a:solidFill>
            </a:endParaRPr>
          </a:p>
        </p:txBody>
      </p:sp>
      <p:sp>
        <p:nvSpPr>
          <p:cNvPr id="33" name="角丸四角形 32">
            <a:extLst>
              <a:ext uri="{FF2B5EF4-FFF2-40B4-BE49-F238E27FC236}">
                <a16:creationId xmlns:a16="http://schemas.microsoft.com/office/drawing/2014/main" id="{089701AB-4285-6349-BA79-97B92563B5AA}"/>
              </a:ext>
            </a:extLst>
          </p:cNvPr>
          <p:cNvSpPr/>
          <p:nvPr/>
        </p:nvSpPr>
        <p:spPr>
          <a:xfrm>
            <a:off x="3952240" y="1757680"/>
            <a:ext cx="690880" cy="1229360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2B0B985A-CA7E-EA4B-8FD4-9B450FAB5D2C}"/>
              </a:ext>
            </a:extLst>
          </p:cNvPr>
          <p:cNvSpPr txBox="1"/>
          <p:nvPr/>
        </p:nvSpPr>
        <p:spPr>
          <a:xfrm>
            <a:off x="3688080" y="1452880"/>
            <a:ext cx="1279517" cy="253916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850"/>
            </a:pPr>
            <a:r>
              <a:rPr kumimoji="1" lang="en-US" altLang="ja-JP" sz="850"/>
              <a:t>One VLIW instruction</a:t>
            </a:r>
          </a:p>
        </p:txBody>
      </p:sp>
      <p:cxnSp>
        <p:nvCxnSpPr>
          <p:cNvPr id="36" name="直線矢印コネクタ 35">
            <a:extLst>
              <a:ext uri="{FF2B5EF4-FFF2-40B4-BE49-F238E27FC236}">
                <a16:creationId xmlns:a16="http://schemas.microsoft.com/office/drawing/2014/main" id="{5F347953-0B59-5B44-BEFD-27C17BA2F8FC}"/>
              </a:ext>
            </a:extLst>
          </p:cNvPr>
          <p:cNvCxnSpPr>
            <a:cxnSpLocks/>
            <a:endCxn id="29" idx="1"/>
          </p:cNvCxnSpPr>
          <p:nvPr/>
        </p:nvCxnSpPr>
        <p:spPr>
          <a:xfrm>
            <a:off x="4592320" y="2098339"/>
            <a:ext cx="529226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矢印コネクタ 37">
            <a:extLst>
              <a:ext uri="{FF2B5EF4-FFF2-40B4-BE49-F238E27FC236}">
                <a16:creationId xmlns:a16="http://schemas.microsoft.com/office/drawing/2014/main" id="{1002CF52-46AB-E943-9695-563F0D56656C}"/>
              </a:ext>
            </a:extLst>
          </p:cNvPr>
          <p:cNvCxnSpPr>
            <a:cxnSpLocks/>
          </p:cNvCxnSpPr>
          <p:nvPr/>
        </p:nvCxnSpPr>
        <p:spPr>
          <a:xfrm>
            <a:off x="4572000" y="2616499"/>
            <a:ext cx="529226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FB6311DC-D3F4-B748-BA53-4FFE097F7657}"/>
              </a:ext>
            </a:extLst>
          </p:cNvPr>
          <p:cNvSpPr txBox="1"/>
          <p:nvPr/>
        </p:nvSpPr>
        <p:spPr>
          <a:xfrm>
            <a:off x="4033520" y="4754880"/>
            <a:ext cx="2182008" cy="523220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050"/>
            </a:pPr>
            <a:r>
              <a:rPr lang="ja-JP" altLang="en-US" sz="1050" dirty="0"/>
              <a:t>No dependency checking needed</a:t>
            </a:r>
            <a:endParaRPr lang="en-US" altLang="ja-JP" sz="1400" dirty="0"/>
          </a:p>
          <a:p>
            <a:pPr>
              <a:defRPr sz="1050"/>
            </a:pPr>
            <a:r>
              <a:rPr lang="ja-JP" altLang="en-US" sz="1050" dirty="0"/>
              <a:t>-&gt; hardware becomes simpler</a:t>
            </a:r>
            <a:endParaRPr lang="en-US" altLang="ja-JP" sz="1400" dirty="0"/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619B4112-04B8-6A4A-B1FF-8D311471595D}"/>
              </a:ext>
            </a:extLst>
          </p:cNvPr>
          <p:cNvSpPr txBox="1"/>
          <p:nvPr/>
        </p:nvSpPr>
        <p:spPr>
          <a:xfrm>
            <a:off x="3972560" y="5709920"/>
            <a:ext cx="2877711" cy="523220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250"/>
            </a:pPr>
            <a:r>
              <a:rPr lang="ja-JP" altLang="en-US" sz="1250" b="1" dirty="0">
                <a:solidFill>
                  <a:srgbClr val="FF0000"/>
                </a:solidFill>
              </a:rPr>
              <a:t>Requires a godlike smart compiler</a:t>
            </a:r>
            <a:endParaRPr lang="en-US" altLang="ja-JP" sz="1400" b="1" dirty="0">
              <a:solidFill>
                <a:srgbClr val="FF0000"/>
              </a:solidFill>
            </a:endParaRPr>
          </a:p>
          <a:p>
            <a:pPr>
              <a:defRPr sz="1250"/>
            </a:pPr>
            <a:r>
              <a:rPr lang="ja-JP" altLang="en-US" sz="1250" b="1" dirty="0">
                <a:solidFill>
                  <a:srgbClr val="FF0000"/>
                </a:solidFill>
              </a:rPr>
              <a:t>Loses backward compatibility</a:t>
            </a:r>
            <a:endParaRPr lang="en-US" altLang="ja-JP" sz="1400" b="1" dirty="0">
              <a:solidFill>
                <a:srgbClr val="FF0000"/>
              </a:solidFill>
            </a:endParaRPr>
          </a:p>
        </p:txBody>
      </p:sp>
      <p:pic>
        <p:nvPicPr>
          <p:cNvPr id="41" name="図 40">
            <a:extLst>
              <a:ext uri="{FF2B5EF4-FFF2-40B4-BE49-F238E27FC236}">
                <a16:creationId xmlns:a16="http://schemas.microsoft.com/office/drawing/2014/main" id="{DA5E1897-A7AC-7B45-8042-51CA094DD6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4685664"/>
            <a:ext cx="584200" cy="569595"/>
          </a:xfrm>
          <a:prstGeom prst="rect">
            <a:avLst/>
          </a:prstGeom>
        </p:spPr>
      </p:pic>
      <p:pic>
        <p:nvPicPr>
          <p:cNvPr id="42" name="図 41">
            <a:extLst>
              <a:ext uri="{FF2B5EF4-FFF2-40B4-BE49-F238E27FC236}">
                <a16:creationId xmlns:a16="http://schemas.microsoft.com/office/drawing/2014/main" id="{14495E7E-AF7B-FA43-A775-B4EB3900A6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5679439"/>
            <a:ext cx="584200" cy="569595"/>
          </a:xfrm>
          <a:prstGeom prst="rect">
            <a:avLst/>
          </a:prstGeom>
        </p:spPr>
      </p:pic>
      <p:sp>
        <p:nvSpPr>
          <p:cNvPr id="43" name="角丸四角形 42">
            <a:extLst>
              <a:ext uri="{FF2B5EF4-FFF2-40B4-BE49-F238E27FC236}">
                <a16:creationId xmlns:a16="http://schemas.microsoft.com/office/drawing/2014/main" id="{B3C4FBC2-DA56-F143-B1DA-6D2B7ADF7FDF}"/>
              </a:ext>
            </a:extLst>
          </p:cNvPr>
          <p:cNvSpPr/>
          <p:nvPr/>
        </p:nvSpPr>
        <p:spPr>
          <a:xfrm>
            <a:off x="8615680" y="1764555"/>
            <a:ext cx="995680" cy="1131045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ja-JP" altLang="en-US" sz="1400" dirty="0">
                <a:solidFill>
                  <a:schemeClr val="tx1"/>
                </a:solidFill>
              </a:rPr>
              <a:t>Execution</a:t>
            </a:r>
            <a:endParaRPr kumimoji="1" lang="en-US" altLang="ja-JP" sz="1400" dirty="0">
              <a:solidFill>
                <a:schemeClr val="tx1"/>
              </a:solidFill>
            </a:endParaRPr>
          </a:p>
          <a:p>
            <a:pPr algn="ctr">
              <a:defRPr/>
            </a:pPr>
            <a:r>
              <a:rPr kumimoji="1" lang="ja-JP" altLang="en-US" sz="1400" dirty="0">
                <a:solidFill>
                  <a:schemeClr val="tx1"/>
                </a:solidFill>
              </a:rPr>
              <a:t>unit</a:t>
            </a:r>
            <a:endParaRPr kumimoji="1" lang="en-US" altLang="ja-JP" sz="1400" dirty="0">
              <a:solidFill>
                <a:schemeClr val="tx1"/>
              </a:solidFill>
            </a:endParaRPr>
          </a:p>
        </p:txBody>
      </p:sp>
      <p:pic>
        <p:nvPicPr>
          <p:cNvPr id="44" name="図 43">
            <a:extLst>
              <a:ext uri="{FF2B5EF4-FFF2-40B4-BE49-F238E27FC236}">
                <a16:creationId xmlns:a16="http://schemas.microsoft.com/office/drawing/2014/main" id="{0645FA37-29FC-1D42-8341-F8CDB40361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6120" y="4665344"/>
            <a:ext cx="584200" cy="569595"/>
          </a:xfrm>
          <a:prstGeom prst="rect">
            <a:avLst/>
          </a:prstGeom>
        </p:spPr>
      </p:pic>
      <p:pic>
        <p:nvPicPr>
          <p:cNvPr id="45" name="図 44">
            <a:extLst>
              <a:ext uri="{FF2B5EF4-FFF2-40B4-BE49-F238E27FC236}">
                <a16:creationId xmlns:a16="http://schemas.microsoft.com/office/drawing/2014/main" id="{EF4CF261-ABE1-E34D-A846-AC6F9A9BC9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6120" y="5628639"/>
            <a:ext cx="584200" cy="569595"/>
          </a:xfrm>
          <a:prstGeom prst="rect">
            <a:avLst/>
          </a:prstGeom>
        </p:spPr>
      </p:pic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3F5420BD-5D08-A84F-9B46-56EA80905771}"/>
              </a:ext>
            </a:extLst>
          </p:cNvPr>
          <p:cNvSpPr txBox="1"/>
          <p:nvPr/>
        </p:nvSpPr>
        <p:spPr>
          <a:xfrm>
            <a:off x="7680960" y="4693920"/>
            <a:ext cx="1800493" cy="523220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000"/>
            </a:pPr>
            <a:r>
              <a:rPr lang="ja-JP" altLang="en-US" sz="1000" dirty="0"/>
              <a:t>Hardware is simple</a:t>
            </a:r>
            <a:endParaRPr lang="en-US" altLang="ja-JP" sz="1400" dirty="0"/>
          </a:p>
          <a:p>
            <a:pPr>
              <a:defRPr sz="1000"/>
            </a:pPr>
            <a:r>
              <a:rPr lang="ja-JP" altLang="en-US" sz="1000" dirty="0"/>
              <a:t>Backward compatibility is preserved</a:t>
            </a:r>
            <a:endParaRPr lang="en-US" altLang="ja-JP" sz="1400" dirty="0"/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FC96BEA1-A0AB-E141-BA29-6C73475B4D56}"/>
              </a:ext>
            </a:extLst>
          </p:cNvPr>
          <p:cNvSpPr txBox="1"/>
          <p:nvPr/>
        </p:nvSpPr>
        <p:spPr>
          <a:xfrm>
            <a:off x="7660640" y="5750560"/>
            <a:ext cx="1620957" cy="307777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150"/>
            </a:pPr>
            <a:r>
              <a:rPr lang="ja-JP" altLang="en-US" sz="1150" b="1" dirty="0">
                <a:solidFill>
                  <a:srgbClr val="FF0000"/>
                </a:solidFill>
              </a:rPr>
              <a:t>Programming is hard</a:t>
            </a:r>
            <a:endParaRPr kumimoji="1" lang="ja-JP" altLang="en-US" sz="1400" b="1">
              <a:solidFill>
                <a:srgbClr val="FF0000"/>
              </a:solidFill>
            </a:endParaRP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9BE190D6-416D-4A4C-9CCC-EF2644F17F38}"/>
              </a:ext>
            </a:extLst>
          </p:cNvPr>
          <p:cNvSpPr/>
          <p:nvPr/>
        </p:nvSpPr>
        <p:spPr>
          <a:xfrm>
            <a:off x="7447280" y="1793240"/>
            <a:ext cx="533400" cy="10210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 dirty="0">
              <a:solidFill>
                <a:schemeClr val="tx1"/>
              </a:solidFill>
            </a:endParaRPr>
          </a:p>
        </p:txBody>
      </p:sp>
      <p:cxnSp>
        <p:nvCxnSpPr>
          <p:cNvPr id="51" name="直線コネクタ 50">
            <a:extLst>
              <a:ext uri="{FF2B5EF4-FFF2-40B4-BE49-F238E27FC236}">
                <a16:creationId xmlns:a16="http://schemas.microsoft.com/office/drawing/2014/main" id="{4DC1D1CF-CE23-534F-AE30-1416B58E2127}"/>
              </a:ext>
            </a:extLst>
          </p:cNvPr>
          <p:cNvCxnSpPr>
            <a:stCxn id="43" idx="1"/>
            <a:endCxn id="43" idx="3"/>
          </p:cNvCxnSpPr>
          <p:nvPr/>
        </p:nvCxnSpPr>
        <p:spPr>
          <a:xfrm>
            <a:off x="8615680" y="2330078"/>
            <a:ext cx="995680" cy="0"/>
          </a:xfrm>
          <a:prstGeom prst="line">
            <a:avLst/>
          </a:prstGeom>
          <a:ln w="127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正方形/長方形 51">
            <a:extLst>
              <a:ext uri="{FF2B5EF4-FFF2-40B4-BE49-F238E27FC236}">
                <a16:creationId xmlns:a16="http://schemas.microsoft.com/office/drawing/2014/main" id="{3D4B4BE7-7C3B-3241-9969-1E74C0CF1B5E}"/>
              </a:ext>
            </a:extLst>
          </p:cNvPr>
          <p:cNvSpPr/>
          <p:nvPr/>
        </p:nvSpPr>
        <p:spPr>
          <a:xfrm>
            <a:off x="1493520" y="1630680"/>
            <a:ext cx="533400" cy="4572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/>
            </a:pPr>
            <a:r>
              <a:rPr kumimoji="1" lang="ja-JP" altLang="en-US" sz="1000" dirty="0">
                <a:solidFill>
                  <a:schemeClr val="tx1"/>
                </a:solidFill>
              </a:rPr>
              <a:t>Instruction A</a:t>
            </a:r>
            <a:endParaRPr kumimoji="1" lang="ja-JP" altLang="en-US" sz="1000" dirty="0">
              <a:solidFill>
                <a:schemeClr val="tx1"/>
              </a:solidFill>
            </a:endParaRPr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34ECD519-ED67-9C4A-BC76-0C521D1FC110}"/>
              </a:ext>
            </a:extLst>
          </p:cNvPr>
          <p:cNvSpPr/>
          <p:nvPr/>
        </p:nvSpPr>
        <p:spPr>
          <a:xfrm>
            <a:off x="1513840" y="2931160"/>
            <a:ext cx="533400" cy="4572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>
              <a:defRPr/>
            </a:pPr>
            <a:r>
              <a:rPr kumimoji="1" lang="ja-JP" altLang="en-US" sz="1000" dirty="0">
                <a:solidFill>
                  <a:schemeClr val="tx1"/>
                </a:solidFill>
              </a:rPr>
              <a:t>Instruction B</a:t>
            </a:r>
            <a:endParaRPr kumimoji="1" lang="ja-JP" altLang="en-US" sz="1000" dirty="0">
              <a:solidFill>
                <a:schemeClr val="tx1"/>
              </a:solidFill>
            </a:endParaRPr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1D1DB946-7D3D-0849-AEC2-0094801815E2}"/>
              </a:ext>
            </a:extLst>
          </p:cNvPr>
          <p:cNvSpPr txBox="1"/>
          <p:nvPr/>
        </p:nvSpPr>
        <p:spPr>
          <a:xfrm>
            <a:off x="528320" y="3606800"/>
            <a:ext cx="2339102" cy="523220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000"/>
            </a:pPr>
            <a:r>
              <a:rPr kumimoji="1" lang="ja-JP" altLang="en-US" sz="1000"/>
              <a:t>Fetch multiple instructions,</a:t>
            </a:r>
            <a:endParaRPr kumimoji="1" lang="en-US" altLang="ja-JP" sz="1400"/>
          </a:p>
          <a:p>
            <a:pPr>
              <a:defRPr sz="1000"/>
            </a:pPr>
            <a:r>
              <a:rPr kumimoji="1" lang="ja-JP" altLang="en-US" sz="1000"/>
              <a:t>and the scheduler dispatches them</a:t>
            </a:r>
            <a:endParaRPr kumimoji="1" lang="en-US" altLang="ja-JP" sz="1400"/>
          </a:p>
        </p:txBody>
      </p: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AA60636D-7C18-9A41-8E82-5E021712D277}"/>
              </a:ext>
            </a:extLst>
          </p:cNvPr>
          <p:cNvSpPr txBox="1"/>
          <p:nvPr/>
        </p:nvSpPr>
        <p:spPr>
          <a:xfrm>
            <a:off x="3749040" y="3596640"/>
            <a:ext cx="2518638" cy="523220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000"/>
            </a:pPr>
            <a:r>
              <a:rPr lang="ja-JP" altLang="en-US" sz="1000"/>
              <a:t>Bundle instructions that can run in parallel</a:t>
            </a:r>
            <a:endParaRPr kumimoji="1" lang="en-US" altLang="ja-JP" sz="1400"/>
          </a:p>
          <a:p>
            <a:pPr>
              <a:defRPr sz="1000"/>
            </a:pPr>
            <a:r>
              <a:rPr lang="ja-JP" altLang="en-US" sz="1000"/>
              <a:t>into one instruction in advance</a:t>
            </a:r>
            <a:endParaRPr kumimoji="1" lang="en-US" altLang="ja-JP" sz="1400"/>
          </a:p>
        </p:txBody>
      </p:sp>
      <p:cxnSp>
        <p:nvCxnSpPr>
          <p:cNvPr id="56" name="直線コネクタ 55">
            <a:extLst>
              <a:ext uri="{FF2B5EF4-FFF2-40B4-BE49-F238E27FC236}">
                <a16:creationId xmlns:a16="http://schemas.microsoft.com/office/drawing/2014/main" id="{EC5146C0-9DB4-7E46-B352-AE6E99971C38}"/>
              </a:ext>
            </a:extLst>
          </p:cNvPr>
          <p:cNvCxnSpPr>
            <a:cxnSpLocks/>
            <a:stCxn id="48" idx="1"/>
            <a:endCxn id="48" idx="3"/>
          </p:cNvCxnSpPr>
          <p:nvPr/>
        </p:nvCxnSpPr>
        <p:spPr>
          <a:xfrm>
            <a:off x="7447280" y="2303780"/>
            <a:ext cx="533400" cy="0"/>
          </a:xfrm>
          <a:prstGeom prst="line">
            <a:avLst/>
          </a:prstGeom>
          <a:ln w="127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テキスト ボックス 58">
            <a:extLst>
              <a:ext uri="{FF2B5EF4-FFF2-40B4-BE49-F238E27FC236}">
                <a16:creationId xmlns:a16="http://schemas.microsoft.com/office/drawing/2014/main" id="{DCF15125-6D0F-514F-B858-4219162C6030}"/>
              </a:ext>
            </a:extLst>
          </p:cNvPr>
          <p:cNvSpPr txBox="1"/>
          <p:nvPr/>
        </p:nvSpPr>
        <p:spPr>
          <a:xfrm>
            <a:off x="7386320" y="1930400"/>
            <a:ext cx="64312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ja-JP" altLang="en-US" sz="1000"/>
              <a:t>Data A</a:t>
            </a:r>
            <a:endParaRPr kumimoji="1" lang="ja-JP" altLang="en-US" sz="1000"/>
          </a:p>
        </p:txBody>
      </p:sp>
      <p:sp>
        <p:nvSpPr>
          <p:cNvPr id="60" name="テキスト ボックス 59">
            <a:extLst>
              <a:ext uri="{FF2B5EF4-FFF2-40B4-BE49-F238E27FC236}">
                <a16:creationId xmlns:a16="http://schemas.microsoft.com/office/drawing/2014/main" id="{370B314B-33A5-6B41-919E-A5F0BF492BC3}"/>
              </a:ext>
            </a:extLst>
          </p:cNvPr>
          <p:cNvSpPr txBox="1"/>
          <p:nvPr/>
        </p:nvSpPr>
        <p:spPr>
          <a:xfrm>
            <a:off x="7406640" y="2428240"/>
            <a:ext cx="64312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ja-JP" altLang="en-US" sz="1000"/>
              <a:t>Data B</a:t>
            </a:r>
            <a:endParaRPr kumimoji="1" lang="ja-JP" altLang="en-US" sz="1000"/>
          </a:p>
        </p:txBody>
      </p:sp>
      <p:sp>
        <p:nvSpPr>
          <p:cNvPr id="61" name="角丸四角形 60">
            <a:extLst>
              <a:ext uri="{FF2B5EF4-FFF2-40B4-BE49-F238E27FC236}">
                <a16:creationId xmlns:a16="http://schemas.microsoft.com/office/drawing/2014/main" id="{C6F9AECB-E783-C84E-866C-6E20BEF09226}"/>
              </a:ext>
            </a:extLst>
          </p:cNvPr>
          <p:cNvSpPr/>
          <p:nvPr/>
        </p:nvSpPr>
        <p:spPr>
          <a:xfrm>
            <a:off x="7376160" y="1706880"/>
            <a:ext cx="690880" cy="1229360"/>
          </a:xfrm>
          <a:prstGeom prst="roundRect">
            <a:avLst/>
          </a:prstGeom>
          <a:noFill/>
          <a:ln w="381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2" name="テキスト ボックス 61">
            <a:extLst>
              <a:ext uri="{FF2B5EF4-FFF2-40B4-BE49-F238E27FC236}">
                <a16:creationId xmlns:a16="http://schemas.microsoft.com/office/drawing/2014/main" id="{B0F9939C-CF93-E041-9434-8467EB4A0B8A}"/>
              </a:ext>
            </a:extLst>
          </p:cNvPr>
          <p:cNvSpPr txBox="1"/>
          <p:nvPr/>
        </p:nvSpPr>
        <p:spPr>
          <a:xfrm>
            <a:off x="7294880" y="1391920"/>
            <a:ext cx="748923" cy="253916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defRPr/>
            </a:pPr>
            <a:r>
              <a:rPr kumimoji="1" lang="en-US" altLang="ja-JP" sz="1050"/>
              <a:t>SIMD instruction</a:t>
            </a:r>
          </a:p>
        </p:txBody>
      </p:sp>
      <p:sp>
        <p:nvSpPr>
          <p:cNvPr id="63" name="テキスト ボックス 62">
            <a:extLst>
              <a:ext uri="{FF2B5EF4-FFF2-40B4-BE49-F238E27FC236}">
                <a16:creationId xmlns:a16="http://schemas.microsoft.com/office/drawing/2014/main" id="{F77A8080-ED24-CC4A-A38F-1265BDC2EF78}"/>
              </a:ext>
            </a:extLst>
          </p:cNvPr>
          <p:cNvSpPr txBox="1"/>
          <p:nvPr/>
        </p:nvSpPr>
        <p:spPr>
          <a:xfrm>
            <a:off x="7051040" y="3556000"/>
            <a:ext cx="2339102" cy="523220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1000"/>
            </a:pPr>
            <a:r>
              <a:rPr lang="ja-JP" altLang="en-US" sz="1000"/>
              <a:t>Apply the same operation to multiple data items</a:t>
            </a:r>
            <a:endParaRPr lang="en-US" altLang="ja-JP" sz="1400"/>
          </a:p>
          <a:p>
            <a:pPr>
              <a:defRPr sz="1000"/>
            </a:pPr>
            <a:r>
              <a:rPr lang="ja-JP" altLang="en-US" sz="1000"/>
              <a:t>at once</a:t>
            </a:r>
            <a:endParaRPr lang="en-US" altLang="ja-JP" sz="1400"/>
          </a:p>
        </p:txBody>
      </p:sp>
      <p:cxnSp>
        <p:nvCxnSpPr>
          <p:cNvPr id="64" name="直線矢印コネクタ 63">
            <a:extLst>
              <a:ext uri="{FF2B5EF4-FFF2-40B4-BE49-F238E27FC236}">
                <a16:creationId xmlns:a16="http://schemas.microsoft.com/office/drawing/2014/main" id="{2B0F8F8E-F928-0546-B6D3-0A74B33ED8F7}"/>
              </a:ext>
            </a:extLst>
          </p:cNvPr>
          <p:cNvCxnSpPr>
            <a:cxnSpLocks/>
          </p:cNvCxnSpPr>
          <p:nvPr/>
        </p:nvCxnSpPr>
        <p:spPr>
          <a:xfrm>
            <a:off x="8097520" y="2311699"/>
            <a:ext cx="529226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82895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47CC05BB-0392-D84B-A861-05329F5A211C}"/>
              </a:ext>
            </a:extLst>
          </p:cNvPr>
          <p:cNvSpPr/>
          <p:nvPr/>
        </p:nvSpPr>
        <p:spPr>
          <a:xfrm>
            <a:off x="1136576" y="1556792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B9DE39E-69F7-4F46-B7C3-44B36D9EDE80}"/>
              </a:ext>
            </a:extLst>
          </p:cNvPr>
          <p:cNvSpPr/>
          <p:nvPr/>
        </p:nvSpPr>
        <p:spPr>
          <a:xfrm>
            <a:off x="1640632" y="1556792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chemeClr val="tx1"/>
                </a:solidFill>
              </a:rPr>
              <a:t>z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CEF8B834-2614-4140-BF00-39C4EA7DE4A7}"/>
              </a:ext>
            </a:extLst>
          </p:cNvPr>
          <p:cNvSpPr/>
          <p:nvPr/>
        </p:nvSpPr>
        <p:spPr>
          <a:xfrm>
            <a:off x="2144688" y="1556792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chemeClr val="tx1"/>
                </a:solidFill>
              </a:rPr>
              <a:t>y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334687B-6C5E-A542-B6B2-47ADE5E92E66}"/>
              </a:ext>
            </a:extLst>
          </p:cNvPr>
          <p:cNvSpPr/>
          <p:nvPr/>
        </p:nvSpPr>
        <p:spPr>
          <a:xfrm>
            <a:off x="2648744" y="1556792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chemeClr val="tx1"/>
                </a:solidFill>
              </a:rPr>
              <a:t>x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CAAB22D-C4E1-8E43-84A5-27D396984BE8}"/>
              </a:ext>
            </a:extLst>
          </p:cNvPr>
          <p:cNvSpPr/>
          <p:nvPr/>
        </p:nvSpPr>
        <p:spPr>
          <a:xfrm>
            <a:off x="3152800" y="1556792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00338E8-DDDB-6D46-9F92-CD55199194CE}"/>
              </a:ext>
            </a:extLst>
          </p:cNvPr>
          <p:cNvSpPr/>
          <p:nvPr/>
        </p:nvSpPr>
        <p:spPr>
          <a:xfrm>
            <a:off x="3656856" y="1556792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chemeClr val="tx1"/>
                </a:solidFill>
              </a:rPr>
              <a:t>z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A618CAD4-6122-6647-99D4-4FCD87E8E339}"/>
              </a:ext>
            </a:extLst>
          </p:cNvPr>
          <p:cNvSpPr/>
          <p:nvPr/>
        </p:nvSpPr>
        <p:spPr>
          <a:xfrm>
            <a:off x="4160912" y="1556792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chemeClr val="tx1"/>
                </a:solidFill>
              </a:rPr>
              <a:t>y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2547F031-2BD7-5F4A-BF70-E25AF907D652}"/>
              </a:ext>
            </a:extLst>
          </p:cNvPr>
          <p:cNvSpPr/>
          <p:nvPr/>
        </p:nvSpPr>
        <p:spPr>
          <a:xfrm>
            <a:off x="4664968" y="1556792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chemeClr val="tx1"/>
                </a:solidFill>
              </a:rPr>
              <a:t>x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1CE34BAB-2EFD-4848-85E1-5C1C0F231290}"/>
              </a:ext>
            </a:extLst>
          </p:cNvPr>
          <p:cNvSpPr/>
          <p:nvPr/>
        </p:nvSpPr>
        <p:spPr>
          <a:xfrm>
            <a:off x="5169024" y="1556792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45671A90-4C57-7945-930D-796B82392C6E}"/>
              </a:ext>
            </a:extLst>
          </p:cNvPr>
          <p:cNvSpPr/>
          <p:nvPr/>
        </p:nvSpPr>
        <p:spPr>
          <a:xfrm>
            <a:off x="5673080" y="1556792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chemeClr val="tx1"/>
                </a:solidFill>
              </a:rPr>
              <a:t>z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79B2AB3B-FABC-4C42-AC2D-D2D30F1B45FA}"/>
              </a:ext>
            </a:extLst>
          </p:cNvPr>
          <p:cNvSpPr/>
          <p:nvPr/>
        </p:nvSpPr>
        <p:spPr>
          <a:xfrm>
            <a:off x="6177136" y="1556792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chemeClr val="tx1"/>
                </a:solidFill>
              </a:rPr>
              <a:t>y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896FAB4C-F11E-5244-9018-EC06698F63DC}"/>
              </a:ext>
            </a:extLst>
          </p:cNvPr>
          <p:cNvSpPr/>
          <p:nvPr/>
        </p:nvSpPr>
        <p:spPr>
          <a:xfrm>
            <a:off x="6681192" y="1556792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chemeClr val="tx1"/>
                </a:solidFill>
              </a:rPr>
              <a:t>x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104A163A-DCD6-E142-8030-A559EBD4F460}"/>
              </a:ext>
            </a:extLst>
          </p:cNvPr>
          <p:cNvSpPr/>
          <p:nvPr/>
        </p:nvSpPr>
        <p:spPr>
          <a:xfrm>
            <a:off x="3152800" y="2924944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51197534-5923-4743-A124-E15B05284933}"/>
              </a:ext>
            </a:extLst>
          </p:cNvPr>
          <p:cNvSpPr/>
          <p:nvPr/>
        </p:nvSpPr>
        <p:spPr>
          <a:xfrm>
            <a:off x="3656856" y="2924944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chemeClr val="tx1"/>
                </a:solidFill>
              </a:rPr>
              <a:t>z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9BEF369-DA9B-CF44-8ED4-FFCD95EE18F6}"/>
              </a:ext>
            </a:extLst>
          </p:cNvPr>
          <p:cNvSpPr/>
          <p:nvPr/>
        </p:nvSpPr>
        <p:spPr>
          <a:xfrm>
            <a:off x="4160912" y="2924944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chemeClr val="tx1"/>
                </a:solidFill>
              </a:rPr>
              <a:t>y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EAED7F2-5937-5E4A-83ED-7FB12B1A7E1B}"/>
              </a:ext>
            </a:extLst>
          </p:cNvPr>
          <p:cNvSpPr/>
          <p:nvPr/>
        </p:nvSpPr>
        <p:spPr>
          <a:xfrm>
            <a:off x="4664968" y="2924944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chemeClr val="tx1"/>
                </a:solidFill>
              </a:rPr>
              <a:t>x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8" name="下矢印 17">
            <a:extLst>
              <a:ext uri="{FF2B5EF4-FFF2-40B4-BE49-F238E27FC236}">
                <a16:creationId xmlns:a16="http://schemas.microsoft.com/office/drawing/2014/main" id="{AA48D07F-D839-CD4B-9258-11D473255823}"/>
              </a:ext>
            </a:extLst>
          </p:cNvPr>
          <p:cNvSpPr/>
          <p:nvPr/>
        </p:nvSpPr>
        <p:spPr>
          <a:xfrm>
            <a:off x="3944888" y="2348880"/>
            <a:ext cx="432048" cy="360040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64B6C3A1-1730-3F43-9217-3E09B667FB75}"/>
              </a:ext>
            </a:extLst>
          </p:cNvPr>
          <p:cNvSpPr/>
          <p:nvPr/>
        </p:nvSpPr>
        <p:spPr>
          <a:xfrm>
            <a:off x="4664968" y="2132856"/>
            <a:ext cx="211468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" altLang="ja-JP">
                <a:effectLst/>
                <a:latin typeface="Monaco" pitchFamily="2" charset="0"/>
              </a:rPr>
              <a:t>_mm256_load_pd</a:t>
            </a:r>
          </a:p>
          <a:p>
            <a:pPr algn="ctr"/>
            <a:r>
              <a:rPr lang="en" altLang="ja-JP">
                <a:effectLst/>
                <a:latin typeface="Monaco" pitchFamily="2" charset="0"/>
              </a:rPr>
              <a:t>(vmovapd)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DD3CF0DC-6BDB-BF44-A5C5-F05B1C91A510}"/>
              </a:ext>
            </a:extLst>
          </p:cNvPr>
          <p:cNvSpPr/>
          <p:nvPr/>
        </p:nvSpPr>
        <p:spPr>
          <a:xfrm>
            <a:off x="4448944" y="620688"/>
            <a:ext cx="142539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" altLang="ja-JP">
                <a:effectLst/>
                <a:latin typeface="Monaco" pitchFamily="2" charset="0"/>
              </a:rPr>
              <a:t>&amp;(v[i].x)</a:t>
            </a:r>
          </a:p>
        </p:txBody>
      </p: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8D566827-85D3-024D-ADFD-98150F71B4BF}"/>
              </a:ext>
            </a:extLst>
          </p:cNvPr>
          <p:cNvCxnSpPr>
            <a:cxnSpLocks/>
          </p:cNvCxnSpPr>
          <p:nvPr/>
        </p:nvCxnSpPr>
        <p:spPr>
          <a:xfrm>
            <a:off x="5169024" y="1052736"/>
            <a:ext cx="0" cy="50405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71912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47CC05BB-0392-D84B-A861-05329F5A211C}"/>
              </a:ext>
            </a:extLst>
          </p:cNvPr>
          <p:cNvSpPr/>
          <p:nvPr/>
        </p:nvSpPr>
        <p:spPr>
          <a:xfrm>
            <a:off x="1136576" y="1556792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B9DE39E-69F7-4F46-B7C3-44B36D9EDE80}"/>
              </a:ext>
            </a:extLst>
          </p:cNvPr>
          <p:cNvSpPr/>
          <p:nvPr/>
        </p:nvSpPr>
        <p:spPr>
          <a:xfrm>
            <a:off x="1640632" y="1556792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en-US" altLang="ja-JP">
                <a:solidFill>
                  <a:schemeClr val="tx1"/>
                </a:solidFill>
              </a:rPr>
              <a:t>z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CEF8B834-2614-4140-BF00-39C4EA7DE4A7}"/>
              </a:ext>
            </a:extLst>
          </p:cNvPr>
          <p:cNvSpPr/>
          <p:nvPr/>
        </p:nvSpPr>
        <p:spPr>
          <a:xfrm>
            <a:off x="2144688" y="1556792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en-US" altLang="ja-JP">
                <a:solidFill>
                  <a:schemeClr val="tx1"/>
                </a:solidFill>
              </a:rPr>
              <a:t>y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334687B-6C5E-A542-B6B2-47ADE5E92E66}"/>
              </a:ext>
            </a:extLst>
          </p:cNvPr>
          <p:cNvSpPr/>
          <p:nvPr/>
        </p:nvSpPr>
        <p:spPr>
          <a:xfrm>
            <a:off x="2648744" y="1556792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en-US" altLang="ja-JP">
                <a:solidFill>
                  <a:schemeClr val="tx1"/>
                </a:solidFill>
              </a:rPr>
              <a:t>x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CAAB22D-C4E1-8E43-84A5-27D396984BE8}"/>
              </a:ext>
            </a:extLst>
          </p:cNvPr>
          <p:cNvSpPr/>
          <p:nvPr/>
        </p:nvSpPr>
        <p:spPr>
          <a:xfrm>
            <a:off x="3152800" y="1556792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00338E8-DDDB-6D46-9F92-CD55199194CE}"/>
              </a:ext>
            </a:extLst>
          </p:cNvPr>
          <p:cNvSpPr/>
          <p:nvPr/>
        </p:nvSpPr>
        <p:spPr>
          <a:xfrm>
            <a:off x="3656856" y="1556792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en-US" altLang="ja-JP">
                <a:solidFill>
                  <a:schemeClr val="tx1"/>
                </a:solidFill>
              </a:rPr>
              <a:t>z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A618CAD4-6122-6647-99D4-4FCD87E8E339}"/>
              </a:ext>
            </a:extLst>
          </p:cNvPr>
          <p:cNvSpPr/>
          <p:nvPr/>
        </p:nvSpPr>
        <p:spPr>
          <a:xfrm>
            <a:off x="4160912" y="1556792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en-US" altLang="ja-JP">
                <a:solidFill>
                  <a:schemeClr val="tx1"/>
                </a:solidFill>
              </a:rPr>
              <a:t>y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2547F031-2BD7-5F4A-BF70-E25AF907D652}"/>
              </a:ext>
            </a:extLst>
          </p:cNvPr>
          <p:cNvSpPr/>
          <p:nvPr/>
        </p:nvSpPr>
        <p:spPr>
          <a:xfrm>
            <a:off x="4664968" y="1556792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en-US" altLang="ja-JP">
                <a:solidFill>
                  <a:schemeClr val="tx1"/>
                </a:solidFill>
              </a:rPr>
              <a:t>x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1CE34BAB-2EFD-4848-85E1-5C1C0F231290}"/>
              </a:ext>
            </a:extLst>
          </p:cNvPr>
          <p:cNvSpPr/>
          <p:nvPr/>
        </p:nvSpPr>
        <p:spPr>
          <a:xfrm>
            <a:off x="5169024" y="1556792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45671A90-4C57-7945-930D-796B82392C6E}"/>
              </a:ext>
            </a:extLst>
          </p:cNvPr>
          <p:cNvSpPr/>
          <p:nvPr/>
        </p:nvSpPr>
        <p:spPr>
          <a:xfrm>
            <a:off x="5673080" y="1556792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en-US" altLang="ja-JP">
                <a:solidFill>
                  <a:schemeClr val="tx1"/>
                </a:solidFill>
              </a:rPr>
              <a:t>z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79B2AB3B-FABC-4C42-AC2D-D2D30F1B45FA}"/>
              </a:ext>
            </a:extLst>
          </p:cNvPr>
          <p:cNvSpPr/>
          <p:nvPr/>
        </p:nvSpPr>
        <p:spPr>
          <a:xfrm>
            <a:off x="6177136" y="1556792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en-US" altLang="ja-JP">
                <a:solidFill>
                  <a:schemeClr val="tx1"/>
                </a:solidFill>
              </a:rPr>
              <a:t>y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896FAB4C-F11E-5244-9018-EC06698F63DC}"/>
              </a:ext>
            </a:extLst>
          </p:cNvPr>
          <p:cNvSpPr/>
          <p:nvPr/>
        </p:nvSpPr>
        <p:spPr>
          <a:xfrm>
            <a:off x="6681192" y="1556792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en-US" altLang="ja-JP">
                <a:solidFill>
                  <a:schemeClr val="tx1"/>
                </a:solidFill>
              </a:rPr>
              <a:t>x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104A163A-DCD6-E142-8030-A559EBD4F460}"/>
              </a:ext>
            </a:extLst>
          </p:cNvPr>
          <p:cNvSpPr/>
          <p:nvPr/>
        </p:nvSpPr>
        <p:spPr>
          <a:xfrm>
            <a:off x="3152800" y="2924944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51197534-5923-4743-A124-E15B05284933}"/>
              </a:ext>
            </a:extLst>
          </p:cNvPr>
          <p:cNvSpPr/>
          <p:nvPr/>
        </p:nvSpPr>
        <p:spPr>
          <a:xfrm>
            <a:off x="3656856" y="2924944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en-US" altLang="ja-JP">
                <a:solidFill>
                  <a:schemeClr val="tx1"/>
                </a:solidFill>
              </a:rPr>
              <a:t>z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9BEF369-DA9B-CF44-8ED4-FFCD95EE18F6}"/>
              </a:ext>
            </a:extLst>
          </p:cNvPr>
          <p:cNvSpPr/>
          <p:nvPr/>
        </p:nvSpPr>
        <p:spPr>
          <a:xfrm>
            <a:off x="4160912" y="2924944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en-US" altLang="ja-JP">
                <a:solidFill>
                  <a:schemeClr val="tx1"/>
                </a:solidFill>
              </a:rPr>
              <a:t>y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EAED7F2-5937-5E4A-83ED-7FB12B1A7E1B}"/>
              </a:ext>
            </a:extLst>
          </p:cNvPr>
          <p:cNvSpPr/>
          <p:nvPr/>
        </p:nvSpPr>
        <p:spPr>
          <a:xfrm>
            <a:off x="4664968" y="2924944"/>
            <a:ext cx="504056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en-US" altLang="ja-JP">
                <a:solidFill>
                  <a:schemeClr val="tx1"/>
                </a:solidFill>
              </a:rPr>
              <a:t>x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8" name="下矢印 17">
            <a:extLst>
              <a:ext uri="{FF2B5EF4-FFF2-40B4-BE49-F238E27FC236}">
                <a16:creationId xmlns:a16="http://schemas.microsoft.com/office/drawing/2014/main" id="{AA48D07F-D839-CD4B-9258-11D473255823}"/>
              </a:ext>
            </a:extLst>
          </p:cNvPr>
          <p:cNvSpPr/>
          <p:nvPr/>
        </p:nvSpPr>
        <p:spPr>
          <a:xfrm>
            <a:off x="3944888" y="2348880"/>
            <a:ext cx="432048" cy="360040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64B6C3A1-1730-3F43-9217-3E09B667FB75}"/>
              </a:ext>
            </a:extLst>
          </p:cNvPr>
          <p:cNvSpPr/>
          <p:nvPr/>
        </p:nvSpPr>
        <p:spPr>
          <a:xfrm>
            <a:off x="4664968" y="2132856"/>
            <a:ext cx="211468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" altLang="ja-JP">
                <a:effectLst/>
                <a:latin typeface="Monaco" pitchFamily="2" charset="0"/>
              </a:rPr>
              <a:t>_mm256_load_pd</a:t>
            </a:r>
          </a:p>
          <a:p>
            <a:pPr algn="ctr">
              <a:defRPr/>
            </a:pPr>
            <a:r>
              <a:rPr lang="en" altLang="ja-JP">
                <a:effectLst/>
                <a:latin typeface="Monaco" pitchFamily="2" charset="0"/>
              </a:rPr>
              <a:t>(vmovapd)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DD3CF0DC-6BDB-BF44-A5C5-F05B1C91A510}"/>
              </a:ext>
            </a:extLst>
          </p:cNvPr>
          <p:cNvSpPr/>
          <p:nvPr/>
        </p:nvSpPr>
        <p:spPr>
          <a:xfrm>
            <a:off x="4448944" y="620688"/>
            <a:ext cx="142539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" altLang="ja-JP">
                <a:effectLst/>
                <a:latin typeface="Monaco" pitchFamily="2" charset="0"/>
              </a:rPr>
              <a:t>&amp;(v[i].x)</a:t>
            </a:r>
          </a:p>
        </p:txBody>
      </p: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8D566827-85D3-024D-ADFD-98150F71B4BF}"/>
              </a:ext>
            </a:extLst>
          </p:cNvPr>
          <p:cNvCxnSpPr>
            <a:cxnSpLocks/>
          </p:cNvCxnSpPr>
          <p:nvPr/>
        </p:nvCxnSpPr>
        <p:spPr>
          <a:xfrm>
            <a:off x="5169024" y="1052736"/>
            <a:ext cx="0" cy="50405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71912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744D12A-A381-2C4F-A4E6-B6B0DBC397DA}"/>
              </a:ext>
            </a:extLst>
          </p:cNvPr>
          <p:cNvSpPr/>
          <p:nvPr/>
        </p:nvSpPr>
        <p:spPr>
          <a:xfrm>
            <a:off x="1280592" y="260648"/>
            <a:ext cx="6048672" cy="92333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" altLang="ja-JP">
                <a:effectLst/>
                <a:latin typeface="Monaco" pitchFamily="2" charset="0"/>
              </a:rPr>
              <a:t>double px = v[i].y * BZ - v[i].z * BY;</a:t>
            </a:r>
          </a:p>
          <a:p>
            <a:r>
              <a:rPr lang="en" altLang="ja-JP">
                <a:effectLst/>
                <a:latin typeface="Monaco" pitchFamily="2" charset="0"/>
              </a:rPr>
              <a:t>double py = v[i].z * BX - v[i].x * BZ;</a:t>
            </a:r>
          </a:p>
          <a:p>
            <a:r>
              <a:rPr lang="en" altLang="ja-JP">
                <a:effectLst/>
                <a:latin typeface="Monaco" pitchFamily="2" charset="0"/>
              </a:rPr>
              <a:t>double pz = v[i].x * BY - v[i].y * BX;</a:t>
            </a:r>
          </a:p>
        </p:txBody>
      </p: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C68B5C8C-0CBC-E748-9E9E-E0A71BDE5EC7}"/>
              </a:ext>
            </a:extLst>
          </p:cNvPr>
          <p:cNvGrpSpPr/>
          <p:nvPr/>
        </p:nvGrpSpPr>
        <p:grpSpPr>
          <a:xfrm>
            <a:off x="1856656" y="1412776"/>
            <a:ext cx="504056" cy="2016224"/>
            <a:chOff x="416496" y="1916832"/>
            <a:chExt cx="504056" cy="2016224"/>
          </a:xfrm>
        </p:grpSpPr>
        <p:sp>
          <p:nvSpPr>
            <p:cNvPr id="3" name="正方形/長方形 2">
              <a:extLst>
                <a:ext uri="{FF2B5EF4-FFF2-40B4-BE49-F238E27FC236}">
                  <a16:creationId xmlns:a16="http://schemas.microsoft.com/office/drawing/2014/main" id="{55AFAED7-8DC2-C241-B960-B7BC9E5BA5A2}"/>
                </a:ext>
              </a:extLst>
            </p:cNvPr>
            <p:cNvSpPr/>
            <p:nvPr/>
          </p:nvSpPr>
          <p:spPr>
            <a:xfrm>
              <a:off x="416496" y="1916832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2D42ABD7-445F-D347-B4D1-78B2BEAA5496}"/>
                </a:ext>
              </a:extLst>
            </p:cNvPr>
            <p:cNvSpPr/>
            <p:nvPr/>
          </p:nvSpPr>
          <p:spPr>
            <a:xfrm>
              <a:off x="416496" y="2420888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>
                  <a:solidFill>
                    <a:schemeClr val="tx1"/>
                  </a:solidFill>
                </a:rPr>
                <a:t>pz</a:t>
              </a:r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984AF166-1FE0-B840-8E25-64F603777C27}"/>
                </a:ext>
              </a:extLst>
            </p:cNvPr>
            <p:cNvSpPr/>
            <p:nvPr/>
          </p:nvSpPr>
          <p:spPr>
            <a:xfrm>
              <a:off x="416496" y="2924944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>
                  <a:solidFill>
                    <a:schemeClr val="tx1"/>
                  </a:solidFill>
                </a:rPr>
                <a:t>py</a:t>
              </a:r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1C107D70-A60B-304A-99AF-F6C58B58AFB9}"/>
                </a:ext>
              </a:extLst>
            </p:cNvPr>
            <p:cNvSpPr/>
            <p:nvPr/>
          </p:nvSpPr>
          <p:spPr>
            <a:xfrm>
              <a:off x="416496" y="3429000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>
                  <a:solidFill>
                    <a:schemeClr val="tx1"/>
                  </a:solidFill>
                </a:rPr>
                <a:t>px</a:t>
              </a:r>
              <a:endParaRPr kumimoji="1" lang="ja-JP" alt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1D42C249-BEE0-4C4C-8B46-B2BDE8C01C06}"/>
              </a:ext>
            </a:extLst>
          </p:cNvPr>
          <p:cNvGrpSpPr/>
          <p:nvPr/>
        </p:nvGrpSpPr>
        <p:grpSpPr>
          <a:xfrm>
            <a:off x="2936776" y="1412776"/>
            <a:ext cx="504056" cy="2016224"/>
            <a:chOff x="1280592" y="1916832"/>
            <a:chExt cx="504056" cy="2016224"/>
          </a:xfrm>
        </p:grpSpPr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903ECC5D-5262-7942-B292-FB949CFEB0E3}"/>
                </a:ext>
              </a:extLst>
            </p:cNvPr>
            <p:cNvSpPr/>
            <p:nvPr/>
          </p:nvSpPr>
          <p:spPr>
            <a:xfrm>
              <a:off x="1280592" y="1916832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F67E5F97-B741-0343-9BCA-0C9054A9A7CB}"/>
                </a:ext>
              </a:extLst>
            </p:cNvPr>
            <p:cNvSpPr/>
            <p:nvPr/>
          </p:nvSpPr>
          <p:spPr>
            <a:xfrm>
              <a:off x="1280592" y="2420888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>
                  <a:solidFill>
                    <a:schemeClr val="tx1"/>
                  </a:solidFill>
                </a:rPr>
                <a:t>vx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64D13F72-905A-3C48-BF8A-5D635412DD45}"/>
                </a:ext>
              </a:extLst>
            </p:cNvPr>
            <p:cNvSpPr/>
            <p:nvPr/>
          </p:nvSpPr>
          <p:spPr>
            <a:xfrm>
              <a:off x="1280592" y="2924944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>
                  <a:solidFill>
                    <a:schemeClr val="tx1"/>
                  </a:solidFill>
                </a:rPr>
                <a:t>vz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" name="正方形/長方形 9">
              <a:extLst>
                <a:ext uri="{FF2B5EF4-FFF2-40B4-BE49-F238E27FC236}">
                  <a16:creationId xmlns:a16="http://schemas.microsoft.com/office/drawing/2014/main" id="{CCDA954D-BD4E-9F4F-AA34-42BFCB5386F9}"/>
                </a:ext>
              </a:extLst>
            </p:cNvPr>
            <p:cNvSpPr/>
            <p:nvPr/>
          </p:nvSpPr>
          <p:spPr>
            <a:xfrm>
              <a:off x="1280592" y="3429000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>
                  <a:solidFill>
                    <a:schemeClr val="tx1"/>
                  </a:solidFill>
                </a:rPr>
                <a:t>vy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E9CC2CC7-28CC-7249-A751-C54935C04F79}"/>
              </a:ext>
            </a:extLst>
          </p:cNvPr>
          <p:cNvGrpSpPr/>
          <p:nvPr/>
        </p:nvGrpSpPr>
        <p:grpSpPr>
          <a:xfrm>
            <a:off x="3944888" y="1412776"/>
            <a:ext cx="504056" cy="2016224"/>
            <a:chOff x="2216696" y="1916832"/>
            <a:chExt cx="504056" cy="2016224"/>
          </a:xfrm>
        </p:grpSpPr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D5EA71B8-12AC-1F49-B668-263C71855480}"/>
                </a:ext>
              </a:extLst>
            </p:cNvPr>
            <p:cNvSpPr/>
            <p:nvPr/>
          </p:nvSpPr>
          <p:spPr>
            <a:xfrm>
              <a:off x="2216696" y="1916832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9ED02084-CF6D-CE42-AB55-A7F109246011}"/>
                </a:ext>
              </a:extLst>
            </p:cNvPr>
            <p:cNvSpPr/>
            <p:nvPr/>
          </p:nvSpPr>
          <p:spPr>
            <a:xfrm>
              <a:off x="2216696" y="2420888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>
                  <a:solidFill>
                    <a:schemeClr val="tx1"/>
                  </a:solidFill>
                </a:rPr>
                <a:t>BY</a:t>
              </a:r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13" name="正方形/長方形 12">
              <a:extLst>
                <a:ext uri="{FF2B5EF4-FFF2-40B4-BE49-F238E27FC236}">
                  <a16:creationId xmlns:a16="http://schemas.microsoft.com/office/drawing/2014/main" id="{47F4AD4A-3DD7-E24D-A5C9-D67FB794FC27}"/>
                </a:ext>
              </a:extLst>
            </p:cNvPr>
            <p:cNvSpPr/>
            <p:nvPr/>
          </p:nvSpPr>
          <p:spPr>
            <a:xfrm>
              <a:off x="2216696" y="2924944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>
                  <a:solidFill>
                    <a:schemeClr val="tx1"/>
                  </a:solidFill>
                </a:rPr>
                <a:t>BX</a:t>
              </a:r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D136DD3E-5BB6-7A4E-9E3E-14EC9E5AA92D}"/>
                </a:ext>
              </a:extLst>
            </p:cNvPr>
            <p:cNvSpPr/>
            <p:nvPr/>
          </p:nvSpPr>
          <p:spPr>
            <a:xfrm>
              <a:off x="2216696" y="3429000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>
                  <a:solidFill>
                    <a:schemeClr val="tx1"/>
                  </a:solidFill>
                </a:rPr>
                <a:t>BZ</a:t>
              </a:r>
              <a:endParaRPr kumimoji="1" lang="ja-JP" alt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55F8FCD6-A376-964C-88B7-FCD711318246}"/>
              </a:ext>
            </a:extLst>
          </p:cNvPr>
          <p:cNvGrpSpPr/>
          <p:nvPr/>
        </p:nvGrpSpPr>
        <p:grpSpPr>
          <a:xfrm>
            <a:off x="4953000" y="1412776"/>
            <a:ext cx="504056" cy="2016224"/>
            <a:chOff x="3080792" y="1916832"/>
            <a:chExt cx="504056" cy="2016224"/>
          </a:xfrm>
        </p:grpSpPr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66035436-9763-864B-BB12-C40E9D1F01EA}"/>
                </a:ext>
              </a:extLst>
            </p:cNvPr>
            <p:cNvSpPr/>
            <p:nvPr/>
          </p:nvSpPr>
          <p:spPr>
            <a:xfrm>
              <a:off x="3080792" y="1916832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2055933D-8F03-E640-8799-862E8999DD58}"/>
                </a:ext>
              </a:extLst>
            </p:cNvPr>
            <p:cNvSpPr/>
            <p:nvPr/>
          </p:nvSpPr>
          <p:spPr>
            <a:xfrm>
              <a:off x="3080792" y="2420888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 smtClean="0">
                  <a:solidFill>
                    <a:schemeClr val="tx1"/>
                  </a:solidFill>
                </a:rPr>
                <a:t>vy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B99B7637-EB29-3D44-BFE7-93C63E9D672E}"/>
                </a:ext>
              </a:extLst>
            </p:cNvPr>
            <p:cNvSpPr/>
            <p:nvPr/>
          </p:nvSpPr>
          <p:spPr>
            <a:xfrm>
              <a:off x="3080792" y="2924944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 smtClean="0">
                  <a:solidFill>
                    <a:schemeClr val="tx1"/>
                  </a:solidFill>
                </a:rPr>
                <a:t>vx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774C18CF-1CD5-9040-80D2-E3DC1DE4E612}"/>
                </a:ext>
              </a:extLst>
            </p:cNvPr>
            <p:cNvSpPr/>
            <p:nvPr/>
          </p:nvSpPr>
          <p:spPr>
            <a:xfrm>
              <a:off x="3080792" y="3429000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 smtClean="0">
                  <a:solidFill>
                    <a:schemeClr val="tx1"/>
                  </a:solidFill>
                </a:rPr>
                <a:t>vz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278B4111-ED01-EC47-B503-1D21CAB24A1E}"/>
              </a:ext>
            </a:extLst>
          </p:cNvPr>
          <p:cNvGrpSpPr/>
          <p:nvPr/>
        </p:nvGrpSpPr>
        <p:grpSpPr>
          <a:xfrm>
            <a:off x="5889104" y="1412776"/>
            <a:ext cx="504056" cy="2016224"/>
            <a:chOff x="3944888" y="1916832"/>
            <a:chExt cx="504056" cy="2016224"/>
          </a:xfrm>
        </p:grpSpPr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268FFCAA-4DEA-0447-938A-6823F2A83350}"/>
                </a:ext>
              </a:extLst>
            </p:cNvPr>
            <p:cNvSpPr/>
            <p:nvPr/>
          </p:nvSpPr>
          <p:spPr>
            <a:xfrm>
              <a:off x="3944888" y="1916832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BA3EE769-2176-8A42-94F0-BAEF9E0A383F}"/>
                </a:ext>
              </a:extLst>
            </p:cNvPr>
            <p:cNvSpPr/>
            <p:nvPr/>
          </p:nvSpPr>
          <p:spPr>
            <a:xfrm>
              <a:off x="3944888" y="2420888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 smtClean="0">
                  <a:solidFill>
                    <a:schemeClr val="tx1"/>
                  </a:solidFill>
                </a:rPr>
                <a:t>BX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3E99E570-50A0-6948-8DE9-0F1BD3777FE7}"/>
                </a:ext>
              </a:extLst>
            </p:cNvPr>
            <p:cNvSpPr/>
            <p:nvPr/>
          </p:nvSpPr>
          <p:spPr>
            <a:xfrm>
              <a:off x="3944888" y="2924944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 smtClean="0">
                  <a:solidFill>
                    <a:schemeClr val="tx1"/>
                  </a:solidFill>
                </a:rPr>
                <a:t>BZ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2" name="正方形/長方形 21">
              <a:extLst>
                <a:ext uri="{FF2B5EF4-FFF2-40B4-BE49-F238E27FC236}">
                  <a16:creationId xmlns:a16="http://schemas.microsoft.com/office/drawing/2014/main" id="{78432AF7-3107-3749-A3F6-6DFA4EB84714}"/>
                </a:ext>
              </a:extLst>
            </p:cNvPr>
            <p:cNvSpPr/>
            <p:nvPr/>
          </p:nvSpPr>
          <p:spPr>
            <a:xfrm>
              <a:off x="3944888" y="3429000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 smtClean="0">
                  <a:solidFill>
                    <a:schemeClr val="tx1"/>
                  </a:solidFill>
                </a:rPr>
                <a:t>BY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F0FB2A5F-8820-1F4F-8479-B82C189288B5}"/>
              </a:ext>
            </a:extLst>
          </p:cNvPr>
          <p:cNvSpPr txBox="1"/>
          <p:nvPr/>
        </p:nvSpPr>
        <p:spPr>
          <a:xfrm>
            <a:off x="2432720" y="2132856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/>
              <a:t>=</a:t>
            </a:r>
            <a:endParaRPr kumimoji="1" lang="ja-JP" altLang="en-US" sz="2800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7FF59B61-E7A6-CE4B-B1F4-953B43C4D4F8}"/>
              </a:ext>
            </a:extLst>
          </p:cNvPr>
          <p:cNvSpPr txBox="1"/>
          <p:nvPr/>
        </p:nvSpPr>
        <p:spPr>
          <a:xfrm>
            <a:off x="3512840" y="2204864"/>
            <a:ext cx="4320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/>
              <a:t>*</a:t>
            </a:r>
            <a:endParaRPr kumimoji="1" lang="ja-JP" altLang="en-US" sz="2800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229A8BA4-8778-9448-9CE6-EC0474EAFDDD}"/>
              </a:ext>
            </a:extLst>
          </p:cNvPr>
          <p:cNvSpPr txBox="1"/>
          <p:nvPr/>
        </p:nvSpPr>
        <p:spPr>
          <a:xfrm>
            <a:off x="5457056" y="2204864"/>
            <a:ext cx="4320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/>
              <a:t>*</a:t>
            </a:r>
            <a:endParaRPr kumimoji="1" lang="ja-JP" altLang="en-US" sz="2800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92E0D99F-0CF0-1D44-8126-45FA674E8E6B}"/>
              </a:ext>
            </a:extLst>
          </p:cNvPr>
          <p:cNvSpPr txBox="1"/>
          <p:nvPr/>
        </p:nvSpPr>
        <p:spPr>
          <a:xfrm>
            <a:off x="4592960" y="2132856"/>
            <a:ext cx="4320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/>
              <a:t>-</a:t>
            </a:r>
            <a:endParaRPr kumimoji="1" lang="ja-JP" altLang="en-US" sz="2800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0EE4B664-09CF-DA44-872C-9A1930671AD4}"/>
              </a:ext>
            </a:extLst>
          </p:cNvPr>
          <p:cNvSpPr/>
          <p:nvPr/>
        </p:nvSpPr>
        <p:spPr>
          <a:xfrm>
            <a:off x="1856656" y="4221088"/>
            <a:ext cx="504056" cy="50405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85BDE6FA-93D7-BB4C-9EFD-8318274CF6BE}"/>
              </a:ext>
            </a:extLst>
          </p:cNvPr>
          <p:cNvSpPr/>
          <p:nvPr/>
        </p:nvSpPr>
        <p:spPr>
          <a:xfrm>
            <a:off x="1856656" y="4725144"/>
            <a:ext cx="504056" cy="50405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vz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D94EDD50-9B69-274C-A5C0-A61F85ABECF7}"/>
              </a:ext>
            </a:extLst>
          </p:cNvPr>
          <p:cNvSpPr/>
          <p:nvPr/>
        </p:nvSpPr>
        <p:spPr>
          <a:xfrm>
            <a:off x="1856656" y="5229200"/>
            <a:ext cx="504056" cy="50405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vy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2A8E9940-7647-D64C-9008-CB953D6FE1E4}"/>
              </a:ext>
            </a:extLst>
          </p:cNvPr>
          <p:cNvSpPr/>
          <p:nvPr/>
        </p:nvSpPr>
        <p:spPr>
          <a:xfrm>
            <a:off x="1856656" y="5733256"/>
            <a:ext cx="504056" cy="50405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vx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37005273-E53A-E445-B2DC-B3A4E54A6F18}"/>
              </a:ext>
            </a:extLst>
          </p:cNvPr>
          <p:cNvSpPr/>
          <p:nvPr/>
        </p:nvSpPr>
        <p:spPr>
          <a:xfrm>
            <a:off x="6033120" y="4221088"/>
            <a:ext cx="504056" cy="50405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0DB806AE-094A-A04D-8B36-D6406A700FE6}"/>
              </a:ext>
            </a:extLst>
          </p:cNvPr>
          <p:cNvSpPr/>
          <p:nvPr/>
        </p:nvSpPr>
        <p:spPr>
          <a:xfrm>
            <a:off x="6033120" y="4725144"/>
            <a:ext cx="504056" cy="50405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vx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22433A82-F88C-6644-9028-912F0295CEA3}"/>
              </a:ext>
            </a:extLst>
          </p:cNvPr>
          <p:cNvSpPr/>
          <p:nvPr/>
        </p:nvSpPr>
        <p:spPr>
          <a:xfrm>
            <a:off x="6033120" y="5229200"/>
            <a:ext cx="504056" cy="50405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vz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C71D2DB2-0B19-0649-870E-476B4A9DF824}"/>
              </a:ext>
            </a:extLst>
          </p:cNvPr>
          <p:cNvSpPr/>
          <p:nvPr/>
        </p:nvSpPr>
        <p:spPr>
          <a:xfrm>
            <a:off x="6033120" y="5733256"/>
            <a:ext cx="504056" cy="50405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vy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74D89C7E-A58A-C347-A6BC-392C83CEB86E}"/>
              </a:ext>
            </a:extLst>
          </p:cNvPr>
          <p:cNvSpPr/>
          <p:nvPr/>
        </p:nvSpPr>
        <p:spPr>
          <a:xfrm>
            <a:off x="2720752" y="4653136"/>
            <a:ext cx="307968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" altLang="ja-JP">
                <a:effectLst/>
                <a:latin typeface="Monaco" pitchFamily="2" charset="0"/>
              </a:rPr>
              <a:t>_mm256_permute4x64_pd</a:t>
            </a:r>
          </a:p>
          <a:p>
            <a:pPr algn="ctr"/>
            <a:r>
              <a:rPr lang="en" altLang="ja-JP">
                <a:effectLst/>
                <a:latin typeface="Monaco" pitchFamily="2" charset="0"/>
              </a:rPr>
              <a:t>(vpermpd)</a:t>
            </a:r>
          </a:p>
        </p:txBody>
      </p:sp>
      <p:sp>
        <p:nvSpPr>
          <p:cNvPr id="43" name="下矢印 42">
            <a:extLst>
              <a:ext uri="{FF2B5EF4-FFF2-40B4-BE49-F238E27FC236}">
                <a16:creationId xmlns:a16="http://schemas.microsoft.com/office/drawing/2014/main" id="{0E80717C-7925-B542-AA3E-B51BFF6E687C}"/>
              </a:ext>
            </a:extLst>
          </p:cNvPr>
          <p:cNvSpPr/>
          <p:nvPr/>
        </p:nvSpPr>
        <p:spPr>
          <a:xfrm rot="16200000">
            <a:off x="3944888" y="5373216"/>
            <a:ext cx="504056" cy="504056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1A50A274-7E8D-2D45-B074-7A50E89DBD13}"/>
              </a:ext>
            </a:extLst>
          </p:cNvPr>
          <p:cNvSpPr/>
          <p:nvPr/>
        </p:nvSpPr>
        <p:spPr>
          <a:xfrm>
            <a:off x="1424608" y="3789040"/>
            <a:ext cx="156324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" altLang="ja-JP">
                <a:effectLst/>
                <a:latin typeface="Monaco" pitchFamily="2" charset="0"/>
              </a:rPr>
              <a:t>__m256d vv</a:t>
            </a:r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0F341987-1B4F-544B-8BB8-5DCD73AA6FFE}"/>
              </a:ext>
            </a:extLst>
          </p:cNvPr>
          <p:cNvSpPr/>
          <p:nvPr/>
        </p:nvSpPr>
        <p:spPr>
          <a:xfrm>
            <a:off x="5385048" y="3789040"/>
            <a:ext cx="211468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" altLang="ja-JP">
                <a:effectLst/>
                <a:latin typeface="Monaco" pitchFamily="2" charset="0"/>
              </a:rPr>
              <a:t>__m256d vv_yzx</a:t>
            </a:r>
          </a:p>
        </p:txBody>
      </p:sp>
    </p:spTree>
    <p:extLst>
      <p:ext uri="{BB962C8B-B14F-4D97-AF65-F5344CB8AC3E}">
        <p14:creationId xmlns:p14="http://schemas.microsoft.com/office/powerpoint/2010/main" val="42927007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744D12A-A381-2C4F-A4E6-B6B0DBC397DA}"/>
              </a:ext>
            </a:extLst>
          </p:cNvPr>
          <p:cNvSpPr/>
          <p:nvPr/>
        </p:nvSpPr>
        <p:spPr>
          <a:xfrm>
            <a:off x="1280592" y="260648"/>
            <a:ext cx="6048672" cy="92333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defRPr/>
            </a:pPr>
            <a:r>
              <a:rPr lang="en" altLang="ja-JP">
                <a:effectLst/>
                <a:latin typeface="Monaco" pitchFamily="2" charset="0"/>
              </a:rPr>
              <a:t>double px = v[i].y * BZ - v[i].z * BY;</a:t>
            </a:r>
          </a:p>
          <a:p>
            <a:pPr>
              <a:defRPr/>
            </a:pPr>
            <a:r>
              <a:rPr lang="en" altLang="ja-JP">
                <a:effectLst/>
                <a:latin typeface="Monaco" pitchFamily="2" charset="0"/>
              </a:rPr>
              <a:t>double py = v[i].z * BX - v[i].x * BZ;</a:t>
            </a:r>
          </a:p>
          <a:p>
            <a:pPr>
              <a:defRPr/>
            </a:pPr>
            <a:r>
              <a:rPr lang="en" altLang="ja-JP">
                <a:effectLst/>
                <a:latin typeface="Monaco" pitchFamily="2" charset="0"/>
              </a:rPr>
              <a:t>double pz = v[i].x * BY - v[i].y * BX;</a:t>
            </a:r>
          </a:p>
        </p:txBody>
      </p: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C68B5C8C-0CBC-E748-9E9E-E0A71BDE5EC7}"/>
              </a:ext>
            </a:extLst>
          </p:cNvPr>
          <p:cNvGrpSpPr/>
          <p:nvPr/>
        </p:nvGrpSpPr>
        <p:grpSpPr>
          <a:xfrm>
            <a:off x="1856656" y="1412776"/>
            <a:ext cx="504056" cy="2016224"/>
            <a:chOff x="416496" y="1916832"/>
            <a:chExt cx="504056" cy="2016224"/>
          </a:xfrm>
        </p:grpSpPr>
        <p:sp>
          <p:nvSpPr>
            <p:cNvPr id="3" name="正方形/長方形 2">
              <a:extLst>
                <a:ext uri="{FF2B5EF4-FFF2-40B4-BE49-F238E27FC236}">
                  <a16:creationId xmlns:a16="http://schemas.microsoft.com/office/drawing/2014/main" id="{55AFAED7-8DC2-C241-B960-B7BC9E5BA5A2}"/>
                </a:ext>
              </a:extLst>
            </p:cNvPr>
            <p:cNvSpPr/>
            <p:nvPr/>
          </p:nvSpPr>
          <p:spPr>
            <a:xfrm>
              <a:off x="416496" y="1916832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2D42ABD7-445F-D347-B4D1-78B2BEAA5496}"/>
                </a:ext>
              </a:extLst>
            </p:cNvPr>
            <p:cNvSpPr/>
            <p:nvPr/>
          </p:nvSpPr>
          <p:spPr>
            <a:xfrm>
              <a:off x="416496" y="2420888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>
                  <a:solidFill>
                    <a:schemeClr val="tx1"/>
                  </a:solidFill>
                </a:rPr>
                <a:t>pz</a:t>
              </a:r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984AF166-1FE0-B840-8E25-64F603777C27}"/>
                </a:ext>
              </a:extLst>
            </p:cNvPr>
            <p:cNvSpPr/>
            <p:nvPr/>
          </p:nvSpPr>
          <p:spPr>
            <a:xfrm>
              <a:off x="416496" y="2924944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>
                  <a:solidFill>
                    <a:schemeClr val="tx1"/>
                  </a:solidFill>
                </a:rPr>
                <a:t>py</a:t>
              </a:r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1C107D70-A60B-304A-99AF-F6C58B58AFB9}"/>
                </a:ext>
              </a:extLst>
            </p:cNvPr>
            <p:cNvSpPr/>
            <p:nvPr/>
          </p:nvSpPr>
          <p:spPr>
            <a:xfrm>
              <a:off x="416496" y="3429000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>
                  <a:solidFill>
                    <a:schemeClr val="tx1"/>
                  </a:solidFill>
                </a:rPr>
                <a:t>px</a:t>
              </a:r>
              <a:endParaRPr kumimoji="1" lang="ja-JP" alt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1D42C249-BEE0-4C4C-8B46-B2BDE8C01C06}"/>
              </a:ext>
            </a:extLst>
          </p:cNvPr>
          <p:cNvGrpSpPr/>
          <p:nvPr/>
        </p:nvGrpSpPr>
        <p:grpSpPr>
          <a:xfrm>
            <a:off x="2936776" y="1412776"/>
            <a:ext cx="504056" cy="2016224"/>
            <a:chOff x="1280592" y="1916832"/>
            <a:chExt cx="504056" cy="2016224"/>
          </a:xfrm>
        </p:grpSpPr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903ECC5D-5262-7942-B292-FB949CFEB0E3}"/>
                </a:ext>
              </a:extLst>
            </p:cNvPr>
            <p:cNvSpPr/>
            <p:nvPr/>
          </p:nvSpPr>
          <p:spPr>
            <a:xfrm>
              <a:off x="1280592" y="1916832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F67E5F97-B741-0343-9BCA-0C9054A9A7CB}"/>
                </a:ext>
              </a:extLst>
            </p:cNvPr>
            <p:cNvSpPr/>
            <p:nvPr/>
          </p:nvSpPr>
          <p:spPr>
            <a:xfrm>
              <a:off x="1280592" y="2420888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en-US" altLang="ja-JP" dirty="0">
                  <a:solidFill>
                    <a:schemeClr val="tx1"/>
                  </a:solidFill>
                </a:rPr>
                <a:t>vx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64D13F72-905A-3C48-BF8A-5D635412DD45}"/>
                </a:ext>
              </a:extLst>
            </p:cNvPr>
            <p:cNvSpPr/>
            <p:nvPr/>
          </p:nvSpPr>
          <p:spPr>
            <a:xfrm>
              <a:off x="1280592" y="2924944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dirty="0">
                  <a:solidFill>
                    <a:schemeClr val="tx1"/>
                  </a:solidFill>
                </a:rPr>
                <a:t>vz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" name="正方形/長方形 9">
              <a:extLst>
                <a:ext uri="{FF2B5EF4-FFF2-40B4-BE49-F238E27FC236}">
                  <a16:creationId xmlns:a16="http://schemas.microsoft.com/office/drawing/2014/main" id="{CCDA954D-BD4E-9F4F-AA34-42BFCB5386F9}"/>
                </a:ext>
              </a:extLst>
            </p:cNvPr>
            <p:cNvSpPr/>
            <p:nvPr/>
          </p:nvSpPr>
          <p:spPr>
            <a:xfrm>
              <a:off x="1280592" y="3429000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en-US" altLang="ja-JP" dirty="0">
                  <a:solidFill>
                    <a:schemeClr val="tx1"/>
                  </a:solidFill>
                </a:rPr>
                <a:t>vy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E9CC2CC7-28CC-7249-A751-C54935C04F79}"/>
              </a:ext>
            </a:extLst>
          </p:cNvPr>
          <p:cNvGrpSpPr/>
          <p:nvPr/>
        </p:nvGrpSpPr>
        <p:grpSpPr>
          <a:xfrm>
            <a:off x="3944888" y="1412776"/>
            <a:ext cx="504056" cy="2016224"/>
            <a:chOff x="2216696" y="1916832"/>
            <a:chExt cx="504056" cy="2016224"/>
          </a:xfrm>
        </p:grpSpPr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D5EA71B8-12AC-1F49-B668-263C71855480}"/>
                </a:ext>
              </a:extLst>
            </p:cNvPr>
            <p:cNvSpPr/>
            <p:nvPr/>
          </p:nvSpPr>
          <p:spPr>
            <a:xfrm>
              <a:off x="2216696" y="1916832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9ED02084-CF6D-CE42-AB55-A7F109246011}"/>
                </a:ext>
              </a:extLst>
            </p:cNvPr>
            <p:cNvSpPr/>
            <p:nvPr/>
          </p:nvSpPr>
          <p:spPr>
            <a:xfrm>
              <a:off x="2216696" y="2420888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en-US" altLang="ja-JP">
                  <a:solidFill>
                    <a:schemeClr val="tx1"/>
                  </a:solidFill>
                </a:rPr>
                <a:t>BY</a:t>
              </a:r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13" name="正方形/長方形 12">
              <a:extLst>
                <a:ext uri="{FF2B5EF4-FFF2-40B4-BE49-F238E27FC236}">
                  <a16:creationId xmlns:a16="http://schemas.microsoft.com/office/drawing/2014/main" id="{47F4AD4A-3DD7-E24D-A5C9-D67FB794FC27}"/>
                </a:ext>
              </a:extLst>
            </p:cNvPr>
            <p:cNvSpPr/>
            <p:nvPr/>
          </p:nvSpPr>
          <p:spPr>
            <a:xfrm>
              <a:off x="2216696" y="2924944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>
                  <a:solidFill>
                    <a:schemeClr val="tx1"/>
                  </a:solidFill>
                </a:rPr>
                <a:t>BX</a:t>
              </a:r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D136DD3E-5BB6-7A4E-9E3E-14EC9E5AA92D}"/>
                </a:ext>
              </a:extLst>
            </p:cNvPr>
            <p:cNvSpPr/>
            <p:nvPr/>
          </p:nvSpPr>
          <p:spPr>
            <a:xfrm>
              <a:off x="2216696" y="3429000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en-US" altLang="ja-JP">
                  <a:solidFill>
                    <a:schemeClr val="tx1"/>
                  </a:solidFill>
                </a:rPr>
                <a:t>BZ</a:t>
              </a:r>
              <a:endParaRPr kumimoji="1" lang="ja-JP" alt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55F8FCD6-A376-964C-88B7-FCD711318246}"/>
              </a:ext>
            </a:extLst>
          </p:cNvPr>
          <p:cNvGrpSpPr/>
          <p:nvPr/>
        </p:nvGrpSpPr>
        <p:grpSpPr>
          <a:xfrm>
            <a:off x="4953000" y="1412776"/>
            <a:ext cx="504056" cy="2016224"/>
            <a:chOff x="3080792" y="1916832"/>
            <a:chExt cx="504056" cy="2016224"/>
          </a:xfrm>
        </p:grpSpPr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66035436-9763-864B-BB12-C40E9D1F01EA}"/>
                </a:ext>
              </a:extLst>
            </p:cNvPr>
            <p:cNvSpPr/>
            <p:nvPr/>
          </p:nvSpPr>
          <p:spPr>
            <a:xfrm>
              <a:off x="3080792" y="1916832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2055933D-8F03-E640-8799-862E8999DD58}"/>
                </a:ext>
              </a:extLst>
            </p:cNvPr>
            <p:cNvSpPr/>
            <p:nvPr/>
          </p:nvSpPr>
          <p:spPr>
            <a:xfrm>
              <a:off x="3080792" y="2420888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en-US" altLang="ja-JP" dirty="0" smtClean="0">
                  <a:solidFill>
                    <a:schemeClr val="tx1"/>
                  </a:solidFill>
                </a:rPr>
                <a:t>vy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B99B7637-EB29-3D44-BFE7-93C63E9D672E}"/>
                </a:ext>
              </a:extLst>
            </p:cNvPr>
            <p:cNvSpPr/>
            <p:nvPr/>
          </p:nvSpPr>
          <p:spPr>
            <a:xfrm>
              <a:off x="3080792" y="2924944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dirty="0" smtClean="0">
                  <a:solidFill>
                    <a:schemeClr val="tx1"/>
                  </a:solidFill>
                </a:rPr>
                <a:t>vx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774C18CF-1CD5-9040-80D2-E3DC1DE4E612}"/>
                </a:ext>
              </a:extLst>
            </p:cNvPr>
            <p:cNvSpPr/>
            <p:nvPr/>
          </p:nvSpPr>
          <p:spPr>
            <a:xfrm>
              <a:off x="3080792" y="3429000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en-US" altLang="ja-JP" dirty="0" smtClean="0">
                  <a:solidFill>
                    <a:schemeClr val="tx1"/>
                  </a:solidFill>
                </a:rPr>
                <a:t>vz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278B4111-ED01-EC47-B503-1D21CAB24A1E}"/>
              </a:ext>
            </a:extLst>
          </p:cNvPr>
          <p:cNvGrpSpPr/>
          <p:nvPr/>
        </p:nvGrpSpPr>
        <p:grpSpPr>
          <a:xfrm>
            <a:off x="5889104" y="1412776"/>
            <a:ext cx="504056" cy="2016224"/>
            <a:chOff x="3944888" y="1916832"/>
            <a:chExt cx="504056" cy="2016224"/>
          </a:xfrm>
        </p:grpSpPr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268FFCAA-4DEA-0447-938A-6823F2A83350}"/>
                </a:ext>
              </a:extLst>
            </p:cNvPr>
            <p:cNvSpPr/>
            <p:nvPr/>
          </p:nvSpPr>
          <p:spPr>
            <a:xfrm>
              <a:off x="3944888" y="1916832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BA3EE769-2176-8A42-94F0-BAEF9E0A383F}"/>
                </a:ext>
              </a:extLst>
            </p:cNvPr>
            <p:cNvSpPr/>
            <p:nvPr/>
          </p:nvSpPr>
          <p:spPr>
            <a:xfrm>
              <a:off x="3944888" y="2420888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en-US" altLang="ja-JP" dirty="0" smtClean="0">
                  <a:solidFill>
                    <a:schemeClr val="tx1"/>
                  </a:solidFill>
                </a:rPr>
                <a:t>BX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3E99E570-50A0-6948-8DE9-0F1BD3777FE7}"/>
                </a:ext>
              </a:extLst>
            </p:cNvPr>
            <p:cNvSpPr/>
            <p:nvPr/>
          </p:nvSpPr>
          <p:spPr>
            <a:xfrm>
              <a:off x="3944888" y="2924944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dirty="0" smtClean="0">
                  <a:solidFill>
                    <a:schemeClr val="tx1"/>
                  </a:solidFill>
                </a:rPr>
                <a:t>BZ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2" name="正方形/長方形 21">
              <a:extLst>
                <a:ext uri="{FF2B5EF4-FFF2-40B4-BE49-F238E27FC236}">
                  <a16:creationId xmlns:a16="http://schemas.microsoft.com/office/drawing/2014/main" id="{78432AF7-3107-3749-A3F6-6DFA4EB84714}"/>
                </a:ext>
              </a:extLst>
            </p:cNvPr>
            <p:cNvSpPr/>
            <p:nvPr/>
          </p:nvSpPr>
          <p:spPr>
            <a:xfrm>
              <a:off x="3944888" y="3429000"/>
              <a:ext cx="504056" cy="5040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en-US" altLang="ja-JP" dirty="0" smtClean="0">
                  <a:solidFill>
                    <a:schemeClr val="tx1"/>
                  </a:solidFill>
                </a:rPr>
                <a:t>BY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F0FB2A5F-8820-1F4F-8479-B82C189288B5}"/>
              </a:ext>
            </a:extLst>
          </p:cNvPr>
          <p:cNvSpPr txBox="1"/>
          <p:nvPr/>
        </p:nvSpPr>
        <p:spPr>
          <a:xfrm>
            <a:off x="2432720" y="2132856"/>
            <a:ext cx="364202" cy="523220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2600"/>
            </a:pPr>
            <a:r>
              <a:rPr kumimoji="1" lang="en-US" altLang="ja-JP" sz="2600"/>
              <a:t>=</a:t>
            </a:r>
            <a:endParaRPr kumimoji="1" lang="ja-JP" altLang="en-US" sz="2800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7FF59B61-E7A6-CE4B-B1F4-953B43C4D4F8}"/>
              </a:ext>
            </a:extLst>
          </p:cNvPr>
          <p:cNvSpPr txBox="1"/>
          <p:nvPr/>
        </p:nvSpPr>
        <p:spPr>
          <a:xfrm>
            <a:off x="3512840" y="2204864"/>
            <a:ext cx="432048" cy="523220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2600"/>
            </a:pPr>
            <a:r>
              <a:rPr kumimoji="1" lang="en-US" altLang="ja-JP" sz="2600"/>
              <a:t>*</a:t>
            </a:r>
            <a:endParaRPr kumimoji="1" lang="ja-JP" altLang="en-US" sz="2800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229A8BA4-8778-9448-9CE6-EC0474EAFDDD}"/>
              </a:ext>
            </a:extLst>
          </p:cNvPr>
          <p:cNvSpPr txBox="1"/>
          <p:nvPr/>
        </p:nvSpPr>
        <p:spPr>
          <a:xfrm>
            <a:off x="5457056" y="2204864"/>
            <a:ext cx="432048" cy="523220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2600"/>
            </a:pPr>
            <a:r>
              <a:rPr kumimoji="1" lang="en-US" altLang="ja-JP" sz="2600"/>
              <a:t>*</a:t>
            </a:r>
            <a:endParaRPr kumimoji="1" lang="ja-JP" altLang="en-US" sz="2800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92E0D99F-0CF0-1D44-8126-45FA674E8E6B}"/>
              </a:ext>
            </a:extLst>
          </p:cNvPr>
          <p:cNvSpPr txBox="1"/>
          <p:nvPr/>
        </p:nvSpPr>
        <p:spPr>
          <a:xfrm>
            <a:off x="4592960" y="2132856"/>
            <a:ext cx="432048" cy="523220"/>
          </a:xfrm>
          <a:prstGeom prst="rect">
            <a:avLst/>
          </a:prstGeom>
          <a:noFill/>
        </p:spPr>
        <p:txBody>
          <a:bodyPr wrap="square" rtlCol="0"/>
          <a:lstStyle/>
          <a:p>
            <a:pPr>
              <a:defRPr sz="2600"/>
            </a:pPr>
            <a:r>
              <a:rPr kumimoji="1" lang="en-US" altLang="ja-JP" sz="2600"/>
              <a:t>-</a:t>
            </a:r>
            <a:endParaRPr kumimoji="1" lang="ja-JP" altLang="en-US" sz="2800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0EE4B664-09CF-DA44-872C-9A1930671AD4}"/>
              </a:ext>
            </a:extLst>
          </p:cNvPr>
          <p:cNvSpPr/>
          <p:nvPr/>
        </p:nvSpPr>
        <p:spPr>
          <a:xfrm>
            <a:off x="1856656" y="4221088"/>
            <a:ext cx="504056" cy="50405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85BDE6FA-93D7-BB4C-9EFD-8318274CF6BE}"/>
              </a:ext>
            </a:extLst>
          </p:cNvPr>
          <p:cNvSpPr/>
          <p:nvPr/>
        </p:nvSpPr>
        <p:spPr>
          <a:xfrm>
            <a:off x="1856656" y="4725144"/>
            <a:ext cx="504056" cy="50405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 altLang="ja-JP" dirty="0">
                <a:solidFill>
                  <a:schemeClr val="tx1"/>
                </a:solidFill>
              </a:rPr>
              <a:t>vz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D94EDD50-9B69-274C-A5C0-A61F85ABECF7}"/>
              </a:ext>
            </a:extLst>
          </p:cNvPr>
          <p:cNvSpPr/>
          <p:nvPr/>
        </p:nvSpPr>
        <p:spPr>
          <a:xfrm>
            <a:off x="1856656" y="5229200"/>
            <a:ext cx="504056" cy="50405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en-US" altLang="ja-JP" dirty="0">
                <a:solidFill>
                  <a:schemeClr val="tx1"/>
                </a:solidFill>
              </a:rPr>
              <a:t>vy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2A8E9940-7647-D64C-9008-CB953D6FE1E4}"/>
              </a:ext>
            </a:extLst>
          </p:cNvPr>
          <p:cNvSpPr/>
          <p:nvPr/>
        </p:nvSpPr>
        <p:spPr>
          <a:xfrm>
            <a:off x="1856656" y="5733256"/>
            <a:ext cx="504056" cy="50405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 altLang="ja-JP" dirty="0">
                <a:solidFill>
                  <a:schemeClr val="tx1"/>
                </a:solidFill>
              </a:rPr>
              <a:t>vx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37005273-E53A-E445-B2DC-B3A4E54A6F18}"/>
              </a:ext>
            </a:extLst>
          </p:cNvPr>
          <p:cNvSpPr/>
          <p:nvPr/>
        </p:nvSpPr>
        <p:spPr>
          <a:xfrm>
            <a:off x="6033120" y="4221088"/>
            <a:ext cx="504056" cy="50405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0DB806AE-094A-A04D-8B36-D6406A700FE6}"/>
              </a:ext>
            </a:extLst>
          </p:cNvPr>
          <p:cNvSpPr/>
          <p:nvPr/>
        </p:nvSpPr>
        <p:spPr>
          <a:xfrm>
            <a:off x="6033120" y="4725144"/>
            <a:ext cx="504056" cy="50405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 altLang="ja-JP" dirty="0">
                <a:solidFill>
                  <a:schemeClr val="tx1"/>
                </a:solidFill>
              </a:rPr>
              <a:t>vx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22433A82-F88C-6644-9028-912F0295CEA3}"/>
              </a:ext>
            </a:extLst>
          </p:cNvPr>
          <p:cNvSpPr/>
          <p:nvPr/>
        </p:nvSpPr>
        <p:spPr>
          <a:xfrm>
            <a:off x="6033120" y="5229200"/>
            <a:ext cx="504056" cy="50405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en-US" altLang="ja-JP" dirty="0">
                <a:solidFill>
                  <a:schemeClr val="tx1"/>
                </a:solidFill>
              </a:rPr>
              <a:t>vz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C71D2DB2-0B19-0649-870E-476B4A9DF824}"/>
              </a:ext>
            </a:extLst>
          </p:cNvPr>
          <p:cNvSpPr/>
          <p:nvPr/>
        </p:nvSpPr>
        <p:spPr>
          <a:xfrm>
            <a:off x="6033120" y="5733256"/>
            <a:ext cx="504056" cy="50405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US" altLang="ja-JP" dirty="0">
                <a:solidFill>
                  <a:schemeClr val="tx1"/>
                </a:solidFill>
              </a:rPr>
              <a:t>vy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74D89C7E-A58A-C347-A6BC-392C83CEB86E}"/>
              </a:ext>
            </a:extLst>
          </p:cNvPr>
          <p:cNvSpPr/>
          <p:nvPr/>
        </p:nvSpPr>
        <p:spPr>
          <a:xfrm>
            <a:off x="2720752" y="4653136"/>
            <a:ext cx="307968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" altLang="ja-JP">
                <a:effectLst/>
                <a:latin typeface="Monaco" pitchFamily="2" charset="0"/>
              </a:rPr>
              <a:t>_mm256_permute4x64_pd</a:t>
            </a:r>
          </a:p>
          <a:p>
            <a:pPr algn="ctr">
              <a:defRPr/>
            </a:pPr>
            <a:r>
              <a:rPr lang="en" altLang="ja-JP">
                <a:effectLst/>
                <a:latin typeface="Monaco" pitchFamily="2" charset="0"/>
              </a:rPr>
              <a:t>(vpermpd)</a:t>
            </a:r>
          </a:p>
        </p:txBody>
      </p:sp>
      <p:sp>
        <p:nvSpPr>
          <p:cNvPr id="43" name="下矢印 42">
            <a:extLst>
              <a:ext uri="{FF2B5EF4-FFF2-40B4-BE49-F238E27FC236}">
                <a16:creationId xmlns:a16="http://schemas.microsoft.com/office/drawing/2014/main" id="{0E80717C-7925-B542-AA3E-B51BFF6E687C}"/>
              </a:ext>
            </a:extLst>
          </p:cNvPr>
          <p:cNvSpPr/>
          <p:nvPr/>
        </p:nvSpPr>
        <p:spPr>
          <a:xfrm rot="16200000">
            <a:off x="3944888" y="5373216"/>
            <a:ext cx="504056" cy="504056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1A50A274-7E8D-2D45-B074-7A50E89DBD13}"/>
              </a:ext>
            </a:extLst>
          </p:cNvPr>
          <p:cNvSpPr/>
          <p:nvPr/>
        </p:nvSpPr>
        <p:spPr>
          <a:xfrm>
            <a:off x="1424608" y="3789040"/>
            <a:ext cx="156324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" altLang="ja-JP">
                <a:effectLst/>
                <a:latin typeface="Monaco" pitchFamily="2" charset="0"/>
              </a:rPr>
              <a:t>__m256d vv</a:t>
            </a:r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0F341987-1B4F-544B-8BB8-5DCD73AA6FFE}"/>
              </a:ext>
            </a:extLst>
          </p:cNvPr>
          <p:cNvSpPr/>
          <p:nvPr/>
        </p:nvSpPr>
        <p:spPr>
          <a:xfrm>
            <a:off x="5385048" y="3789040"/>
            <a:ext cx="211468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" altLang="ja-JP">
                <a:effectLst/>
                <a:latin typeface="Monaco" pitchFamily="2" charset="0"/>
              </a:rPr>
              <a:t>__m256d vv_yzx</a:t>
            </a:r>
          </a:p>
        </p:txBody>
      </p:sp>
    </p:spTree>
    <p:extLst>
      <p:ext uri="{BB962C8B-B14F-4D97-AF65-F5344CB8AC3E}">
        <p14:creationId xmlns:p14="http://schemas.microsoft.com/office/powerpoint/2010/main" val="42927007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165</TotalTime>
  <Words>225</Words>
  <Application>Microsoft Office PowerPoint</Application>
  <PresentationFormat>A4 210 x 297 mm</PresentationFormat>
  <Paragraphs>89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8" baseType="lpstr">
      <vt:lpstr>Monaco</vt:lpstr>
      <vt:lpstr>游ゴシック</vt:lpstr>
      <vt:lpstr>Arial</vt:lpstr>
      <vt:lpstr>Calibri</vt:lpstr>
      <vt:lpstr>Office テーマ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Microsoft Office ユーザー</dc:creator>
  <cp:lastModifiedBy>watanabe</cp:lastModifiedBy>
  <cp:revision>96</cp:revision>
  <dcterms:created xsi:type="dcterms:W3CDTF">2018-10-07T01:32:06Z</dcterms:created>
  <dcterms:modified xsi:type="dcterms:W3CDTF">2020-07-23T13:13:06Z</dcterms:modified>
</cp:coreProperties>
</file>